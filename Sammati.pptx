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8"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396D088-9147-60CB-28F8-D1E30774EE20}">
          <p14:sldIdLst>
            <p14:sldId id="256"/>
          </p14:sldIdLst>
        </p14:section>
        <p14:section name="Problem and gap" id="{A97855FE-AC99-75E5-E3CD-36493AD796E5}">
          <p14:sldIdLst>
            <p14:sldId id="257"/>
            <p14:sldId id="258"/>
          </p14:sldIdLst>
        </p14:section>
        <p14:section name="Solution" id="{9470F3AE-590D-7CB0-57A9-5F4C2CCE17F0}">
          <p14:sldIdLst>
            <p14:sldId id="259"/>
            <p14:sldId id="260"/>
            <p14:sldId id="261"/>
          </p14:sldIdLst>
        </p14:section>
        <p14:section name="Build" id="{908D5F48-0D24-42A1-EA8C-3003E01A380E}">
          <p14:sldIdLst>
            <p14:sldId id="262"/>
            <p14:sldId id="268"/>
            <p14:sldId id="264"/>
          </p14:sldIdLst>
        </p14:section>
        <p14:section name="Impact and vision" id="{8CE9520D-002A-73D3-A589-D9F6D8AB8CB9}">
          <p14:sldIdLst>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70" d="100"/>
          <a:sy n="70" d="100"/>
        </p:scale>
        <p:origin x="906" y="17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Obligations</c:v>
                </c:pt>
              </c:strCache>
            </c:strRef>
          </c:tx>
          <c:spPr>
            <a:solidFill>
              <a:schemeClr val="accent1"/>
            </a:solidFill>
            <a:ln w="9525" cap="flat">
              <a:solidFill>
                <a:srgbClr val="F9F9F9"/>
              </a:solidFill>
              <a:prstDash val="solid"/>
              <a:round/>
            </a:ln>
            <a:effectLst/>
          </c:spPr>
          <c:dPt>
            <c:idx val="0"/>
            <c:bubble3D val="0"/>
            <c:spPr>
              <a:solidFill>
                <a:srgbClr val="0E8F83"/>
              </a:solidFill>
              <a:effectLst/>
            </c:spPr>
            <c:extLst>
              <c:ext xmlns:c16="http://schemas.microsoft.com/office/drawing/2014/chart" uri="{C3380CC4-5D6E-409C-BE32-E72D297353CC}">
                <c16:uniqueId val="{00000001-80B8-4871-AB27-920479A76517}"/>
              </c:ext>
            </c:extLst>
          </c:dPt>
          <c:dPt>
            <c:idx val="1"/>
            <c:bubble3D val="0"/>
            <c:spPr>
              <a:solidFill>
                <a:srgbClr val="B7791F"/>
              </a:solidFill>
              <a:effectLst/>
            </c:spPr>
            <c:extLst>
              <c:ext xmlns:c16="http://schemas.microsoft.com/office/drawing/2014/chart" uri="{C3380CC4-5D6E-409C-BE32-E72D297353CC}">
                <c16:uniqueId val="{00000003-80B8-4871-AB27-920479A76517}"/>
              </c:ext>
            </c:extLst>
          </c:dPt>
          <c:dPt>
            <c:idx val="2"/>
            <c:bubble3D val="0"/>
            <c:spPr>
              <a:solidFill>
                <a:srgbClr val="566678"/>
              </a:solidFill>
              <a:effectLst/>
            </c:spPr>
            <c:extLst>
              <c:ext xmlns:c16="http://schemas.microsoft.com/office/drawing/2014/chart" uri="{C3380CC4-5D6E-409C-BE32-E72D297353CC}">
                <c16:uniqueId val="{00000005-80B8-4871-AB27-920479A76517}"/>
              </c:ext>
            </c:extLst>
          </c:dPt>
          <c:dLbls>
            <c:dLbl>
              <c:idx val="0"/>
              <c:numFmt formatCode="General" sourceLinked="0"/>
              <c:spPr/>
              <c:txPr>
                <a:bodyPr/>
                <a:lstStyle/>
                <a:p>
                  <a:pPr>
                    <a:defRPr sz="1400" b="1" i="0" u="none" strike="noStrike">
                      <a:solidFill>
                        <a:srgbClr val="FFFFFF"/>
                      </a:solidFill>
                      <a:latin typeface="+mn-lt"/>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80B8-4871-AB27-920479A76517}"/>
                </c:ext>
              </c:extLst>
            </c:dLbl>
            <c:dLbl>
              <c:idx val="1"/>
              <c:numFmt formatCode="General" sourceLinked="0"/>
              <c:spPr/>
              <c:txPr>
                <a:bodyPr/>
                <a:lstStyle/>
                <a:p>
                  <a:pPr>
                    <a:defRPr sz="1400" b="1" i="0" u="none" strike="noStrike">
                      <a:solidFill>
                        <a:srgbClr val="FFFFFF"/>
                      </a:solidFill>
                      <a:latin typeface="+mn-lt"/>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80B8-4871-AB27-920479A76517}"/>
                </c:ext>
              </c:extLst>
            </c:dLbl>
            <c:dLbl>
              <c:idx val="2"/>
              <c:numFmt formatCode="General" sourceLinked="0"/>
              <c:spPr/>
              <c:txPr>
                <a:bodyPr/>
                <a:lstStyle/>
                <a:p>
                  <a:pPr>
                    <a:defRPr sz="1400" b="1" i="0" u="none" strike="noStrike">
                      <a:solidFill>
                        <a:srgbClr val="FFFFFF"/>
                      </a:solidFill>
                      <a:latin typeface="+mn-lt"/>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80B8-4871-AB27-920479A76517}"/>
                </c:ext>
              </c:extLst>
            </c:dLbl>
            <c:numFmt formatCode="General" sourceLinked="0"/>
            <c:spPr>
              <a:noFill/>
              <a:ln>
                <a:noFill/>
              </a:ln>
              <a:effectLst/>
            </c:spPr>
            <c:txPr>
              <a:bodyPr/>
              <a:lstStyle/>
              <a:p>
                <a:pPr>
                  <a:defRPr sz="1800" b="1"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Sheet1!$A$2:$A$4</c:f>
              <c:strCache>
                <c:ptCount val="3"/>
                <c:pt idx="0">
                  <c:v>Implemented</c:v>
                </c:pt>
                <c:pt idx="1">
                  <c:v>Partial</c:v>
                </c:pt>
                <c:pt idx="2">
                  <c:v>Out of scope</c:v>
                </c:pt>
              </c:strCache>
            </c:strRef>
          </c:cat>
          <c:val>
            <c:numRef>
              <c:f>Sheet1!$B$2:$B$4</c:f>
              <c:numCache>
                <c:formatCode>General</c:formatCode>
                <c:ptCount val="3"/>
                <c:pt idx="0">
                  <c:v>10</c:v>
                </c:pt>
                <c:pt idx="1">
                  <c:v>12</c:v>
                </c:pt>
                <c:pt idx="2">
                  <c:v>6</c:v>
                </c:pt>
              </c:numCache>
            </c:numRef>
          </c:val>
          <c:extLst>
            <c:ext xmlns:c16="http://schemas.microsoft.com/office/drawing/2014/chart" uri="{C3380CC4-5D6E-409C-BE32-E72D297353CC}">
              <c16:uniqueId val="{00000006-80B8-4871-AB27-920479A76517}"/>
            </c:ext>
          </c:extLst>
        </c:ser>
        <c:dLbls>
          <c:showLegendKey val="0"/>
          <c:showVal val="0"/>
          <c:showCatName val="0"/>
          <c:showSerName val="0"/>
          <c:showPercent val="0"/>
          <c:showBubbleSize val="0"/>
          <c:showLeaderLines val="0"/>
        </c:dLbls>
        <c:firstSliceAng val="0"/>
        <c:holeSize val="55"/>
      </c:doughnutChart>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499752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seconds. Introduce Sammati: the verifiable consent layer for India's data economy. "UPI made payments simple and trustworthy. Sammati does that for consent." Mention the three personas we built for: Asha the citizen, Ravi the compliance lead, Meera the regulator auditor. Four pieces: citizen wallet, gateway SDK, consent ledger, regulator auditor.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consent today is one giant "I agree" nobody controls. Citizens cannot see who holds their data, withdrawal rarely stops downstream data flows, and regulators have to trust the audited company's own logs. The law has changed: DPDP Act 2023 puts consent at the centre, with penalties up to Rs 250 crore per instance for failing to safeguard personal data. The law is here, the infrastructure is not.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exists today: cookie banners and checkbox consent recorded on the company's own server; consent records in company databases that the company can edit; and audits that rely on the audited company's own logs. The gap: no one provides consent that is user-signed, enforced at request time, and verifiable without trusting the company.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Input to processing to output. Citizen scans and signs, one toggle per purpose, nothing pre-ticked. The ledger stores signed consent; the gateway checks it on every request; the Processor decides on ciphertext. Output: allowed or blocked in real time, cascade on withdrawal, anchored proof for the regulator. We built four pieces: wallet, gateway, ledger, auditor.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differentiators. 1) Enforcement, not just a log: withdraw and the very next request is blocked. 2) Proof of access: every access is hash-chained and anchored. 3) User-signed shared truth: the company cannot forge a yes or deny a no. 4) Use without reading: decisions from encrypted data; withdraw and the data is erased. Why choose Sammati: it works like UPI did for payments, one wallet, instant, revocable and verifiable.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journey: user scans, signs, the gateway enforces, the user withdraws, the auditor verifies. Decision point at every request: valid consent on the ledger means ALLOWED, otherwise BLOCKED with HTTP 451 and a reason code. Either way an access-log entry is created, hash-chained, batched into a Merkle tree and anchored on chain. In the live demo: not one big "I agree", each purpose is its own choice; withdraw takes two taps and the very next request is blocked.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ready to justify each choice. Flutter for secure storage and biometric signing on the phone. Node and TypeScript end to end so the gateway is a drop-in middleware. Solidity on Polygon Amoy for shared state no company owns; only hashes on chain and the user never pays gas. Crypto: EIP-712 for signatures, X25519 + HKDF + AES-256-GCM for envelopes. There is no ML black box: the decision engine is deterministic with reason codes. Honest note: deployment targets Render and Vercel; the demo runs on a local chain with Amoy as public proof.</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CDAE-17A6-31A3-E866-76F854A7C8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DA312F-BEBF-A053-FB24-69367AF97B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F71118-6AD9-832B-E4D9-3FD7607EF729}"/>
              </a:ext>
            </a:extLst>
          </p:cNvPr>
          <p:cNvSpPr>
            <a:spLocks noGrp="1"/>
          </p:cNvSpPr>
          <p:nvPr>
            <p:ph type="body" idx="1"/>
          </p:nvPr>
        </p:nvSpPr>
        <p:spPr/>
        <p:txBody>
          <a:bodyPr/>
          <a:lstStyle/>
          <a:p>
            <a:r>
              <a:rPr lang="en-US" dirty="0"/>
              <a:t>Read the diagram top to bottom. Clients: citizen wallet, company console, regulator auditor, and the company backend with our gateway SDK. Sammati Core relays signed messages (the user never pays gas), indexes the chain, caches consent, runs the cascade and anchors logs. Core never receives customer data. The ledger holds consent state and Merkle roots, hashes only. The Processor is a separate service: the wallet sends it ciphertext directly, it opens one envelope in memory, and the company gets a decision only. Honest limit: the Processor is a simulated enclave in this build; production uses a hardware enclave with remote attestation.</a:t>
            </a:r>
          </a:p>
        </p:txBody>
      </p:sp>
      <p:sp>
        <p:nvSpPr>
          <p:cNvPr id="4" name="Slide Number Placeholder 3">
            <a:extLst>
              <a:ext uri="{FF2B5EF4-FFF2-40B4-BE49-F238E27FC236}">
                <a16:creationId xmlns:a16="http://schemas.microsoft.com/office/drawing/2014/main" id="{0262F5AA-0001-07E6-B7B9-52B0A50AF050}"/>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8291243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 it actually be built? Yes: it is built. The golden path runs end to end, the same contracts are live on Polygon Amoy, and an automated end-to-end test searches every log, event, response and database file for the known test PAN and finds nothing. We were honest about the shortcuts: company and processor keys are held by Core for the demo, and the Processor is a simulated enclave. All data is fictional. Challenges: Dart EIP-712 signing (spiked early with shared test vectors), venue Wi-Fi (local chain and a recorded fallback).</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Real-world impact: modelled on the Account Aggregator pattern. Citizens are free; companies pay per verified check. Access logs are batched into one Merkle root, so thousands of events cost one transaction; in production this runs on a consortium or L2 chain. On legality we are deliberately careful: we say aligned with the principles of the DPDP Act, not compliant. 28 obligations are mapped: 10 implemented, 12 partial, 6 out of scope, and every legal point is marked VERIFY until checked. Gaps are on the slide on purpose.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Future scope in three horizons. Harden: put the Processor in a hardware enclave with remote attestation, companies hold their own keys, account recovery, breach notification, children's data, correction and nomination. Scale: a consortium or L2 chain, the gateway as a sidecar or API-gateway plugin, more languages. Expand: zero-knowledge consent proofs, legal review and registration as a consent manager, and more sectors on one consent wallet.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takeaway: consent you can prove, withdraw and verify. Three benefits: enforced (withdraw blocks the next request), provable (user-signed, anchored logs catch edited records), private (decisions from encrypted data, nothing personal on chain). Vision: the neutral consent layer India's data economy needs. Thank you, we are ready for questions. For Q&amp;A, use the cheat sheet in presentation.md.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4F7FA"/>
        </a:solidFill>
        <a:effectLst/>
      </p:bgPr>
    </p:bg>
    <p:spTree>
      <p:nvGrpSpPr>
        <p:cNvPr id="1" name=""/>
        <p:cNvGrpSpPr/>
        <p:nvPr/>
      </p:nvGrpSpPr>
      <p:grpSpPr>
        <a:xfrm>
          <a:off x="0" y="0"/>
          <a:ext cx="0" cy="0"/>
          <a:chOff x="0" y="0"/>
          <a:chExt cx="0" cy="0"/>
        </a:xfrm>
      </p:grpSpPr>
      <p:sp>
        <p:nvSpPr>
          <p:cNvPr id="2" name="Text 0"/>
          <p:cNvSpPr/>
          <p:nvPr/>
        </p:nvSpPr>
        <p:spPr>
          <a:xfrm>
            <a:off x="548640" y="6455664"/>
            <a:ext cx="5486400" cy="237744"/>
          </a:xfrm>
          <a:prstGeom prst="rect">
            <a:avLst/>
          </a:prstGeom>
          <a:noFill/>
          <a:ln/>
        </p:spPr>
        <p:txBody>
          <a:bodyPr wrap="square" lIns="0" tIns="0" rIns="0" bIns="0" rtlCol="0" anchor="ctr"/>
          <a:lstStyle/>
          <a:p>
            <a:pPr marL="0" indent="0">
              <a:buNone/>
            </a:pPr>
            <a:r>
              <a:rPr lang="en-US" sz="1000" dirty="0">
                <a:solidFill>
                  <a:schemeClr val="accent6"/>
                </a:solidFill>
              </a:rPr>
              <a:t>Sammati  |  Hackatopia 2K26 Final Round</a:t>
            </a:r>
            <a:endParaRPr lang="en-US" sz="1000" dirty="0"/>
          </a:p>
        </p:txBody>
      </p:sp>
      <p:sp>
        <p:nvSpPr>
          <p:cNvPr id="3" name="Text 1"/>
          <p:cNvSpPr>
            <a:spLocks noGrp="1"/>
          </p:cNvSpPr>
          <p:nvPr>
            <p:ph type="title" idx="101" hasCustomPrompt="1"/>
          </p:nvPr>
        </p:nvSpPr>
        <p:spPr>
          <a:xfrm>
            <a:off x="548640" y="658368"/>
            <a:ext cx="11094415" cy="731520"/>
          </a:xfrm>
          <a:prstGeom prst="rect">
            <a:avLst/>
          </a:prstGeom>
          <a:noFill/>
          <a:ln/>
        </p:spPr>
        <p:txBody>
          <a:bodyPr wrap="square" rtlCol="0"/>
          <a:lstStyle>
            <a:lvl1pPr marL="0" indent="0" algn="l">
              <a:buNone/>
              <a:defRPr lang="en-US" sz="3200" b="1" dirty="0">
                <a:solidFill>
                  <a:schemeClr val="tx1"/>
                </a:solidFill>
              </a:defRPr>
            </a:lvl1pPr>
          </a:lstStyle>
          <a:p>
            <a:pPr marL="0" indent="0" algn="l">
              <a:buNone/>
            </a:pPr>
            <a:endParaRPr lang="en-US" sz="3200" dirty="0"/>
          </a:p>
        </p:txBody>
      </p:sp>
      <p:sp>
        <p:nvSpPr>
          <p:cNvPr id="25" name="Slide Number Placeholder 0"/>
          <p:cNvSpPr>
            <a:spLocks noGrp="1"/>
          </p:cNvSpPr>
          <p:nvPr>
            <p:ph type="sldNum" sz="quarter" idx="4294967295"/>
          </p:nvPr>
        </p:nvSpPr>
        <p:spPr>
          <a:xfrm>
            <a:off x="10881360" y="6455664"/>
            <a:ext cx="758952" cy="237744"/>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HERO">
    <p:bg>
      <p:bgPr>
        <a:solidFill>
          <a:srgbClr val="0B1B2E"/>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17320"/>
            <a:ext cx="6400800" cy="1280160"/>
          </a:xfrm>
          <a:prstGeom prst="rect">
            <a:avLst/>
          </a:prstGeom>
          <a:noFill/>
          <a:ln/>
        </p:spPr>
        <p:txBody>
          <a:bodyPr wrap="square" rtlCol="0"/>
          <a:lstStyle>
            <a:lvl1pPr marL="0" indent="0" algn="l">
              <a:buNone/>
              <a:defRPr lang="en-US" sz="7600" b="1" dirty="0">
                <a:solidFill>
                  <a:schemeClr val="bg1"/>
                </a:solidFill>
              </a:defRPr>
            </a:lvl1pPr>
          </a:lstStyle>
          <a:p>
            <a:pPr marL="0" indent="0" algn="l">
              <a:buNone/>
            </a:pPr>
            <a:endParaRPr lang="en-US" sz="7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
    <p:bg>
      <p:bgPr>
        <a:solidFill>
          <a:srgbClr val="0B1B2E"/>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868680"/>
            <a:ext cx="10698480" cy="91440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455664"/>
            <a:ext cx="758952" cy="237744"/>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9.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8.png"/><Relationship Id="rId7"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4.xml"/><Relationship Id="rId5" Type="http://schemas.openxmlformats.org/officeDocument/2006/relationships/image" Target="../media/image14.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777240"/>
            <a:ext cx="6400800" cy="274320"/>
          </a:xfrm>
          <a:prstGeom prst="rect">
            <a:avLst/>
          </a:prstGeom>
          <a:noFill/>
          <a:ln/>
        </p:spPr>
        <p:txBody>
          <a:bodyPr wrap="square" lIns="0" tIns="0" rIns="0" bIns="0" rtlCol="0" anchor="t"/>
          <a:lstStyle/>
          <a:p>
            <a:pPr marL="0" indent="0">
              <a:buNone/>
            </a:pPr>
            <a:r>
              <a:rPr lang="en-US" sz="1300" b="1" kern="0" spc="400" dirty="0">
                <a:solidFill>
                  <a:schemeClr val="accent2"/>
                </a:solidFill>
              </a:rPr>
              <a:t>HACKATOPIA 2K26   </a:t>
            </a:r>
            <a:endParaRPr lang="en-US" sz="1300" dirty="0"/>
          </a:p>
        </p:txBody>
      </p:sp>
      <p:sp>
        <p:nvSpPr>
          <p:cNvPr id="3" name="Text 0"/>
          <p:cNvSpPr>
            <a:spLocks noGrp="1"/>
          </p:cNvSpPr>
          <p:nvPr>
            <p:ph type="title" idx="100" hasCustomPrompt="1"/>
          </p:nvPr>
        </p:nvSpPr>
        <p:spPr>
          <a:xfrm>
            <a:off x="731520" y="1417320"/>
            <a:ext cx="6400800" cy="1280160"/>
          </a:xfrm>
          <a:prstGeom prst="rect">
            <a:avLst/>
          </a:prstGeom>
          <a:noFill/>
          <a:ln/>
        </p:spPr>
        <p:txBody>
          <a:bodyPr wrap="square" lIns="0" tIns="0" rIns="0" bIns="0" rtlCol="0" anchor="ctr"/>
          <a:lstStyle/>
          <a:p>
            <a:pPr marL="0" indent="0" algn="l">
              <a:buNone/>
            </a:pPr>
            <a:r>
              <a:rPr lang="en-US" sz="7600" b="1" dirty="0">
                <a:solidFill>
                  <a:schemeClr val="bg1"/>
                </a:solidFill>
              </a:rPr>
              <a:t>Sammati</a:t>
            </a:r>
            <a:endParaRPr lang="en-US" sz="7600" dirty="0"/>
          </a:p>
        </p:txBody>
      </p:sp>
      <p:sp>
        <p:nvSpPr>
          <p:cNvPr id="4" name="Text 2"/>
          <p:cNvSpPr txBox="1"/>
          <p:nvPr/>
        </p:nvSpPr>
        <p:spPr>
          <a:xfrm>
            <a:off x="731520" y="2788920"/>
            <a:ext cx="6035040" cy="914400"/>
          </a:xfrm>
          <a:prstGeom prst="rect">
            <a:avLst/>
          </a:prstGeom>
          <a:noFill/>
          <a:ln/>
        </p:spPr>
        <p:txBody>
          <a:bodyPr wrap="square" lIns="0" tIns="0" rIns="0" bIns="0" rtlCol="0" anchor="t"/>
          <a:lstStyle/>
          <a:p>
            <a:pPr marL="0" indent="0">
              <a:buNone/>
            </a:pPr>
            <a:r>
              <a:rPr lang="en-US" sz="2600" dirty="0">
                <a:solidFill>
                  <a:schemeClr val="bg2"/>
                </a:solidFill>
              </a:rPr>
              <a:t>The verifiable consent layer for India’s data economy</a:t>
            </a:r>
            <a:endParaRPr lang="en-US" sz="2600" dirty="0"/>
          </a:p>
        </p:txBody>
      </p:sp>
      <p:sp>
        <p:nvSpPr>
          <p:cNvPr id="5" name="Text 3"/>
          <p:cNvSpPr txBox="1"/>
          <p:nvPr/>
        </p:nvSpPr>
        <p:spPr>
          <a:xfrm>
            <a:off x="731520" y="3840480"/>
            <a:ext cx="6858000" cy="457200"/>
          </a:xfrm>
          <a:prstGeom prst="rect">
            <a:avLst/>
          </a:prstGeom>
          <a:noFill/>
          <a:ln/>
        </p:spPr>
        <p:txBody>
          <a:bodyPr wrap="square" lIns="0" tIns="0" rIns="0" bIns="0" rtlCol="0" anchor="t"/>
          <a:lstStyle/>
          <a:p>
            <a:pPr marL="0" indent="0">
              <a:buNone/>
            </a:pPr>
            <a:r>
              <a:rPr lang="en-US" sz="1600" i="1" dirty="0">
                <a:solidFill>
                  <a:schemeClr val="accent2"/>
                </a:solidFill>
              </a:rPr>
              <a:t>UPI made payments simple and trustworthy. Sammati does that for consent.</a:t>
            </a:r>
            <a:endParaRPr lang="en-US" sz="1600" dirty="0"/>
          </a:p>
        </p:txBody>
      </p:sp>
      <p:sp>
        <p:nvSpPr>
          <p:cNvPr id="6" name="Text 4"/>
          <p:cNvSpPr txBox="1"/>
          <p:nvPr/>
        </p:nvSpPr>
        <p:spPr>
          <a:xfrm>
            <a:off x="731520" y="4572000"/>
            <a:ext cx="6217920" cy="548640"/>
          </a:xfrm>
          <a:prstGeom prst="rect">
            <a:avLst/>
          </a:prstGeom>
          <a:noFill/>
          <a:ln/>
        </p:spPr>
        <p:txBody>
          <a:bodyPr wrap="square" lIns="0" tIns="0" rIns="0" bIns="0" rtlCol="0" anchor="t"/>
          <a:lstStyle/>
          <a:p>
            <a:pPr marL="0" indent="0">
              <a:buNone/>
            </a:pPr>
            <a:r>
              <a:rPr lang="en-US" sz="1300" b="1" kern="0" spc="200" dirty="0">
                <a:solidFill>
                  <a:schemeClr val="accent2"/>
                </a:solidFill>
              </a:rPr>
              <a:t>PROBLEM STATEMENT   </a:t>
            </a:r>
            <a:r>
              <a:rPr lang="en-US" sz="1300" dirty="0">
                <a:solidFill>
                  <a:schemeClr val="bg2"/>
                </a:solidFill>
              </a:rPr>
              <a:t>Verifiable, enforceable consent under India’s DPDP Act</a:t>
            </a:r>
            <a:endParaRPr lang="en-US" sz="1300" dirty="0"/>
          </a:p>
        </p:txBody>
      </p:sp>
      <p:sp>
        <p:nvSpPr>
          <p:cNvPr id="7" name="Pill"/>
          <p:cNvSpPr/>
          <p:nvPr/>
        </p:nvSpPr>
        <p:spPr>
          <a:xfrm>
            <a:off x="731520" y="5257800"/>
            <a:ext cx="1417320" cy="384048"/>
          </a:xfrm>
          <a:prstGeom prst="roundRect">
            <a:avLst>
              <a:gd name="adj" fmla="val 47619"/>
            </a:avLst>
          </a:prstGeom>
          <a:solidFill>
            <a:schemeClr val="tx2"/>
          </a:solidFill>
          <a:ln w="12700">
            <a:solidFill>
              <a:schemeClr val="accent1"/>
            </a:solidFill>
            <a:prstDash val="solid"/>
          </a:ln>
        </p:spPr>
      </p:sp>
      <p:sp>
        <p:nvSpPr>
          <p:cNvPr id="8" name="Text 6"/>
          <p:cNvSpPr txBox="1"/>
          <p:nvPr/>
        </p:nvSpPr>
        <p:spPr>
          <a:xfrm>
            <a:off x="731520" y="5257800"/>
            <a:ext cx="1417320" cy="384048"/>
          </a:xfrm>
          <a:prstGeom prst="rect">
            <a:avLst/>
          </a:prstGeom>
          <a:noFill/>
          <a:ln/>
        </p:spPr>
        <p:txBody>
          <a:bodyPr wrap="square" lIns="0" tIns="0" rIns="0" bIns="0" rtlCol="0" anchor="ctr"/>
          <a:lstStyle/>
          <a:p>
            <a:pPr marL="0" indent="0" algn="ctr">
              <a:buNone/>
            </a:pPr>
            <a:r>
              <a:rPr lang="en-US" sz="1200" b="1" dirty="0">
                <a:solidFill>
                  <a:schemeClr val="bg1"/>
                </a:solidFill>
              </a:rPr>
              <a:t>Citizen Wallet</a:t>
            </a:r>
            <a:endParaRPr lang="en-US" sz="1200" dirty="0"/>
          </a:p>
        </p:txBody>
      </p:sp>
      <p:sp>
        <p:nvSpPr>
          <p:cNvPr id="9" name="Pill"/>
          <p:cNvSpPr/>
          <p:nvPr/>
        </p:nvSpPr>
        <p:spPr>
          <a:xfrm>
            <a:off x="2258568" y="5257800"/>
            <a:ext cx="1417320" cy="384048"/>
          </a:xfrm>
          <a:prstGeom prst="roundRect">
            <a:avLst>
              <a:gd name="adj" fmla="val 47619"/>
            </a:avLst>
          </a:prstGeom>
          <a:solidFill>
            <a:schemeClr val="tx2"/>
          </a:solidFill>
          <a:ln w="12700">
            <a:solidFill>
              <a:schemeClr val="accent1"/>
            </a:solidFill>
            <a:prstDash val="solid"/>
          </a:ln>
        </p:spPr>
      </p:sp>
      <p:sp>
        <p:nvSpPr>
          <p:cNvPr id="10" name="Text 8"/>
          <p:cNvSpPr txBox="1"/>
          <p:nvPr/>
        </p:nvSpPr>
        <p:spPr>
          <a:xfrm>
            <a:off x="2258568" y="5257800"/>
            <a:ext cx="1417320" cy="384048"/>
          </a:xfrm>
          <a:prstGeom prst="rect">
            <a:avLst/>
          </a:prstGeom>
          <a:noFill/>
          <a:ln/>
        </p:spPr>
        <p:txBody>
          <a:bodyPr wrap="square" lIns="0" tIns="0" rIns="0" bIns="0" rtlCol="0" anchor="ctr"/>
          <a:lstStyle/>
          <a:p>
            <a:pPr marL="0" indent="0" algn="ctr">
              <a:buNone/>
            </a:pPr>
            <a:r>
              <a:rPr lang="en-US" sz="1200" b="1" dirty="0">
                <a:solidFill>
                  <a:schemeClr val="bg1"/>
                </a:solidFill>
              </a:rPr>
              <a:t>Gateway SDK</a:t>
            </a:r>
            <a:endParaRPr lang="en-US" sz="1200" dirty="0"/>
          </a:p>
        </p:txBody>
      </p:sp>
      <p:sp>
        <p:nvSpPr>
          <p:cNvPr id="11" name="Pill"/>
          <p:cNvSpPr/>
          <p:nvPr/>
        </p:nvSpPr>
        <p:spPr>
          <a:xfrm>
            <a:off x="3785616" y="5257800"/>
            <a:ext cx="1417320" cy="384048"/>
          </a:xfrm>
          <a:prstGeom prst="roundRect">
            <a:avLst>
              <a:gd name="adj" fmla="val 47619"/>
            </a:avLst>
          </a:prstGeom>
          <a:solidFill>
            <a:schemeClr val="tx2"/>
          </a:solidFill>
          <a:ln w="12700">
            <a:solidFill>
              <a:schemeClr val="accent1"/>
            </a:solidFill>
            <a:prstDash val="solid"/>
          </a:ln>
        </p:spPr>
      </p:sp>
      <p:sp>
        <p:nvSpPr>
          <p:cNvPr id="12" name="Text 10"/>
          <p:cNvSpPr txBox="1"/>
          <p:nvPr/>
        </p:nvSpPr>
        <p:spPr>
          <a:xfrm>
            <a:off x="3785616" y="5257800"/>
            <a:ext cx="1417320" cy="384048"/>
          </a:xfrm>
          <a:prstGeom prst="rect">
            <a:avLst/>
          </a:prstGeom>
          <a:noFill/>
          <a:ln/>
        </p:spPr>
        <p:txBody>
          <a:bodyPr wrap="square" lIns="0" tIns="0" rIns="0" bIns="0" rtlCol="0" anchor="ctr"/>
          <a:lstStyle/>
          <a:p>
            <a:pPr marL="0" indent="0" algn="ctr">
              <a:buNone/>
            </a:pPr>
            <a:r>
              <a:rPr lang="en-US" sz="1200" b="1" dirty="0">
                <a:solidFill>
                  <a:schemeClr val="bg1"/>
                </a:solidFill>
              </a:rPr>
              <a:t>Consent Ledger</a:t>
            </a:r>
            <a:endParaRPr lang="en-US" sz="1200" dirty="0"/>
          </a:p>
        </p:txBody>
      </p:sp>
      <p:sp>
        <p:nvSpPr>
          <p:cNvPr id="13" name="Pill"/>
          <p:cNvSpPr/>
          <p:nvPr/>
        </p:nvSpPr>
        <p:spPr>
          <a:xfrm>
            <a:off x="5312664" y="5257800"/>
            <a:ext cx="1417320" cy="384048"/>
          </a:xfrm>
          <a:prstGeom prst="roundRect">
            <a:avLst>
              <a:gd name="adj" fmla="val 47619"/>
            </a:avLst>
          </a:prstGeom>
          <a:solidFill>
            <a:schemeClr val="tx2"/>
          </a:solidFill>
          <a:ln w="12700">
            <a:solidFill>
              <a:schemeClr val="accent1"/>
            </a:solidFill>
            <a:prstDash val="solid"/>
          </a:ln>
        </p:spPr>
      </p:sp>
      <p:sp>
        <p:nvSpPr>
          <p:cNvPr id="14" name="Text 12"/>
          <p:cNvSpPr txBox="1"/>
          <p:nvPr/>
        </p:nvSpPr>
        <p:spPr>
          <a:xfrm>
            <a:off x="5312664" y="5257800"/>
            <a:ext cx="1417320" cy="384048"/>
          </a:xfrm>
          <a:prstGeom prst="rect">
            <a:avLst/>
          </a:prstGeom>
          <a:noFill/>
          <a:ln/>
        </p:spPr>
        <p:txBody>
          <a:bodyPr wrap="square" lIns="0" tIns="0" rIns="0" bIns="0" rtlCol="0" anchor="ctr"/>
          <a:lstStyle/>
          <a:p>
            <a:pPr marL="0" indent="0" algn="ctr">
              <a:buNone/>
            </a:pPr>
            <a:r>
              <a:rPr lang="en-US" sz="1200" b="1" dirty="0">
                <a:solidFill>
                  <a:schemeClr val="bg1"/>
                </a:solidFill>
              </a:rPr>
              <a:t>Auditor</a:t>
            </a:r>
            <a:endParaRPr lang="en-US" sz="1200" dirty="0"/>
          </a:p>
        </p:txBody>
      </p:sp>
      <p:sp>
        <p:nvSpPr>
          <p:cNvPr id="15" name="Text 13"/>
          <p:cNvSpPr txBox="1"/>
          <p:nvPr/>
        </p:nvSpPr>
        <p:spPr>
          <a:xfrm>
            <a:off x="731520" y="6080760"/>
            <a:ext cx="6400800" cy="274320"/>
          </a:xfrm>
          <a:prstGeom prst="rect">
            <a:avLst/>
          </a:prstGeom>
          <a:noFill/>
          <a:ln/>
        </p:spPr>
        <p:txBody>
          <a:bodyPr wrap="square" lIns="0" tIns="0" rIns="0" bIns="0" rtlCol="0" anchor="t"/>
          <a:lstStyle/>
          <a:p>
            <a:pPr marL="0" indent="0">
              <a:buNone/>
            </a:pPr>
            <a:r>
              <a:rPr lang="en-US" sz="1300" b="1" dirty="0">
                <a:solidFill>
                  <a:schemeClr val="bg2"/>
                </a:solidFill>
              </a:rPr>
              <a:t>Team ACE  </a:t>
            </a:r>
            <a:endParaRPr lang="en-US" sz="1300" b="1" dirty="0"/>
          </a:p>
        </p:txBody>
      </p:sp>
      <p:sp>
        <p:nvSpPr>
          <p:cNvPr id="16" name="Phone body"/>
          <p:cNvSpPr/>
          <p:nvPr/>
        </p:nvSpPr>
        <p:spPr>
          <a:xfrm>
            <a:off x="7955280" y="731520"/>
            <a:ext cx="3566160" cy="5486400"/>
          </a:xfrm>
          <a:prstGeom prst="roundRect">
            <a:avLst>
              <a:gd name="adj" fmla="val 9744"/>
            </a:avLst>
          </a:prstGeom>
          <a:solidFill>
            <a:schemeClr val="bg2"/>
          </a:solidFill>
          <a:ln w="31750">
            <a:solidFill>
              <a:schemeClr val="accent1"/>
            </a:solidFill>
            <a:prstDash val="solid"/>
          </a:ln>
        </p:spPr>
      </p:sp>
      <p:sp>
        <p:nvSpPr>
          <p:cNvPr id="17" name="Phone notch"/>
          <p:cNvSpPr/>
          <p:nvPr/>
        </p:nvSpPr>
        <p:spPr>
          <a:xfrm>
            <a:off x="9281160" y="896112"/>
            <a:ext cx="914400" cy="109728"/>
          </a:xfrm>
          <a:prstGeom prst="roundRect">
            <a:avLst>
              <a:gd name="adj" fmla="val 50000"/>
            </a:avLst>
          </a:prstGeom>
          <a:solidFill>
            <a:srgbClr val="D3DAE2"/>
          </a:solidFill>
          <a:ln/>
        </p:spPr>
      </p:sp>
      <p:sp>
        <p:nvSpPr>
          <p:cNvPr id="18" name="Text 16"/>
          <p:cNvSpPr txBox="1"/>
          <p:nvPr/>
        </p:nvSpPr>
        <p:spPr>
          <a:xfrm>
            <a:off x="8229600" y="1234440"/>
            <a:ext cx="3017520" cy="320040"/>
          </a:xfrm>
          <a:prstGeom prst="rect">
            <a:avLst/>
          </a:prstGeom>
          <a:noFill/>
          <a:ln/>
        </p:spPr>
        <p:txBody>
          <a:bodyPr wrap="square" lIns="0" tIns="0" rIns="0" bIns="0" rtlCol="0" anchor="t"/>
          <a:lstStyle/>
          <a:p>
            <a:pPr marL="0" indent="0">
              <a:buNone/>
            </a:pPr>
            <a:r>
              <a:rPr lang="en-US" sz="1700" b="1" dirty="0">
                <a:solidFill>
                  <a:schemeClr val="tx1"/>
                </a:solidFill>
              </a:rPr>
              <a:t>Sammati Wallet</a:t>
            </a:r>
            <a:endParaRPr lang="en-US" sz="1700" dirty="0"/>
          </a:p>
        </p:txBody>
      </p:sp>
      <p:sp>
        <p:nvSpPr>
          <p:cNvPr id="19" name="Text 17"/>
          <p:cNvSpPr txBox="1"/>
          <p:nvPr/>
        </p:nvSpPr>
        <p:spPr>
          <a:xfrm>
            <a:off x="8229600" y="1572768"/>
            <a:ext cx="3017520" cy="274320"/>
          </a:xfrm>
          <a:prstGeom prst="rect">
            <a:avLst/>
          </a:prstGeom>
          <a:noFill/>
          <a:ln/>
        </p:spPr>
        <p:txBody>
          <a:bodyPr wrap="square" lIns="0" tIns="0" rIns="0" bIns="0" rtlCol="0" anchor="t"/>
          <a:lstStyle/>
          <a:p>
            <a:pPr marL="0" indent="0">
              <a:buNone/>
            </a:pPr>
            <a:r>
              <a:rPr lang="en-US" sz="1200" dirty="0">
                <a:solidFill>
                  <a:schemeClr val="accent6"/>
                </a:solidFill>
              </a:rPr>
              <a:t>QuickLoan is asking to use your data</a:t>
            </a:r>
            <a:endParaRPr lang="en-US" sz="1200" dirty="0"/>
          </a:p>
        </p:txBody>
      </p:sp>
      <p:sp>
        <p:nvSpPr>
          <p:cNvPr id="20" name="Purpose row"/>
          <p:cNvSpPr/>
          <p:nvPr/>
        </p:nvSpPr>
        <p:spPr>
          <a:xfrm>
            <a:off x="8229600" y="2057400"/>
            <a:ext cx="3017520" cy="914400"/>
          </a:xfrm>
          <a:prstGeom prst="roundRect">
            <a:avLst>
              <a:gd name="adj" fmla="val 10000"/>
            </a:avLst>
          </a:prstGeom>
          <a:solidFill>
            <a:schemeClr val="bg1"/>
          </a:solidFill>
          <a:ln/>
          <a:effectLst>
            <a:outerShdw blurRad="127000" dist="25400" dir="5400000" algn="bl" rotWithShape="0">
              <a:srgbClr val="0B1B2E">
                <a:alpha val="10000"/>
              </a:srgbClr>
            </a:outerShdw>
          </a:effectLst>
        </p:spPr>
      </p:sp>
      <p:sp>
        <p:nvSpPr>
          <p:cNvPr id="21" name="Text 19"/>
          <p:cNvSpPr txBox="1"/>
          <p:nvPr/>
        </p:nvSpPr>
        <p:spPr>
          <a:xfrm>
            <a:off x="8412480" y="2240280"/>
            <a:ext cx="1920240" cy="274320"/>
          </a:xfrm>
          <a:prstGeom prst="rect">
            <a:avLst/>
          </a:prstGeom>
          <a:noFill/>
          <a:ln/>
        </p:spPr>
        <p:txBody>
          <a:bodyPr wrap="square" lIns="0" tIns="0" rIns="0" bIns="0" rtlCol="0" anchor="t"/>
          <a:lstStyle/>
          <a:p>
            <a:pPr marL="0" indent="0">
              <a:buNone/>
            </a:pPr>
            <a:r>
              <a:rPr lang="en-US" sz="1500" b="1" dirty="0">
                <a:solidFill>
                  <a:schemeClr val="tx1"/>
                </a:solidFill>
              </a:rPr>
              <a:t>Credit check</a:t>
            </a:r>
            <a:endParaRPr lang="en-US" sz="1500" dirty="0"/>
          </a:p>
        </p:txBody>
      </p:sp>
      <p:sp>
        <p:nvSpPr>
          <p:cNvPr id="22" name="Text 20"/>
          <p:cNvSpPr txBox="1"/>
          <p:nvPr/>
        </p:nvSpPr>
        <p:spPr>
          <a:xfrm>
            <a:off x="8412480" y="2560320"/>
            <a:ext cx="2011680" cy="256032"/>
          </a:xfrm>
          <a:prstGeom prst="rect">
            <a:avLst/>
          </a:prstGeom>
          <a:noFill/>
          <a:ln/>
        </p:spPr>
        <p:txBody>
          <a:bodyPr wrap="square" lIns="0" tIns="0" rIns="0" bIns="0" rtlCol="0" anchor="t"/>
          <a:lstStyle/>
          <a:p>
            <a:pPr marL="0" indent="0">
              <a:buNone/>
            </a:pPr>
            <a:r>
              <a:rPr lang="en-US" sz="1100" dirty="0">
                <a:solidFill>
                  <a:schemeClr val="accent6"/>
                </a:solidFill>
              </a:rPr>
              <a:t>PAN, income band  |  30 days</a:t>
            </a:r>
            <a:endParaRPr lang="en-US" sz="1100" dirty="0"/>
          </a:p>
        </p:txBody>
      </p:sp>
      <p:sp>
        <p:nvSpPr>
          <p:cNvPr id="23" name="Toggle"/>
          <p:cNvSpPr/>
          <p:nvPr/>
        </p:nvSpPr>
        <p:spPr>
          <a:xfrm>
            <a:off x="10515600" y="2368296"/>
            <a:ext cx="566928" cy="292608"/>
          </a:xfrm>
          <a:prstGeom prst="roundRect">
            <a:avLst>
              <a:gd name="adj" fmla="val 50000"/>
            </a:avLst>
          </a:prstGeom>
          <a:solidFill>
            <a:schemeClr val="accent1"/>
          </a:solidFill>
          <a:ln/>
        </p:spPr>
      </p:sp>
      <p:sp>
        <p:nvSpPr>
          <p:cNvPr id="24" name="Toggle knob"/>
          <p:cNvSpPr/>
          <p:nvPr/>
        </p:nvSpPr>
        <p:spPr>
          <a:xfrm>
            <a:off x="10808208" y="2404872"/>
            <a:ext cx="219456" cy="219456"/>
          </a:xfrm>
          <a:prstGeom prst="ellipse">
            <a:avLst/>
          </a:prstGeom>
          <a:solidFill>
            <a:schemeClr val="bg1"/>
          </a:solidFill>
          <a:ln/>
        </p:spPr>
      </p:sp>
      <p:sp>
        <p:nvSpPr>
          <p:cNvPr id="25" name="Purpose row"/>
          <p:cNvSpPr/>
          <p:nvPr/>
        </p:nvSpPr>
        <p:spPr>
          <a:xfrm>
            <a:off x="8229600" y="3108960"/>
            <a:ext cx="3017520" cy="914400"/>
          </a:xfrm>
          <a:prstGeom prst="roundRect">
            <a:avLst>
              <a:gd name="adj" fmla="val 10000"/>
            </a:avLst>
          </a:prstGeom>
          <a:solidFill>
            <a:schemeClr val="bg1"/>
          </a:solidFill>
          <a:ln/>
          <a:effectLst>
            <a:outerShdw blurRad="127000" dist="25400" dir="5400000" algn="bl" rotWithShape="0">
              <a:srgbClr val="0B1B2E">
                <a:alpha val="10000"/>
              </a:srgbClr>
            </a:outerShdw>
          </a:effectLst>
        </p:spPr>
      </p:sp>
      <p:sp>
        <p:nvSpPr>
          <p:cNvPr id="26" name="Text 24"/>
          <p:cNvSpPr txBox="1"/>
          <p:nvPr/>
        </p:nvSpPr>
        <p:spPr>
          <a:xfrm>
            <a:off x="8412480" y="3291840"/>
            <a:ext cx="1920240" cy="274320"/>
          </a:xfrm>
          <a:prstGeom prst="rect">
            <a:avLst/>
          </a:prstGeom>
          <a:noFill/>
          <a:ln/>
        </p:spPr>
        <p:txBody>
          <a:bodyPr wrap="square" lIns="0" tIns="0" rIns="0" bIns="0" rtlCol="0" anchor="t"/>
          <a:lstStyle/>
          <a:p>
            <a:pPr marL="0" indent="0">
              <a:buNone/>
            </a:pPr>
            <a:r>
              <a:rPr lang="en-US" sz="1500" b="1" dirty="0">
                <a:solidFill>
                  <a:schemeClr val="tx1"/>
                </a:solidFill>
              </a:rPr>
              <a:t>Marketing offers</a:t>
            </a:r>
            <a:endParaRPr lang="en-US" sz="1500" dirty="0"/>
          </a:p>
        </p:txBody>
      </p:sp>
      <p:sp>
        <p:nvSpPr>
          <p:cNvPr id="27" name="Text 25"/>
          <p:cNvSpPr txBox="1"/>
          <p:nvPr/>
        </p:nvSpPr>
        <p:spPr>
          <a:xfrm>
            <a:off x="8412480" y="3611880"/>
            <a:ext cx="2011680" cy="256032"/>
          </a:xfrm>
          <a:prstGeom prst="rect">
            <a:avLst/>
          </a:prstGeom>
          <a:noFill/>
          <a:ln/>
        </p:spPr>
        <p:txBody>
          <a:bodyPr wrap="square" lIns="0" tIns="0" rIns="0" bIns="0" rtlCol="0" anchor="t"/>
          <a:lstStyle/>
          <a:p>
            <a:pPr marL="0" indent="0">
              <a:buNone/>
            </a:pPr>
            <a:r>
              <a:rPr lang="en-US" sz="1100" dirty="0">
                <a:solidFill>
                  <a:schemeClr val="accent6"/>
                </a:solidFill>
              </a:rPr>
              <a:t>Optional  |  not pre-ticked</a:t>
            </a:r>
            <a:endParaRPr lang="en-US" sz="1100" dirty="0"/>
          </a:p>
        </p:txBody>
      </p:sp>
      <p:sp>
        <p:nvSpPr>
          <p:cNvPr id="28" name="Toggle"/>
          <p:cNvSpPr/>
          <p:nvPr/>
        </p:nvSpPr>
        <p:spPr>
          <a:xfrm>
            <a:off x="10515600" y="3419856"/>
            <a:ext cx="566928" cy="292608"/>
          </a:xfrm>
          <a:prstGeom prst="roundRect">
            <a:avLst>
              <a:gd name="adj" fmla="val 50000"/>
            </a:avLst>
          </a:prstGeom>
          <a:solidFill>
            <a:srgbClr val="C5CDD6"/>
          </a:solidFill>
          <a:ln/>
        </p:spPr>
      </p:sp>
      <p:sp>
        <p:nvSpPr>
          <p:cNvPr id="29" name="Toggle knob"/>
          <p:cNvSpPr/>
          <p:nvPr/>
        </p:nvSpPr>
        <p:spPr>
          <a:xfrm>
            <a:off x="10552176" y="3456432"/>
            <a:ext cx="219456" cy="219456"/>
          </a:xfrm>
          <a:prstGeom prst="ellipse">
            <a:avLst/>
          </a:prstGeom>
          <a:solidFill>
            <a:schemeClr val="bg1"/>
          </a:solidFill>
          <a:ln/>
        </p:spPr>
      </p:sp>
      <p:sp>
        <p:nvSpPr>
          <p:cNvPr id="30" name="Allowed chip"/>
          <p:cNvSpPr/>
          <p:nvPr/>
        </p:nvSpPr>
        <p:spPr>
          <a:xfrm>
            <a:off x="8229600" y="4297680"/>
            <a:ext cx="3017520" cy="457200"/>
          </a:xfrm>
          <a:prstGeom prst="roundRect">
            <a:avLst>
              <a:gd name="adj" fmla="val 20000"/>
            </a:avLst>
          </a:prstGeom>
          <a:solidFill>
            <a:schemeClr val="accent1"/>
          </a:solidFill>
          <a:ln/>
        </p:spPr>
      </p:sp>
      <p:sp>
        <p:nvSpPr>
          <p:cNvPr id="31" name="Text 29"/>
          <p:cNvSpPr txBox="1"/>
          <p:nvPr/>
        </p:nvSpPr>
        <p:spPr>
          <a:xfrm>
            <a:off x="8229600" y="4297680"/>
            <a:ext cx="3017520" cy="457200"/>
          </a:xfrm>
          <a:prstGeom prst="rect">
            <a:avLst/>
          </a:prstGeom>
          <a:noFill/>
          <a:ln/>
        </p:spPr>
        <p:txBody>
          <a:bodyPr wrap="square" lIns="0" tIns="0" rIns="0" bIns="0" rtlCol="0" anchor="ctr"/>
          <a:lstStyle/>
          <a:p>
            <a:pPr marL="0" indent="0" algn="ctr">
              <a:buNone/>
            </a:pPr>
            <a:r>
              <a:rPr lang="en-US" sz="1300" b="1" dirty="0">
                <a:solidFill>
                  <a:schemeClr val="bg1"/>
                </a:solidFill>
              </a:rPr>
              <a:t>ALLOWED   credit_check</a:t>
            </a:r>
            <a:endParaRPr lang="en-US" sz="1300" dirty="0"/>
          </a:p>
        </p:txBody>
      </p:sp>
      <p:sp>
        <p:nvSpPr>
          <p:cNvPr id="32" name="Blocked chip"/>
          <p:cNvSpPr/>
          <p:nvPr/>
        </p:nvSpPr>
        <p:spPr>
          <a:xfrm>
            <a:off x="8229600" y="4864608"/>
            <a:ext cx="3017520" cy="457200"/>
          </a:xfrm>
          <a:prstGeom prst="roundRect">
            <a:avLst>
              <a:gd name="adj" fmla="val 20000"/>
            </a:avLst>
          </a:prstGeom>
          <a:solidFill>
            <a:schemeClr val="accent4"/>
          </a:solidFill>
          <a:ln/>
        </p:spPr>
      </p:sp>
      <p:sp>
        <p:nvSpPr>
          <p:cNvPr id="33" name="Text 31"/>
          <p:cNvSpPr txBox="1"/>
          <p:nvPr/>
        </p:nvSpPr>
        <p:spPr>
          <a:xfrm>
            <a:off x="8229600" y="4864608"/>
            <a:ext cx="3017520" cy="457200"/>
          </a:xfrm>
          <a:prstGeom prst="rect">
            <a:avLst/>
          </a:prstGeom>
          <a:noFill/>
          <a:ln/>
        </p:spPr>
        <p:txBody>
          <a:bodyPr wrap="square" lIns="0" tIns="0" rIns="0" bIns="0" rtlCol="0" anchor="ctr"/>
          <a:lstStyle/>
          <a:p>
            <a:pPr marL="0" indent="0" algn="ctr">
              <a:buNone/>
            </a:pPr>
            <a:r>
              <a:rPr lang="en-US" sz="1300" b="1" dirty="0">
                <a:solidFill>
                  <a:schemeClr val="bg1"/>
                </a:solidFill>
              </a:rPr>
              <a:t>BLOCKED   marketing   451</a:t>
            </a:r>
            <a:endParaRPr lang="en-US" sz="1300" dirty="0"/>
          </a:p>
        </p:txBody>
      </p:sp>
      <p:pic>
        <p:nvPicPr>
          <p:cNvPr id="34" name="Image 0" descr="Lock icon"/>
          <p:cNvPicPr>
            <a:picLocks noChangeAspect="1"/>
          </p:cNvPicPr>
          <p:nvPr/>
        </p:nvPicPr>
        <p:blipFill>
          <a:blip r:embed="rId3"/>
          <a:stretch>
            <a:fillRect/>
          </a:stretch>
        </p:blipFill>
        <p:spPr>
          <a:xfrm>
            <a:off x="8641080" y="5550408"/>
            <a:ext cx="201168" cy="201168"/>
          </a:xfrm>
          <a:prstGeom prst="rect">
            <a:avLst/>
          </a:prstGeom>
        </p:spPr>
      </p:pic>
      <p:sp>
        <p:nvSpPr>
          <p:cNvPr id="35" name="Text 32"/>
          <p:cNvSpPr txBox="1"/>
          <p:nvPr/>
        </p:nvSpPr>
        <p:spPr>
          <a:xfrm>
            <a:off x="8961120" y="5532120"/>
            <a:ext cx="2286000" cy="256032"/>
          </a:xfrm>
          <a:prstGeom prst="rect">
            <a:avLst/>
          </a:prstGeom>
          <a:noFill/>
          <a:ln/>
        </p:spPr>
        <p:txBody>
          <a:bodyPr wrap="square" lIns="0" tIns="0" rIns="0" bIns="0" rtlCol="0" anchor="ctr"/>
          <a:lstStyle/>
          <a:p>
            <a:pPr marL="0" indent="0">
              <a:buNone/>
            </a:pPr>
            <a:r>
              <a:rPr lang="en-US" sz="1100" dirty="0">
                <a:solidFill>
                  <a:schemeClr val="accent6"/>
                </a:solidFill>
              </a:rPr>
              <a:t>Signed with your device key</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marL="0" indent="0">
              <a:buNone/>
            </a:pPr>
            <a:r>
              <a:rPr lang="en-US" sz="1200" b="1" kern="0" spc="300" dirty="0">
                <a:solidFill>
                  <a:schemeClr val="accent1"/>
                </a:solidFill>
              </a:rPr>
              <a:t>01  |  PROBLEM UNDERSTANDING</a:t>
            </a:r>
            <a:endParaRPr lang="en-US" sz="1200" dirty="0"/>
          </a:p>
        </p:txBody>
      </p:sp>
      <p:sp>
        <p:nvSpPr>
          <p:cNvPr id="3" name="Text 1"/>
          <p:cNvSpPr>
            <a:spLocks noGrp="1"/>
          </p:cNvSpPr>
          <p:nvPr>
            <p:ph type="title" idx="101" hasCustomPrompt="1"/>
          </p:nvPr>
        </p:nvSpPr>
        <p:spPr>
          <a:xfrm>
            <a:off x="548640" y="658368"/>
            <a:ext cx="11094415" cy="731520"/>
          </a:xfrm>
          <a:prstGeom prst="rect">
            <a:avLst/>
          </a:prstGeom>
          <a:noFill/>
          <a:ln/>
        </p:spPr>
        <p:txBody>
          <a:bodyPr wrap="square" lIns="0" tIns="0" rIns="0" bIns="0" rtlCol="0" anchor="ctr"/>
          <a:lstStyle/>
          <a:p>
            <a:pPr marL="0" indent="0" algn="l">
              <a:buNone/>
            </a:pPr>
            <a:r>
              <a:rPr lang="en-US" sz="3200" b="1" dirty="0">
                <a:solidFill>
                  <a:schemeClr val="tx1"/>
                </a:solidFill>
              </a:rPr>
              <a:t>Consent in India is an “I agree” nobody controls</a:t>
            </a:r>
            <a:endParaRPr lang="en-US" sz="3200" dirty="0"/>
          </a:p>
        </p:txBody>
      </p:sp>
      <p:sp>
        <p:nvSpPr>
          <p:cNvPr id="4" name="Persona card"/>
          <p:cNvSpPr/>
          <p:nvPr/>
        </p:nvSpPr>
        <p:spPr>
          <a:xfrm>
            <a:off x="548640" y="1691640"/>
            <a:ext cx="5943600" cy="1325880"/>
          </a:xfrm>
          <a:prstGeom prst="roundRect">
            <a:avLst>
              <a:gd name="adj" fmla="val 8276"/>
            </a:avLst>
          </a:prstGeom>
          <a:solidFill>
            <a:schemeClr val="bg1"/>
          </a:solidFill>
          <a:ln/>
          <a:effectLst>
            <a:outerShdw blurRad="127000" dist="25400" dir="5400000" algn="bl" rotWithShape="0">
              <a:srgbClr val="0B1B2E">
                <a:alpha val="10000"/>
              </a:srgbClr>
            </a:outerShdw>
          </a:effectLst>
        </p:spPr>
      </p:sp>
      <p:sp>
        <p:nvSpPr>
          <p:cNvPr id="5" name="Icon circle"/>
          <p:cNvSpPr/>
          <p:nvPr/>
        </p:nvSpPr>
        <p:spPr>
          <a:xfrm>
            <a:off x="777240" y="1965960"/>
            <a:ext cx="777240" cy="777240"/>
          </a:xfrm>
          <a:prstGeom prst="ellipse">
            <a:avLst/>
          </a:prstGeom>
          <a:solidFill>
            <a:srgbClr val="0E8F83"/>
          </a:solidFill>
          <a:ln/>
        </p:spPr>
      </p:sp>
      <p:pic>
        <p:nvPicPr>
          <p:cNvPr id="6" name="Image 0" descr="User icon"/>
          <p:cNvPicPr>
            <a:picLocks noChangeAspect="1"/>
          </p:cNvPicPr>
          <p:nvPr/>
        </p:nvPicPr>
        <p:blipFill>
          <a:blip r:embed="rId3"/>
          <a:stretch>
            <a:fillRect/>
          </a:stretch>
        </p:blipFill>
        <p:spPr>
          <a:xfrm>
            <a:off x="979322" y="2168042"/>
            <a:ext cx="373075" cy="373075"/>
          </a:xfrm>
          <a:prstGeom prst="rect">
            <a:avLst/>
          </a:prstGeom>
        </p:spPr>
      </p:pic>
      <p:sp>
        <p:nvSpPr>
          <p:cNvPr id="7" name="Text 4"/>
          <p:cNvSpPr txBox="1"/>
          <p:nvPr/>
        </p:nvSpPr>
        <p:spPr>
          <a:xfrm>
            <a:off x="1600200" y="1847088"/>
            <a:ext cx="4480560" cy="292608"/>
          </a:xfrm>
          <a:prstGeom prst="rect">
            <a:avLst/>
          </a:prstGeom>
          <a:noFill/>
          <a:ln/>
        </p:spPr>
        <p:txBody>
          <a:bodyPr wrap="square" lIns="0" tIns="0" rIns="0" bIns="0" rtlCol="0" anchor="t"/>
          <a:lstStyle/>
          <a:p>
            <a:pPr marL="0" indent="0">
              <a:buNone/>
            </a:pPr>
            <a:r>
              <a:rPr lang="en-US" sz="1700" b="1" dirty="0">
                <a:solidFill>
                  <a:schemeClr val="tx1"/>
                </a:solidFill>
              </a:rPr>
              <a:t>Asha</a:t>
            </a:r>
            <a:r>
              <a:rPr lang="en-US" sz="1200" dirty="0">
                <a:solidFill>
                  <a:schemeClr val="accent6"/>
                </a:solidFill>
              </a:rPr>
              <a:t>   Citizen, 29</a:t>
            </a:r>
            <a:endParaRPr lang="en-US" sz="1400" dirty="0"/>
          </a:p>
        </p:txBody>
      </p:sp>
      <p:sp>
        <p:nvSpPr>
          <p:cNvPr id="8" name="Text 5"/>
          <p:cNvSpPr txBox="1"/>
          <p:nvPr/>
        </p:nvSpPr>
        <p:spPr>
          <a:xfrm>
            <a:off x="1600200" y="2194560"/>
            <a:ext cx="4480560" cy="731520"/>
          </a:xfrm>
          <a:prstGeom prst="rect">
            <a:avLst/>
          </a:prstGeom>
          <a:noFill/>
          <a:ln/>
        </p:spPr>
        <p:txBody>
          <a:bodyPr wrap="square" lIns="0" tIns="0" rIns="0" bIns="0" rtlCol="0" anchor="t"/>
          <a:lstStyle/>
          <a:p>
            <a:pPr marL="0" indent="0">
              <a:buNone/>
            </a:pPr>
            <a:r>
              <a:rPr lang="en-US" sz="1400" dirty="0">
                <a:solidFill>
                  <a:schemeClr val="tx1"/>
                </a:solidFill>
              </a:rPr>
              <a:t>Said yes to dozens of apps. She cannot see who holds her data, and withdrawing rarely stops anything.</a:t>
            </a:r>
            <a:endParaRPr lang="en-US" sz="1400" dirty="0"/>
          </a:p>
        </p:txBody>
      </p:sp>
      <p:sp>
        <p:nvSpPr>
          <p:cNvPr id="9" name="Persona card"/>
          <p:cNvSpPr/>
          <p:nvPr/>
        </p:nvSpPr>
        <p:spPr>
          <a:xfrm>
            <a:off x="548640" y="3200400"/>
            <a:ext cx="5943600" cy="1325880"/>
          </a:xfrm>
          <a:prstGeom prst="roundRect">
            <a:avLst>
              <a:gd name="adj" fmla="val 8276"/>
            </a:avLst>
          </a:prstGeom>
          <a:solidFill>
            <a:schemeClr val="bg1"/>
          </a:solidFill>
          <a:ln/>
          <a:effectLst>
            <a:outerShdw blurRad="127000" dist="25400" dir="5400000" algn="bl" rotWithShape="0">
              <a:srgbClr val="0B1B2E">
                <a:alpha val="10000"/>
              </a:srgbClr>
            </a:outerShdw>
          </a:effectLst>
        </p:spPr>
      </p:sp>
      <p:sp>
        <p:nvSpPr>
          <p:cNvPr id="10" name="Icon circle"/>
          <p:cNvSpPr/>
          <p:nvPr/>
        </p:nvSpPr>
        <p:spPr>
          <a:xfrm>
            <a:off x="777240" y="3474720"/>
            <a:ext cx="777240" cy="777240"/>
          </a:xfrm>
          <a:prstGeom prst="ellipse">
            <a:avLst/>
          </a:prstGeom>
          <a:solidFill>
            <a:srgbClr val="2F63C8"/>
          </a:solidFill>
          <a:ln/>
        </p:spPr>
      </p:sp>
      <p:pic>
        <p:nvPicPr>
          <p:cNvPr id="11" name="Image 1" descr="Building icon"/>
          <p:cNvPicPr>
            <a:picLocks noChangeAspect="1"/>
          </p:cNvPicPr>
          <p:nvPr/>
        </p:nvPicPr>
        <p:blipFill>
          <a:blip r:embed="rId4"/>
          <a:stretch>
            <a:fillRect/>
          </a:stretch>
        </p:blipFill>
        <p:spPr>
          <a:xfrm>
            <a:off x="979322" y="3676802"/>
            <a:ext cx="373075" cy="373075"/>
          </a:xfrm>
          <a:prstGeom prst="rect">
            <a:avLst/>
          </a:prstGeom>
        </p:spPr>
      </p:pic>
      <p:sp>
        <p:nvSpPr>
          <p:cNvPr id="12" name="Text 8"/>
          <p:cNvSpPr txBox="1"/>
          <p:nvPr/>
        </p:nvSpPr>
        <p:spPr>
          <a:xfrm>
            <a:off x="1600200" y="3355848"/>
            <a:ext cx="4480560" cy="292608"/>
          </a:xfrm>
          <a:prstGeom prst="rect">
            <a:avLst/>
          </a:prstGeom>
          <a:noFill/>
          <a:ln/>
        </p:spPr>
        <p:txBody>
          <a:bodyPr wrap="square" lIns="0" tIns="0" rIns="0" bIns="0" rtlCol="0" anchor="t"/>
          <a:lstStyle/>
          <a:p>
            <a:pPr marL="0" indent="0">
              <a:buNone/>
            </a:pPr>
            <a:r>
              <a:rPr lang="en-US" sz="1700" b="1" dirty="0">
                <a:solidFill>
                  <a:schemeClr val="tx1"/>
                </a:solidFill>
              </a:rPr>
              <a:t>Ravi</a:t>
            </a:r>
            <a:r>
              <a:rPr lang="en-US" sz="1200" dirty="0">
                <a:solidFill>
                  <a:schemeClr val="accent6"/>
                </a:solidFill>
              </a:rPr>
              <a:t>   Compliance lead, QuickLoan</a:t>
            </a:r>
            <a:endParaRPr lang="en-US" sz="1400" dirty="0"/>
          </a:p>
        </p:txBody>
      </p:sp>
      <p:sp>
        <p:nvSpPr>
          <p:cNvPr id="13" name="Text 9"/>
          <p:cNvSpPr txBox="1"/>
          <p:nvPr/>
        </p:nvSpPr>
        <p:spPr>
          <a:xfrm>
            <a:off x="1600200" y="3703320"/>
            <a:ext cx="4480560" cy="731520"/>
          </a:xfrm>
          <a:prstGeom prst="rect">
            <a:avLst/>
          </a:prstGeom>
          <a:noFill/>
          <a:ln/>
        </p:spPr>
        <p:txBody>
          <a:bodyPr wrap="square" lIns="0" tIns="0" rIns="0" bIns="0" rtlCol="0" anchor="t"/>
          <a:lstStyle/>
          <a:p>
            <a:pPr marL="0" indent="0">
              <a:buNone/>
            </a:pPr>
            <a:r>
              <a:rPr lang="en-US" sz="1400" dirty="0">
                <a:solidFill>
                  <a:schemeClr val="tx1"/>
                </a:solidFill>
              </a:rPr>
              <a:t>Must show notice was given and consent obtained, but consent sits in the company’s own database.</a:t>
            </a:r>
            <a:endParaRPr lang="en-US" sz="1400" dirty="0"/>
          </a:p>
        </p:txBody>
      </p:sp>
      <p:sp>
        <p:nvSpPr>
          <p:cNvPr id="14" name="Persona card"/>
          <p:cNvSpPr/>
          <p:nvPr/>
        </p:nvSpPr>
        <p:spPr>
          <a:xfrm>
            <a:off x="548640" y="4709160"/>
            <a:ext cx="5943600" cy="1325880"/>
          </a:xfrm>
          <a:prstGeom prst="roundRect">
            <a:avLst>
              <a:gd name="adj" fmla="val 8276"/>
            </a:avLst>
          </a:prstGeom>
          <a:solidFill>
            <a:schemeClr val="bg1"/>
          </a:solidFill>
          <a:ln/>
          <a:effectLst>
            <a:outerShdw blurRad="127000" dist="25400" dir="5400000" algn="bl" rotWithShape="0">
              <a:srgbClr val="0B1B2E">
                <a:alpha val="10000"/>
              </a:srgbClr>
            </a:outerShdw>
          </a:effectLst>
        </p:spPr>
      </p:sp>
      <p:sp>
        <p:nvSpPr>
          <p:cNvPr id="15" name="Icon circle"/>
          <p:cNvSpPr/>
          <p:nvPr/>
        </p:nvSpPr>
        <p:spPr>
          <a:xfrm>
            <a:off x="777240" y="4983480"/>
            <a:ext cx="777240" cy="777240"/>
          </a:xfrm>
          <a:prstGeom prst="ellipse">
            <a:avLst/>
          </a:prstGeom>
          <a:solidFill>
            <a:srgbClr val="6D4FD0"/>
          </a:solidFill>
          <a:ln/>
        </p:spPr>
      </p:sp>
      <p:pic>
        <p:nvPicPr>
          <p:cNvPr id="16" name="Image 2" descr="BalanceScale icon"/>
          <p:cNvPicPr>
            <a:picLocks noChangeAspect="1"/>
          </p:cNvPicPr>
          <p:nvPr/>
        </p:nvPicPr>
        <p:blipFill>
          <a:blip r:embed="rId5"/>
          <a:stretch>
            <a:fillRect/>
          </a:stretch>
        </p:blipFill>
        <p:spPr>
          <a:xfrm>
            <a:off x="979322" y="5185562"/>
            <a:ext cx="373075" cy="373075"/>
          </a:xfrm>
          <a:prstGeom prst="rect">
            <a:avLst/>
          </a:prstGeom>
        </p:spPr>
      </p:pic>
      <p:sp>
        <p:nvSpPr>
          <p:cNvPr id="17" name="Text 12"/>
          <p:cNvSpPr txBox="1"/>
          <p:nvPr/>
        </p:nvSpPr>
        <p:spPr>
          <a:xfrm>
            <a:off x="1600200" y="4864608"/>
            <a:ext cx="4480560" cy="292608"/>
          </a:xfrm>
          <a:prstGeom prst="rect">
            <a:avLst/>
          </a:prstGeom>
          <a:noFill/>
          <a:ln/>
        </p:spPr>
        <p:txBody>
          <a:bodyPr wrap="square" lIns="0" tIns="0" rIns="0" bIns="0" rtlCol="0" anchor="t"/>
          <a:lstStyle/>
          <a:p>
            <a:pPr marL="0" indent="0">
              <a:buNone/>
            </a:pPr>
            <a:r>
              <a:rPr lang="en-US" sz="1700" b="1" dirty="0">
                <a:solidFill>
                  <a:schemeClr val="tx1"/>
                </a:solidFill>
              </a:rPr>
              <a:t>Meera</a:t>
            </a:r>
            <a:r>
              <a:rPr lang="en-US" sz="1200" dirty="0">
                <a:solidFill>
                  <a:schemeClr val="accent6"/>
                </a:solidFill>
              </a:rPr>
              <a:t>   Regulator auditor</a:t>
            </a:r>
            <a:endParaRPr lang="en-US" sz="1400" dirty="0"/>
          </a:p>
        </p:txBody>
      </p:sp>
      <p:sp>
        <p:nvSpPr>
          <p:cNvPr id="18" name="Text 13"/>
          <p:cNvSpPr txBox="1"/>
          <p:nvPr/>
        </p:nvSpPr>
        <p:spPr>
          <a:xfrm>
            <a:off x="1600200" y="5212080"/>
            <a:ext cx="4480560" cy="731520"/>
          </a:xfrm>
          <a:prstGeom prst="rect">
            <a:avLst/>
          </a:prstGeom>
          <a:noFill/>
          <a:ln/>
        </p:spPr>
        <p:txBody>
          <a:bodyPr wrap="square" lIns="0" tIns="0" rIns="0" bIns="0" rtlCol="0" anchor="t"/>
          <a:lstStyle/>
          <a:p>
            <a:pPr marL="0" indent="0">
              <a:buNone/>
            </a:pPr>
            <a:r>
              <a:rPr lang="en-US" sz="1400" dirty="0">
                <a:solidFill>
                  <a:schemeClr val="tx1"/>
                </a:solidFill>
              </a:rPr>
              <a:t>Has to trust the audited company’s own logs. No independent way to catch an edited record.</a:t>
            </a:r>
            <a:endParaRPr lang="en-US" sz="1400" dirty="0"/>
          </a:p>
        </p:txBody>
      </p:sp>
      <p:sp>
        <p:nvSpPr>
          <p:cNvPr id="19" name="Stat card"/>
          <p:cNvSpPr/>
          <p:nvPr/>
        </p:nvSpPr>
        <p:spPr>
          <a:xfrm>
            <a:off x="6766560" y="1691640"/>
            <a:ext cx="4876495" cy="1325880"/>
          </a:xfrm>
          <a:prstGeom prst="roundRect">
            <a:avLst>
              <a:gd name="adj" fmla="val 8276"/>
            </a:avLst>
          </a:prstGeom>
          <a:solidFill>
            <a:schemeClr val="bg1"/>
          </a:solidFill>
          <a:ln/>
          <a:effectLst>
            <a:outerShdw blurRad="127000" dist="25400" dir="5400000" algn="bl" rotWithShape="0">
              <a:srgbClr val="0B1B2E">
                <a:alpha val="10000"/>
              </a:srgbClr>
            </a:outerShdw>
          </a:effectLst>
        </p:spPr>
      </p:sp>
      <p:sp>
        <p:nvSpPr>
          <p:cNvPr id="20" name="Text 15"/>
          <p:cNvSpPr txBox="1"/>
          <p:nvPr/>
        </p:nvSpPr>
        <p:spPr>
          <a:xfrm>
            <a:off x="6967728" y="1874520"/>
            <a:ext cx="2286000" cy="960120"/>
          </a:xfrm>
          <a:prstGeom prst="rect">
            <a:avLst/>
          </a:prstGeom>
          <a:noFill/>
          <a:ln/>
        </p:spPr>
        <p:txBody>
          <a:bodyPr wrap="square" lIns="0" tIns="0" rIns="0" bIns="0" rtlCol="0" anchor="ctr"/>
          <a:lstStyle/>
          <a:p>
            <a:pPr marL="0" indent="0">
              <a:buNone/>
            </a:pPr>
            <a:r>
              <a:rPr lang="en-US" sz="3600" b="1" dirty="0">
                <a:solidFill>
                  <a:schemeClr val="accent4"/>
                </a:solidFill>
                <a:latin typeface="+mj-lt" pitchFamily="34" charset="0"/>
                <a:ea typeface="+mj-lt" pitchFamily="34" charset="-122"/>
                <a:cs typeface="+mj-lt" pitchFamily="34" charset="-120"/>
              </a:rPr>
              <a:t>₹250 Cr</a:t>
            </a:r>
            <a:endParaRPr lang="en-US" sz="3600" dirty="0"/>
          </a:p>
        </p:txBody>
      </p:sp>
      <p:sp>
        <p:nvSpPr>
          <p:cNvPr id="21" name="Text 16"/>
          <p:cNvSpPr txBox="1"/>
          <p:nvPr/>
        </p:nvSpPr>
        <p:spPr>
          <a:xfrm>
            <a:off x="9326880" y="1874520"/>
            <a:ext cx="2148840" cy="960120"/>
          </a:xfrm>
          <a:prstGeom prst="rect">
            <a:avLst/>
          </a:prstGeom>
          <a:noFill/>
          <a:ln/>
        </p:spPr>
        <p:txBody>
          <a:bodyPr wrap="square" lIns="0" tIns="0" rIns="0" bIns="0" rtlCol="0" anchor="ctr"/>
          <a:lstStyle/>
          <a:p>
            <a:pPr marL="0" indent="0">
              <a:buNone/>
            </a:pPr>
            <a:r>
              <a:rPr lang="en-US" sz="1300" dirty="0">
                <a:solidFill>
                  <a:schemeClr val="tx1"/>
                </a:solidFill>
              </a:rPr>
              <a:t>maximum penalty per instance for failing to safeguard personal data</a:t>
            </a:r>
            <a:endParaRPr lang="en-US" sz="1300" dirty="0"/>
          </a:p>
        </p:txBody>
      </p:sp>
      <p:sp>
        <p:nvSpPr>
          <p:cNvPr id="22" name="Stat card"/>
          <p:cNvSpPr/>
          <p:nvPr/>
        </p:nvSpPr>
        <p:spPr>
          <a:xfrm>
            <a:off x="6766560" y="3200400"/>
            <a:ext cx="4876495" cy="1325880"/>
          </a:xfrm>
          <a:prstGeom prst="roundRect">
            <a:avLst>
              <a:gd name="adj" fmla="val 8276"/>
            </a:avLst>
          </a:prstGeom>
          <a:solidFill>
            <a:schemeClr val="bg1"/>
          </a:solidFill>
          <a:ln/>
          <a:effectLst>
            <a:outerShdw blurRad="127000" dist="25400" dir="5400000" algn="bl" rotWithShape="0">
              <a:srgbClr val="0B1B2E">
                <a:alpha val="10000"/>
              </a:srgbClr>
            </a:outerShdw>
          </a:effectLst>
        </p:spPr>
      </p:sp>
      <p:sp>
        <p:nvSpPr>
          <p:cNvPr id="23" name="Text 18"/>
          <p:cNvSpPr txBox="1"/>
          <p:nvPr/>
        </p:nvSpPr>
        <p:spPr>
          <a:xfrm>
            <a:off x="6967728" y="3383280"/>
            <a:ext cx="2286000" cy="960120"/>
          </a:xfrm>
          <a:prstGeom prst="rect">
            <a:avLst/>
          </a:prstGeom>
          <a:noFill/>
          <a:ln/>
        </p:spPr>
        <p:txBody>
          <a:bodyPr wrap="square" lIns="0" tIns="0" rIns="0" bIns="0" rtlCol="0" anchor="ctr"/>
          <a:lstStyle/>
          <a:p>
            <a:pPr marL="0" indent="0">
              <a:buNone/>
            </a:pPr>
            <a:r>
              <a:rPr lang="en-US" sz="3600" b="1" dirty="0">
                <a:solidFill>
                  <a:schemeClr val="accent1"/>
                </a:solidFill>
                <a:latin typeface="+mj-lt" pitchFamily="34" charset="0"/>
                <a:ea typeface="+mj-lt" pitchFamily="34" charset="-122"/>
                <a:cs typeface="+mj-lt" pitchFamily="34" charset="-120"/>
              </a:rPr>
              <a:t>76 Cr+</a:t>
            </a:r>
            <a:endParaRPr lang="en-US" sz="3600" dirty="0"/>
          </a:p>
        </p:txBody>
      </p:sp>
      <p:sp>
        <p:nvSpPr>
          <p:cNvPr id="24" name="Text 19"/>
          <p:cNvSpPr txBox="1"/>
          <p:nvPr/>
        </p:nvSpPr>
        <p:spPr>
          <a:xfrm>
            <a:off x="9326880" y="3383280"/>
            <a:ext cx="2148840" cy="960120"/>
          </a:xfrm>
          <a:prstGeom prst="rect">
            <a:avLst/>
          </a:prstGeom>
          <a:noFill/>
          <a:ln/>
        </p:spPr>
        <p:txBody>
          <a:bodyPr wrap="square" lIns="0" tIns="0" rIns="0" bIns="0" rtlCol="0" anchor="ctr"/>
          <a:lstStyle/>
          <a:p>
            <a:pPr marL="0" indent="0">
              <a:buNone/>
            </a:pPr>
            <a:r>
              <a:rPr lang="en-US" sz="1300" dirty="0">
                <a:solidFill>
                  <a:schemeClr val="tx1"/>
                </a:solidFill>
              </a:rPr>
              <a:t>internet users in India (MeitY figure, 2023). Every one of them is asked for consent.</a:t>
            </a:r>
            <a:endParaRPr lang="en-US" sz="1300" dirty="0"/>
          </a:p>
        </p:txBody>
      </p:sp>
      <p:sp>
        <p:nvSpPr>
          <p:cNvPr id="25" name="Stat card"/>
          <p:cNvSpPr/>
          <p:nvPr/>
        </p:nvSpPr>
        <p:spPr>
          <a:xfrm>
            <a:off x="6766560" y="4709160"/>
            <a:ext cx="4876495" cy="1325880"/>
          </a:xfrm>
          <a:prstGeom prst="roundRect">
            <a:avLst>
              <a:gd name="adj" fmla="val 8276"/>
            </a:avLst>
          </a:prstGeom>
          <a:solidFill>
            <a:schemeClr val="bg1"/>
          </a:solidFill>
          <a:ln/>
          <a:effectLst>
            <a:outerShdw blurRad="127000" dist="25400" dir="5400000" algn="bl" rotWithShape="0">
              <a:srgbClr val="0B1B2E">
                <a:alpha val="10000"/>
              </a:srgbClr>
            </a:outerShdw>
          </a:effectLst>
        </p:spPr>
      </p:sp>
      <p:sp>
        <p:nvSpPr>
          <p:cNvPr id="26" name="Text 21"/>
          <p:cNvSpPr txBox="1"/>
          <p:nvPr/>
        </p:nvSpPr>
        <p:spPr>
          <a:xfrm>
            <a:off x="6967728" y="4892040"/>
            <a:ext cx="2286000" cy="960120"/>
          </a:xfrm>
          <a:prstGeom prst="rect">
            <a:avLst/>
          </a:prstGeom>
          <a:noFill/>
          <a:ln/>
        </p:spPr>
        <p:txBody>
          <a:bodyPr wrap="square" lIns="0" tIns="0" rIns="0" bIns="0" rtlCol="0" anchor="ctr"/>
          <a:lstStyle/>
          <a:p>
            <a:pPr marL="0" indent="0">
              <a:buNone/>
            </a:pPr>
            <a:r>
              <a:rPr lang="en-US" sz="3600" b="1" dirty="0">
                <a:solidFill>
                  <a:schemeClr val="accent3"/>
                </a:solidFill>
                <a:latin typeface="+mj-lt" pitchFamily="34" charset="0"/>
                <a:ea typeface="+mj-lt" pitchFamily="34" charset="-122"/>
                <a:cs typeface="+mj-lt" pitchFamily="34" charset="-120"/>
              </a:rPr>
              <a:t>May 2027</a:t>
            </a:r>
            <a:endParaRPr lang="en-US" sz="3600" dirty="0"/>
          </a:p>
        </p:txBody>
      </p:sp>
      <p:sp>
        <p:nvSpPr>
          <p:cNvPr id="27" name="Text 22"/>
          <p:cNvSpPr txBox="1"/>
          <p:nvPr/>
        </p:nvSpPr>
        <p:spPr>
          <a:xfrm>
            <a:off x="9326880" y="4892040"/>
            <a:ext cx="2148840" cy="960120"/>
          </a:xfrm>
          <a:prstGeom prst="rect">
            <a:avLst/>
          </a:prstGeom>
          <a:noFill/>
          <a:ln/>
        </p:spPr>
        <p:txBody>
          <a:bodyPr wrap="square" lIns="0" tIns="0" rIns="0" bIns="0" rtlCol="0" anchor="ctr"/>
          <a:lstStyle/>
          <a:p>
            <a:pPr marL="0" indent="0">
              <a:buNone/>
            </a:pPr>
            <a:r>
              <a:rPr lang="en-US" sz="1300" dirty="0">
                <a:solidFill>
                  <a:schemeClr val="tx1"/>
                </a:solidFill>
              </a:rPr>
              <a:t>end of the phased DPDP compliance window (13 May 2027)</a:t>
            </a:r>
            <a:endParaRPr lang="en-US" sz="1300" dirty="0"/>
          </a:p>
        </p:txBody>
      </p:sp>
      <p:sp>
        <p:nvSpPr>
          <p:cNvPr id="28" name="Text 23"/>
          <p:cNvSpPr txBox="1"/>
          <p:nvPr/>
        </p:nvSpPr>
        <p:spPr>
          <a:xfrm>
            <a:off x="548640" y="6144768"/>
            <a:ext cx="11094415" cy="237744"/>
          </a:xfrm>
          <a:prstGeom prst="rect">
            <a:avLst/>
          </a:prstGeom>
          <a:noFill/>
          <a:ln/>
        </p:spPr>
        <p:txBody>
          <a:bodyPr wrap="square" lIns="0" tIns="0" rIns="0" bIns="0" rtlCol="0" anchor="t"/>
          <a:lstStyle/>
          <a:p>
            <a:pPr marL="0" indent="0">
              <a:buNone/>
            </a:pPr>
            <a:r>
              <a:rPr lang="en-US" sz="1000" dirty="0">
                <a:solidFill>
                  <a:schemeClr val="accent6"/>
                </a:solidFill>
              </a:rPr>
              <a:t>Sources: DPDP Act 2023, Schedule (penalties); MeitY user figure as reported by Water &amp; Shark (Nov 2023); DPDP Rules notified 13 Nov 2025.</a:t>
            </a:r>
            <a:endParaRPr lang="en-US" sz="1000" dirty="0"/>
          </a:p>
        </p:txBody>
      </p:sp>
      <p:sp>
        <p:nvSpPr>
          <p:cNvPr id="29" name="Slide Number Placeholder 0"/>
          <p:cNvSpPr>
            <a:spLocks noGrp="1"/>
          </p:cNvSpPr>
          <p:nvPr>
            <p:ph type="sldNum" sz="quarter" idx="4294967295"/>
          </p:nvPr>
        </p:nvSpPr>
        <p:spPr>
          <a:xfrm>
            <a:off x="10881360" y="6455664"/>
            <a:ext cx="758952" cy="237744"/>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marL="0" indent="0">
              <a:buNone/>
            </a:pPr>
            <a:r>
              <a:rPr lang="en-US" sz="1200" b="1" kern="0" spc="300" dirty="0">
                <a:solidFill>
                  <a:schemeClr val="accent1"/>
                </a:solidFill>
              </a:rPr>
              <a:t>02  |  EXISTING SOLUTIONS AND THE GAP</a:t>
            </a:r>
            <a:endParaRPr lang="en-US" sz="1200" dirty="0"/>
          </a:p>
        </p:txBody>
      </p:sp>
      <p:sp>
        <p:nvSpPr>
          <p:cNvPr id="3" name="Text 1"/>
          <p:cNvSpPr>
            <a:spLocks noGrp="1"/>
          </p:cNvSpPr>
          <p:nvPr>
            <p:ph type="title" idx="101" hasCustomPrompt="1"/>
          </p:nvPr>
        </p:nvSpPr>
        <p:spPr>
          <a:xfrm>
            <a:off x="548640" y="658368"/>
            <a:ext cx="11094415" cy="731520"/>
          </a:xfrm>
          <a:prstGeom prst="rect">
            <a:avLst/>
          </a:prstGeom>
          <a:noFill/>
          <a:ln/>
        </p:spPr>
        <p:txBody>
          <a:bodyPr wrap="square" lIns="0" tIns="0" rIns="0" bIns="0" rtlCol="0" anchor="ctr"/>
          <a:lstStyle/>
          <a:p>
            <a:pPr marL="0" indent="0" algn="l">
              <a:buNone/>
            </a:pPr>
            <a:r>
              <a:rPr lang="en-US" sz="3200" b="1" dirty="0">
                <a:solidFill>
                  <a:schemeClr val="tx1"/>
                </a:solidFill>
              </a:rPr>
              <a:t>Existing approaches leave one gap open</a:t>
            </a:r>
            <a:endParaRPr lang="en-US" sz="3200" dirty="0"/>
          </a:p>
        </p:txBody>
      </p:sp>
      <p:sp>
        <p:nvSpPr>
          <p:cNvPr id="4" name="Existing approach card"/>
          <p:cNvSpPr/>
          <p:nvPr/>
        </p:nvSpPr>
        <p:spPr>
          <a:xfrm>
            <a:off x="548640" y="1691640"/>
            <a:ext cx="7223760" cy="1325880"/>
          </a:xfrm>
          <a:prstGeom prst="roundRect">
            <a:avLst>
              <a:gd name="adj" fmla="val 8276"/>
            </a:avLst>
          </a:prstGeom>
          <a:solidFill>
            <a:schemeClr val="bg1"/>
          </a:solidFill>
          <a:ln/>
          <a:effectLst>
            <a:outerShdw blurRad="127000" dist="25400" dir="5400000" algn="bl" rotWithShape="0">
              <a:srgbClr val="0B1B2E">
                <a:alpha val="10000"/>
              </a:srgbClr>
            </a:outerShdw>
          </a:effectLst>
        </p:spPr>
      </p:sp>
      <p:sp>
        <p:nvSpPr>
          <p:cNvPr id="5" name="Icon circle"/>
          <p:cNvSpPr/>
          <p:nvPr/>
        </p:nvSpPr>
        <p:spPr>
          <a:xfrm>
            <a:off x="777240" y="1965960"/>
            <a:ext cx="777240" cy="777240"/>
          </a:xfrm>
          <a:prstGeom prst="ellipse">
            <a:avLst/>
          </a:prstGeom>
          <a:solidFill>
            <a:srgbClr val="FBE3E5"/>
          </a:solidFill>
          <a:ln/>
        </p:spPr>
      </p:sp>
      <p:pic>
        <p:nvPicPr>
          <p:cNvPr id="6" name="Image 0" descr="CookieBite icon"/>
          <p:cNvPicPr>
            <a:picLocks noChangeAspect="1"/>
          </p:cNvPicPr>
          <p:nvPr/>
        </p:nvPicPr>
        <p:blipFill>
          <a:blip r:embed="rId3"/>
          <a:stretch>
            <a:fillRect/>
          </a:stretch>
        </p:blipFill>
        <p:spPr>
          <a:xfrm>
            <a:off x="979322" y="2168042"/>
            <a:ext cx="373075" cy="373075"/>
          </a:xfrm>
          <a:prstGeom prst="rect">
            <a:avLst/>
          </a:prstGeom>
        </p:spPr>
      </p:pic>
      <p:sp>
        <p:nvSpPr>
          <p:cNvPr id="7" name="Text 4"/>
          <p:cNvSpPr txBox="1"/>
          <p:nvPr/>
        </p:nvSpPr>
        <p:spPr>
          <a:xfrm>
            <a:off x="1783080" y="1847088"/>
            <a:ext cx="5760720" cy="292608"/>
          </a:xfrm>
          <a:prstGeom prst="rect">
            <a:avLst/>
          </a:prstGeom>
          <a:noFill/>
          <a:ln/>
        </p:spPr>
        <p:txBody>
          <a:bodyPr wrap="square" lIns="0" tIns="0" rIns="0" bIns="0" rtlCol="0" anchor="t"/>
          <a:lstStyle/>
          <a:p>
            <a:pPr marL="0" indent="0">
              <a:buNone/>
            </a:pPr>
            <a:r>
              <a:rPr lang="en-US" sz="1700" b="1" dirty="0">
                <a:solidFill>
                  <a:schemeClr val="tx1"/>
                </a:solidFill>
              </a:rPr>
              <a:t>Cookie banners and “I agree” boxes</a:t>
            </a:r>
            <a:endParaRPr lang="en-US" sz="1700" dirty="0"/>
          </a:p>
        </p:txBody>
      </p:sp>
      <p:sp>
        <p:nvSpPr>
          <p:cNvPr id="8" name="Text 5"/>
          <p:cNvSpPr txBox="1"/>
          <p:nvPr/>
        </p:nvSpPr>
        <p:spPr>
          <a:xfrm>
            <a:off x="1783080" y="2194560"/>
            <a:ext cx="5760720" cy="731520"/>
          </a:xfrm>
          <a:prstGeom prst="rect">
            <a:avLst/>
          </a:prstGeom>
          <a:noFill/>
          <a:ln/>
        </p:spPr>
        <p:txBody>
          <a:bodyPr wrap="square" lIns="0" tIns="0" rIns="0" bIns="0" rtlCol="0" anchor="t"/>
          <a:lstStyle/>
          <a:p>
            <a:pPr marL="0" indent="0">
              <a:buNone/>
            </a:pPr>
            <a:r>
              <a:rPr lang="en-US" sz="1400" b="1" dirty="0">
                <a:solidFill>
                  <a:schemeClr val="accent4"/>
                </a:solidFill>
              </a:rPr>
              <a:t>Falls short: </a:t>
            </a:r>
            <a:r>
              <a:rPr lang="en-US" sz="1400" dirty="0">
                <a:solidFill>
                  <a:schemeClr val="tx1"/>
                </a:solidFill>
              </a:rPr>
              <a:t>One bundled click, stored on the company’s own server. No choice per purpose and no proof the user can check.</a:t>
            </a:r>
            <a:endParaRPr lang="en-US" sz="1400" dirty="0"/>
          </a:p>
        </p:txBody>
      </p:sp>
      <p:sp>
        <p:nvSpPr>
          <p:cNvPr id="9" name="Existing approach card"/>
          <p:cNvSpPr/>
          <p:nvPr/>
        </p:nvSpPr>
        <p:spPr>
          <a:xfrm>
            <a:off x="548640" y="3200400"/>
            <a:ext cx="7223760" cy="1325880"/>
          </a:xfrm>
          <a:prstGeom prst="roundRect">
            <a:avLst>
              <a:gd name="adj" fmla="val 8276"/>
            </a:avLst>
          </a:prstGeom>
          <a:solidFill>
            <a:schemeClr val="bg1"/>
          </a:solidFill>
          <a:ln/>
          <a:effectLst>
            <a:outerShdw blurRad="127000" dist="25400" dir="5400000" algn="bl" rotWithShape="0">
              <a:srgbClr val="0B1B2E">
                <a:alpha val="10000"/>
              </a:srgbClr>
            </a:outerShdw>
          </a:effectLst>
        </p:spPr>
      </p:sp>
      <p:sp>
        <p:nvSpPr>
          <p:cNvPr id="10" name="Icon circle"/>
          <p:cNvSpPr/>
          <p:nvPr/>
        </p:nvSpPr>
        <p:spPr>
          <a:xfrm>
            <a:off x="777240" y="3474720"/>
            <a:ext cx="777240" cy="777240"/>
          </a:xfrm>
          <a:prstGeom prst="ellipse">
            <a:avLst/>
          </a:prstGeom>
          <a:solidFill>
            <a:srgbClr val="FBE3E5"/>
          </a:solidFill>
          <a:ln/>
        </p:spPr>
      </p:sp>
      <p:pic>
        <p:nvPicPr>
          <p:cNvPr id="11" name="Image 1" descr="Database icon"/>
          <p:cNvPicPr>
            <a:picLocks noChangeAspect="1"/>
          </p:cNvPicPr>
          <p:nvPr/>
        </p:nvPicPr>
        <p:blipFill>
          <a:blip r:embed="rId4"/>
          <a:stretch>
            <a:fillRect/>
          </a:stretch>
        </p:blipFill>
        <p:spPr>
          <a:xfrm>
            <a:off x="979322" y="3676802"/>
            <a:ext cx="373075" cy="373075"/>
          </a:xfrm>
          <a:prstGeom prst="rect">
            <a:avLst/>
          </a:prstGeom>
        </p:spPr>
      </p:pic>
      <p:sp>
        <p:nvSpPr>
          <p:cNvPr id="12" name="Text 8"/>
          <p:cNvSpPr txBox="1"/>
          <p:nvPr/>
        </p:nvSpPr>
        <p:spPr>
          <a:xfrm>
            <a:off x="1783080" y="3355848"/>
            <a:ext cx="5760720" cy="292608"/>
          </a:xfrm>
          <a:prstGeom prst="rect">
            <a:avLst/>
          </a:prstGeom>
          <a:noFill/>
          <a:ln/>
        </p:spPr>
        <p:txBody>
          <a:bodyPr wrap="square" lIns="0" tIns="0" rIns="0" bIns="0" rtlCol="0" anchor="t"/>
          <a:lstStyle/>
          <a:p>
            <a:pPr marL="0" indent="0">
              <a:buNone/>
            </a:pPr>
            <a:r>
              <a:rPr lang="en-US" sz="1700" b="1" dirty="0">
                <a:solidFill>
                  <a:schemeClr val="tx1"/>
                </a:solidFill>
              </a:rPr>
              <a:t>Consent records in company databases</a:t>
            </a:r>
            <a:endParaRPr lang="en-US" sz="1700" dirty="0"/>
          </a:p>
        </p:txBody>
      </p:sp>
      <p:sp>
        <p:nvSpPr>
          <p:cNvPr id="13" name="Text 9"/>
          <p:cNvSpPr txBox="1"/>
          <p:nvPr/>
        </p:nvSpPr>
        <p:spPr>
          <a:xfrm>
            <a:off x="1783080" y="3703320"/>
            <a:ext cx="5760720" cy="731520"/>
          </a:xfrm>
          <a:prstGeom prst="rect">
            <a:avLst/>
          </a:prstGeom>
          <a:noFill/>
          <a:ln/>
        </p:spPr>
        <p:txBody>
          <a:bodyPr wrap="square" lIns="0" tIns="0" rIns="0" bIns="0" rtlCol="0" anchor="t"/>
          <a:lstStyle/>
          <a:p>
            <a:pPr marL="0" indent="0">
              <a:buNone/>
            </a:pPr>
            <a:r>
              <a:rPr lang="en-US" sz="1400" b="1" dirty="0">
                <a:solidFill>
                  <a:schemeClr val="accent4"/>
                </a:solidFill>
              </a:rPr>
              <a:t>Falls short: </a:t>
            </a:r>
            <a:r>
              <a:rPr lang="en-US" sz="1400" dirty="0">
                <a:solidFill>
                  <a:schemeClr val="tx1"/>
                </a:solidFill>
              </a:rPr>
              <a:t>The audited party holds the evidence and can edit it. A withdrawal rarely reaches downstream processors.</a:t>
            </a:r>
            <a:endParaRPr lang="en-US" sz="1400" dirty="0"/>
          </a:p>
        </p:txBody>
      </p:sp>
      <p:sp>
        <p:nvSpPr>
          <p:cNvPr id="14" name="Existing approach card"/>
          <p:cNvSpPr/>
          <p:nvPr/>
        </p:nvSpPr>
        <p:spPr>
          <a:xfrm>
            <a:off x="548640" y="4709160"/>
            <a:ext cx="7223760" cy="1325880"/>
          </a:xfrm>
          <a:prstGeom prst="roundRect">
            <a:avLst>
              <a:gd name="adj" fmla="val 8276"/>
            </a:avLst>
          </a:prstGeom>
          <a:solidFill>
            <a:schemeClr val="bg1"/>
          </a:solidFill>
          <a:ln/>
          <a:effectLst>
            <a:outerShdw blurRad="127000" dist="25400" dir="5400000" algn="bl" rotWithShape="0">
              <a:srgbClr val="0B1B2E">
                <a:alpha val="10000"/>
              </a:srgbClr>
            </a:outerShdw>
          </a:effectLst>
        </p:spPr>
      </p:sp>
      <p:sp>
        <p:nvSpPr>
          <p:cNvPr id="15" name="Icon circle"/>
          <p:cNvSpPr/>
          <p:nvPr/>
        </p:nvSpPr>
        <p:spPr>
          <a:xfrm>
            <a:off x="777240" y="4983480"/>
            <a:ext cx="777240" cy="777240"/>
          </a:xfrm>
          <a:prstGeom prst="ellipse">
            <a:avLst/>
          </a:prstGeom>
          <a:solidFill>
            <a:srgbClr val="FBE3E5"/>
          </a:solidFill>
          <a:ln/>
        </p:spPr>
      </p:sp>
      <p:pic>
        <p:nvPicPr>
          <p:cNvPr id="16" name="Image 2" descr="FileAlt icon"/>
          <p:cNvPicPr>
            <a:picLocks noChangeAspect="1"/>
          </p:cNvPicPr>
          <p:nvPr/>
        </p:nvPicPr>
        <p:blipFill>
          <a:blip r:embed="rId5"/>
          <a:stretch>
            <a:fillRect/>
          </a:stretch>
        </p:blipFill>
        <p:spPr>
          <a:xfrm>
            <a:off x="979322" y="5185562"/>
            <a:ext cx="373075" cy="373075"/>
          </a:xfrm>
          <a:prstGeom prst="rect">
            <a:avLst/>
          </a:prstGeom>
        </p:spPr>
      </p:pic>
      <p:sp>
        <p:nvSpPr>
          <p:cNvPr id="17" name="Text 12"/>
          <p:cNvSpPr txBox="1"/>
          <p:nvPr/>
        </p:nvSpPr>
        <p:spPr>
          <a:xfrm>
            <a:off x="1783080" y="4864608"/>
            <a:ext cx="5760720" cy="292608"/>
          </a:xfrm>
          <a:prstGeom prst="rect">
            <a:avLst/>
          </a:prstGeom>
          <a:noFill/>
          <a:ln/>
        </p:spPr>
        <p:txBody>
          <a:bodyPr wrap="square" lIns="0" tIns="0" rIns="0" bIns="0" rtlCol="0" anchor="t"/>
          <a:lstStyle/>
          <a:p>
            <a:pPr marL="0" indent="0">
              <a:buNone/>
            </a:pPr>
            <a:r>
              <a:rPr lang="en-US" sz="1700" b="1" dirty="0">
                <a:solidFill>
                  <a:schemeClr val="tx1"/>
                </a:solidFill>
              </a:rPr>
              <a:t>Self-reported logs and audits</a:t>
            </a:r>
            <a:endParaRPr lang="en-US" sz="1700" dirty="0"/>
          </a:p>
        </p:txBody>
      </p:sp>
      <p:sp>
        <p:nvSpPr>
          <p:cNvPr id="18" name="Text 13"/>
          <p:cNvSpPr txBox="1"/>
          <p:nvPr/>
        </p:nvSpPr>
        <p:spPr>
          <a:xfrm>
            <a:off x="1783080" y="5212080"/>
            <a:ext cx="5760720" cy="731520"/>
          </a:xfrm>
          <a:prstGeom prst="rect">
            <a:avLst/>
          </a:prstGeom>
          <a:noFill/>
          <a:ln/>
        </p:spPr>
        <p:txBody>
          <a:bodyPr wrap="square" lIns="0" tIns="0" rIns="0" bIns="0" rtlCol="0" anchor="t"/>
          <a:lstStyle/>
          <a:p>
            <a:pPr marL="0" indent="0">
              <a:buNone/>
            </a:pPr>
            <a:r>
              <a:rPr lang="en-US" sz="1400" b="1" dirty="0">
                <a:solidFill>
                  <a:schemeClr val="accent4"/>
                </a:solidFill>
              </a:rPr>
              <a:t>Falls short: </a:t>
            </a:r>
            <a:r>
              <a:rPr lang="en-US" sz="1400" dirty="0">
                <a:solidFill>
                  <a:schemeClr val="tx1"/>
                </a:solidFill>
              </a:rPr>
              <a:t>Regulators must trust logs produced by the company they audit. A quietly edited record stays invisible.</a:t>
            </a:r>
            <a:endParaRPr lang="en-US" sz="1400" dirty="0"/>
          </a:p>
        </p:txBody>
      </p:sp>
      <p:sp>
        <p:nvSpPr>
          <p:cNvPr id="19" name="Gap card"/>
          <p:cNvSpPr/>
          <p:nvPr/>
        </p:nvSpPr>
        <p:spPr>
          <a:xfrm>
            <a:off x="8046720" y="1691640"/>
            <a:ext cx="3596335" cy="4343400"/>
          </a:xfrm>
          <a:prstGeom prst="roundRect">
            <a:avLst>
              <a:gd name="adj" fmla="val 3560"/>
            </a:avLst>
          </a:prstGeom>
          <a:solidFill>
            <a:schemeClr val="tx1"/>
          </a:solidFill>
          <a:ln/>
          <a:effectLst>
            <a:outerShdw blurRad="127000" dist="25400" dir="5400000" algn="bl" rotWithShape="0">
              <a:srgbClr val="0B1B2E">
                <a:alpha val="10000"/>
              </a:srgbClr>
            </a:outerShdw>
          </a:effectLst>
        </p:spPr>
      </p:sp>
      <p:sp>
        <p:nvSpPr>
          <p:cNvPr id="20" name="Text 15"/>
          <p:cNvSpPr txBox="1"/>
          <p:nvPr/>
        </p:nvSpPr>
        <p:spPr>
          <a:xfrm>
            <a:off x="8321040" y="1920240"/>
            <a:ext cx="3017520" cy="274320"/>
          </a:xfrm>
          <a:prstGeom prst="rect">
            <a:avLst/>
          </a:prstGeom>
          <a:noFill/>
          <a:ln/>
        </p:spPr>
        <p:txBody>
          <a:bodyPr wrap="square" lIns="0" tIns="0" rIns="0" bIns="0" rtlCol="0" anchor="t"/>
          <a:lstStyle/>
          <a:p>
            <a:pPr marL="0" indent="0">
              <a:buNone/>
            </a:pPr>
            <a:r>
              <a:rPr lang="en-US" sz="1200" b="1" kern="0" spc="300" dirty="0">
                <a:solidFill>
                  <a:schemeClr val="accent2"/>
                </a:solidFill>
              </a:rPr>
              <a:t>THE GAP</a:t>
            </a:r>
            <a:endParaRPr lang="en-US" sz="1200" dirty="0"/>
          </a:p>
        </p:txBody>
      </p:sp>
      <p:sp>
        <p:nvSpPr>
          <p:cNvPr id="21" name="Text 16"/>
          <p:cNvSpPr txBox="1"/>
          <p:nvPr/>
        </p:nvSpPr>
        <p:spPr>
          <a:xfrm>
            <a:off x="8321040" y="2240280"/>
            <a:ext cx="3108960" cy="640080"/>
          </a:xfrm>
          <a:prstGeom prst="rect">
            <a:avLst/>
          </a:prstGeom>
          <a:noFill/>
          <a:ln/>
        </p:spPr>
        <p:txBody>
          <a:bodyPr wrap="square" lIns="0" tIns="0" rIns="0" bIns="0" rtlCol="0" anchor="t"/>
          <a:lstStyle/>
          <a:p>
            <a:pPr marL="0" indent="0">
              <a:buNone/>
            </a:pPr>
            <a:r>
              <a:rPr lang="en-US" sz="2000" b="1" dirty="0">
                <a:solidFill>
                  <a:schemeClr val="bg1"/>
                </a:solidFill>
              </a:rPr>
              <a:t>Consent that is:</a:t>
            </a:r>
            <a:endParaRPr lang="en-US" sz="2000" dirty="0"/>
          </a:p>
        </p:txBody>
      </p:sp>
      <p:sp>
        <p:nvSpPr>
          <p:cNvPr id="22" name="Number badge"/>
          <p:cNvSpPr/>
          <p:nvPr/>
        </p:nvSpPr>
        <p:spPr>
          <a:xfrm>
            <a:off x="8321040" y="3063240"/>
            <a:ext cx="420624" cy="420624"/>
          </a:xfrm>
          <a:prstGeom prst="ellipse">
            <a:avLst/>
          </a:prstGeom>
          <a:solidFill>
            <a:schemeClr val="accent2"/>
          </a:solidFill>
          <a:ln/>
        </p:spPr>
      </p:sp>
      <p:sp>
        <p:nvSpPr>
          <p:cNvPr id="23" name="Text 18"/>
          <p:cNvSpPr txBox="1"/>
          <p:nvPr/>
        </p:nvSpPr>
        <p:spPr>
          <a:xfrm>
            <a:off x="8321040" y="3063240"/>
            <a:ext cx="420624" cy="420624"/>
          </a:xfrm>
          <a:prstGeom prst="rect">
            <a:avLst/>
          </a:prstGeom>
          <a:noFill/>
          <a:ln/>
        </p:spPr>
        <p:txBody>
          <a:bodyPr wrap="square" lIns="0" tIns="0" rIns="0" bIns="0" rtlCol="0" anchor="ctr"/>
          <a:lstStyle/>
          <a:p>
            <a:pPr marL="0" indent="0" algn="ctr">
              <a:buNone/>
            </a:pPr>
            <a:r>
              <a:rPr lang="en-US" sz="1500" b="1" dirty="0">
                <a:solidFill>
                  <a:schemeClr val="tx1"/>
                </a:solidFill>
              </a:rPr>
              <a:t>1</a:t>
            </a:r>
            <a:endParaRPr lang="en-US" sz="1500" dirty="0"/>
          </a:p>
        </p:txBody>
      </p:sp>
      <p:sp>
        <p:nvSpPr>
          <p:cNvPr id="24" name="Text 19"/>
          <p:cNvSpPr txBox="1"/>
          <p:nvPr/>
        </p:nvSpPr>
        <p:spPr>
          <a:xfrm>
            <a:off x="8915400" y="3026664"/>
            <a:ext cx="2514600" cy="685800"/>
          </a:xfrm>
          <a:prstGeom prst="rect">
            <a:avLst/>
          </a:prstGeom>
          <a:noFill/>
          <a:ln/>
        </p:spPr>
        <p:txBody>
          <a:bodyPr wrap="square" lIns="0" tIns="0" rIns="0" bIns="0" rtlCol="0" anchor="t"/>
          <a:lstStyle/>
          <a:p>
            <a:pPr marL="0" indent="0">
              <a:buNone/>
            </a:pPr>
            <a:r>
              <a:rPr lang="en-US" sz="1400" dirty="0">
                <a:solidFill>
                  <a:schemeClr val="bg1"/>
                </a:solidFill>
              </a:rPr>
              <a:t>Signed by the user, not clicked on a server</a:t>
            </a:r>
            <a:endParaRPr lang="en-US" sz="1400" dirty="0"/>
          </a:p>
        </p:txBody>
      </p:sp>
      <p:sp>
        <p:nvSpPr>
          <p:cNvPr id="25" name="Number badge"/>
          <p:cNvSpPr/>
          <p:nvPr/>
        </p:nvSpPr>
        <p:spPr>
          <a:xfrm>
            <a:off x="8321040" y="3931920"/>
            <a:ext cx="420624" cy="420624"/>
          </a:xfrm>
          <a:prstGeom prst="ellipse">
            <a:avLst/>
          </a:prstGeom>
          <a:solidFill>
            <a:schemeClr val="accent2"/>
          </a:solidFill>
          <a:ln/>
        </p:spPr>
      </p:sp>
      <p:sp>
        <p:nvSpPr>
          <p:cNvPr id="26" name="Text 21"/>
          <p:cNvSpPr txBox="1"/>
          <p:nvPr/>
        </p:nvSpPr>
        <p:spPr>
          <a:xfrm>
            <a:off x="8321040" y="3931920"/>
            <a:ext cx="420624" cy="420624"/>
          </a:xfrm>
          <a:prstGeom prst="rect">
            <a:avLst/>
          </a:prstGeom>
          <a:noFill/>
          <a:ln/>
        </p:spPr>
        <p:txBody>
          <a:bodyPr wrap="square" lIns="0" tIns="0" rIns="0" bIns="0" rtlCol="0" anchor="ctr"/>
          <a:lstStyle/>
          <a:p>
            <a:pPr marL="0" indent="0" algn="ctr">
              <a:buNone/>
            </a:pPr>
            <a:r>
              <a:rPr lang="en-US" sz="1500" b="1" dirty="0">
                <a:solidFill>
                  <a:schemeClr val="tx1"/>
                </a:solidFill>
              </a:rPr>
              <a:t>2</a:t>
            </a:r>
            <a:endParaRPr lang="en-US" sz="1500" dirty="0"/>
          </a:p>
        </p:txBody>
      </p:sp>
      <p:sp>
        <p:nvSpPr>
          <p:cNvPr id="27" name="Text 22"/>
          <p:cNvSpPr txBox="1"/>
          <p:nvPr/>
        </p:nvSpPr>
        <p:spPr>
          <a:xfrm>
            <a:off x="8915400" y="3895344"/>
            <a:ext cx="2514600" cy="685800"/>
          </a:xfrm>
          <a:prstGeom prst="rect">
            <a:avLst/>
          </a:prstGeom>
          <a:noFill/>
          <a:ln/>
        </p:spPr>
        <p:txBody>
          <a:bodyPr wrap="square" lIns="0" tIns="0" rIns="0" bIns="0" rtlCol="0" anchor="t"/>
          <a:lstStyle/>
          <a:p>
            <a:pPr marL="0" indent="0">
              <a:buNone/>
            </a:pPr>
            <a:r>
              <a:rPr lang="en-US" sz="1400" dirty="0">
                <a:solidFill>
                  <a:schemeClr val="bg1"/>
                </a:solidFill>
              </a:rPr>
              <a:t>Enforced at request time, not just logged</a:t>
            </a:r>
            <a:endParaRPr lang="en-US" sz="1400" dirty="0"/>
          </a:p>
        </p:txBody>
      </p:sp>
      <p:sp>
        <p:nvSpPr>
          <p:cNvPr id="28" name="Number badge"/>
          <p:cNvSpPr/>
          <p:nvPr/>
        </p:nvSpPr>
        <p:spPr>
          <a:xfrm>
            <a:off x="8321040" y="4800600"/>
            <a:ext cx="420624" cy="420624"/>
          </a:xfrm>
          <a:prstGeom prst="ellipse">
            <a:avLst/>
          </a:prstGeom>
          <a:solidFill>
            <a:schemeClr val="accent2"/>
          </a:solidFill>
          <a:ln/>
        </p:spPr>
      </p:sp>
      <p:sp>
        <p:nvSpPr>
          <p:cNvPr id="29" name="Text 24"/>
          <p:cNvSpPr txBox="1"/>
          <p:nvPr/>
        </p:nvSpPr>
        <p:spPr>
          <a:xfrm>
            <a:off x="8321040" y="4800600"/>
            <a:ext cx="420624" cy="420624"/>
          </a:xfrm>
          <a:prstGeom prst="rect">
            <a:avLst/>
          </a:prstGeom>
          <a:noFill/>
          <a:ln/>
        </p:spPr>
        <p:txBody>
          <a:bodyPr wrap="square" lIns="0" tIns="0" rIns="0" bIns="0" rtlCol="0" anchor="ctr"/>
          <a:lstStyle/>
          <a:p>
            <a:pPr marL="0" indent="0" algn="ctr">
              <a:buNone/>
            </a:pPr>
            <a:r>
              <a:rPr lang="en-US" sz="1500" b="1" dirty="0">
                <a:solidFill>
                  <a:schemeClr val="tx1"/>
                </a:solidFill>
              </a:rPr>
              <a:t>3</a:t>
            </a:r>
            <a:endParaRPr lang="en-US" sz="1500" dirty="0"/>
          </a:p>
        </p:txBody>
      </p:sp>
      <p:sp>
        <p:nvSpPr>
          <p:cNvPr id="30" name="Text 25"/>
          <p:cNvSpPr txBox="1"/>
          <p:nvPr/>
        </p:nvSpPr>
        <p:spPr>
          <a:xfrm>
            <a:off x="8915400" y="4764024"/>
            <a:ext cx="2514600" cy="685800"/>
          </a:xfrm>
          <a:prstGeom prst="rect">
            <a:avLst/>
          </a:prstGeom>
          <a:noFill/>
          <a:ln/>
        </p:spPr>
        <p:txBody>
          <a:bodyPr wrap="square" lIns="0" tIns="0" rIns="0" bIns="0" rtlCol="0" anchor="t"/>
          <a:lstStyle/>
          <a:p>
            <a:pPr marL="0" indent="0">
              <a:buNone/>
            </a:pPr>
            <a:r>
              <a:rPr lang="en-US" sz="1400" dirty="0">
                <a:solidFill>
                  <a:schemeClr val="bg1"/>
                </a:solidFill>
              </a:rPr>
              <a:t>Verifiable without trusting the company</a:t>
            </a:r>
            <a:endParaRPr lang="en-US" sz="1400" dirty="0"/>
          </a:p>
        </p:txBody>
      </p:sp>
      <p:sp>
        <p:nvSpPr>
          <p:cNvPr id="31" name="Text 26"/>
          <p:cNvSpPr txBox="1"/>
          <p:nvPr/>
        </p:nvSpPr>
        <p:spPr>
          <a:xfrm>
            <a:off x="8321040" y="5486400"/>
            <a:ext cx="3108960" cy="320040"/>
          </a:xfrm>
          <a:prstGeom prst="rect">
            <a:avLst/>
          </a:prstGeom>
          <a:noFill/>
          <a:ln/>
        </p:spPr>
        <p:txBody>
          <a:bodyPr wrap="square" lIns="0" tIns="0" rIns="0" bIns="0" rtlCol="0" anchor="t"/>
          <a:lstStyle/>
          <a:p>
            <a:pPr marL="0" indent="0">
              <a:buNone/>
            </a:pPr>
            <a:r>
              <a:rPr lang="en-US" sz="1500" b="1" i="1" dirty="0">
                <a:solidFill>
                  <a:schemeClr val="accent2"/>
                </a:solidFill>
              </a:rPr>
              <a:t>Sammati fills all three.</a:t>
            </a:r>
            <a:endParaRPr lang="en-US" sz="1500" dirty="0"/>
          </a:p>
        </p:txBody>
      </p:sp>
      <p:sp>
        <p:nvSpPr>
          <p:cNvPr id="32" name="Slide Number Placeholder 0"/>
          <p:cNvSpPr>
            <a:spLocks noGrp="1"/>
          </p:cNvSpPr>
          <p:nvPr>
            <p:ph type="sldNum" sz="quarter" idx="4294967295"/>
          </p:nvPr>
        </p:nvSpPr>
        <p:spPr>
          <a:xfrm>
            <a:off x="10881360" y="6455664"/>
            <a:ext cx="758952" cy="237744"/>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marL="0" indent="0">
              <a:buNone/>
            </a:pPr>
            <a:r>
              <a:rPr lang="en-US" sz="1200" b="1" kern="0" spc="300" dirty="0">
                <a:solidFill>
                  <a:schemeClr val="accent1"/>
                </a:solidFill>
              </a:rPr>
              <a:t>03  |  PROPOSED SOLUTION</a:t>
            </a:r>
            <a:endParaRPr lang="en-US" sz="1200" dirty="0"/>
          </a:p>
        </p:txBody>
      </p:sp>
      <p:sp>
        <p:nvSpPr>
          <p:cNvPr id="3" name="Text 1"/>
          <p:cNvSpPr>
            <a:spLocks noGrp="1"/>
          </p:cNvSpPr>
          <p:nvPr>
            <p:ph type="title" idx="101" hasCustomPrompt="1"/>
          </p:nvPr>
        </p:nvSpPr>
        <p:spPr>
          <a:xfrm>
            <a:off x="548640" y="658368"/>
            <a:ext cx="11094415" cy="731520"/>
          </a:xfrm>
          <a:prstGeom prst="rect">
            <a:avLst/>
          </a:prstGeom>
          <a:noFill/>
          <a:ln/>
        </p:spPr>
        <p:txBody>
          <a:bodyPr wrap="square" lIns="0" tIns="0" rIns="0" bIns="0" rtlCol="0" anchor="ctr"/>
          <a:lstStyle/>
          <a:p>
            <a:pPr marL="0" indent="0" algn="l">
              <a:buNone/>
            </a:pPr>
            <a:r>
              <a:rPr lang="en-US" sz="3200" b="1" dirty="0">
                <a:solidFill>
                  <a:schemeClr val="tx1"/>
                </a:solidFill>
              </a:rPr>
              <a:t>Consent that is signed, enforced and provable</a:t>
            </a:r>
            <a:endParaRPr lang="en-US" sz="3200" dirty="0"/>
          </a:p>
        </p:txBody>
      </p:sp>
      <p:sp>
        <p:nvSpPr>
          <p:cNvPr id="4" name="Flow card"/>
          <p:cNvSpPr/>
          <p:nvPr/>
        </p:nvSpPr>
        <p:spPr>
          <a:xfrm>
            <a:off x="548640" y="1645920"/>
            <a:ext cx="3337560" cy="2194560"/>
          </a:xfrm>
          <a:prstGeom prst="roundRect">
            <a:avLst>
              <a:gd name="adj" fmla="val 5000"/>
            </a:avLst>
          </a:prstGeom>
          <a:solidFill>
            <a:schemeClr val="bg1"/>
          </a:solidFill>
          <a:ln/>
          <a:effectLst>
            <a:outerShdw blurRad="127000" dist="25400" dir="5400000" algn="bl" rotWithShape="0">
              <a:srgbClr val="0B1B2E">
                <a:alpha val="10000"/>
              </a:srgbClr>
            </a:outerShdw>
          </a:effectLst>
        </p:spPr>
      </p:sp>
      <p:sp>
        <p:nvSpPr>
          <p:cNvPr id="5" name="Stage chip"/>
          <p:cNvSpPr/>
          <p:nvPr/>
        </p:nvSpPr>
        <p:spPr>
          <a:xfrm>
            <a:off x="777240" y="1847088"/>
            <a:ext cx="1234440" cy="274320"/>
          </a:xfrm>
          <a:prstGeom prst="roundRect">
            <a:avLst>
              <a:gd name="adj" fmla="val 50000"/>
            </a:avLst>
          </a:prstGeom>
          <a:solidFill>
            <a:schemeClr val="accent1"/>
          </a:solidFill>
          <a:ln/>
        </p:spPr>
      </p:sp>
      <p:sp>
        <p:nvSpPr>
          <p:cNvPr id="6" name="Text 4"/>
          <p:cNvSpPr txBox="1"/>
          <p:nvPr/>
        </p:nvSpPr>
        <p:spPr>
          <a:xfrm>
            <a:off x="777240" y="1847088"/>
            <a:ext cx="1234440" cy="274320"/>
          </a:xfrm>
          <a:prstGeom prst="rect">
            <a:avLst/>
          </a:prstGeom>
          <a:noFill/>
          <a:ln/>
        </p:spPr>
        <p:txBody>
          <a:bodyPr wrap="square" lIns="0" tIns="0" rIns="0" bIns="0" rtlCol="0" anchor="ctr"/>
          <a:lstStyle/>
          <a:p>
            <a:pPr marL="0" indent="0" algn="ctr">
              <a:buNone/>
            </a:pPr>
            <a:r>
              <a:rPr lang="en-US" sz="1100" b="1" kern="0" spc="200" dirty="0">
                <a:solidFill>
                  <a:schemeClr val="bg1"/>
                </a:solidFill>
              </a:rPr>
              <a:t>INPUT</a:t>
            </a:r>
            <a:endParaRPr lang="en-US" sz="1100" dirty="0"/>
          </a:p>
        </p:txBody>
      </p:sp>
      <p:sp>
        <p:nvSpPr>
          <p:cNvPr id="7" name="Text 5"/>
          <p:cNvSpPr txBox="1"/>
          <p:nvPr/>
        </p:nvSpPr>
        <p:spPr>
          <a:xfrm>
            <a:off x="777240" y="2240280"/>
            <a:ext cx="2880360" cy="365760"/>
          </a:xfrm>
          <a:prstGeom prst="rect">
            <a:avLst/>
          </a:prstGeom>
          <a:noFill/>
          <a:ln/>
        </p:spPr>
        <p:txBody>
          <a:bodyPr wrap="square" lIns="0" tIns="0" rIns="0" bIns="0" rtlCol="0" anchor="t"/>
          <a:lstStyle/>
          <a:p>
            <a:pPr marL="0" indent="0">
              <a:buNone/>
            </a:pPr>
            <a:r>
              <a:rPr lang="en-US" sz="1900" b="1" dirty="0">
                <a:solidFill>
                  <a:schemeClr val="tx1"/>
                </a:solidFill>
              </a:rPr>
              <a:t>Scan, choose, sign</a:t>
            </a:r>
            <a:endParaRPr lang="en-US" sz="1900" dirty="0"/>
          </a:p>
        </p:txBody>
      </p:sp>
      <p:sp>
        <p:nvSpPr>
          <p:cNvPr id="8" name="Text 6"/>
          <p:cNvSpPr txBox="1"/>
          <p:nvPr/>
        </p:nvSpPr>
        <p:spPr>
          <a:xfrm>
            <a:off x="777240" y="2670048"/>
            <a:ext cx="2880360" cy="1097280"/>
          </a:xfrm>
          <a:prstGeom prst="rect">
            <a:avLst/>
          </a:prstGeom>
          <a:noFill/>
          <a:ln/>
        </p:spPr>
        <p:txBody>
          <a:bodyPr wrap="square" lIns="0" tIns="0" rIns="0" bIns="0" rtlCol="0" anchor="t"/>
          <a:lstStyle/>
          <a:p>
            <a:pPr marL="0" indent="0">
              <a:buNone/>
            </a:pPr>
            <a:r>
              <a:rPr lang="en-US" sz="1350" dirty="0">
                <a:solidFill>
                  <a:schemeClr val="tx1"/>
                </a:solidFill>
              </a:rPr>
              <a:t>Citizen scans a company QR, picks each purpose separately in English, Hindi or Kannada, and signs with a key that never leaves the phone.</a:t>
            </a:r>
            <a:endParaRPr lang="en-US" sz="1350" dirty="0"/>
          </a:p>
        </p:txBody>
      </p:sp>
      <p:sp>
        <p:nvSpPr>
          <p:cNvPr id="9" name="Flow arrow"/>
          <p:cNvSpPr/>
          <p:nvPr/>
        </p:nvSpPr>
        <p:spPr>
          <a:xfrm>
            <a:off x="3977640" y="2606040"/>
            <a:ext cx="357988" cy="365760"/>
          </a:xfrm>
          <a:prstGeom prst="rightArrow">
            <a:avLst/>
          </a:prstGeom>
          <a:solidFill>
            <a:srgbClr val="F2A33A"/>
          </a:solidFill>
          <a:ln/>
        </p:spPr>
      </p:sp>
      <p:sp>
        <p:nvSpPr>
          <p:cNvPr id="10" name="Flow card"/>
          <p:cNvSpPr/>
          <p:nvPr/>
        </p:nvSpPr>
        <p:spPr>
          <a:xfrm>
            <a:off x="4427068" y="1645920"/>
            <a:ext cx="3337560" cy="2194560"/>
          </a:xfrm>
          <a:prstGeom prst="roundRect">
            <a:avLst>
              <a:gd name="adj" fmla="val 5000"/>
            </a:avLst>
          </a:prstGeom>
          <a:solidFill>
            <a:schemeClr val="bg1"/>
          </a:solidFill>
          <a:ln/>
          <a:effectLst>
            <a:outerShdw blurRad="127000" dist="25400" dir="5400000" algn="bl" rotWithShape="0">
              <a:srgbClr val="0B1B2E">
                <a:alpha val="10000"/>
              </a:srgbClr>
            </a:outerShdw>
          </a:effectLst>
        </p:spPr>
      </p:sp>
      <p:sp>
        <p:nvSpPr>
          <p:cNvPr id="11" name="Stage chip"/>
          <p:cNvSpPr/>
          <p:nvPr/>
        </p:nvSpPr>
        <p:spPr>
          <a:xfrm>
            <a:off x="4655668" y="1847088"/>
            <a:ext cx="1234440" cy="274320"/>
          </a:xfrm>
          <a:prstGeom prst="roundRect">
            <a:avLst>
              <a:gd name="adj" fmla="val 50000"/>
            </a:avLst>
          </a:prstGeom>
          <a:solidFill>
            <a:schemeClr val="accent3"/>
          </a:solidFill>
          <a:ln/>
        </p:spPr>
      </p:sp>
      <p:sp>
        <p:nvSpPr>
          <p:cNvPr id="12" name="Text 10"/>
          <p:cNvSpPr txBox="1"/>
          <p:nvPr/>
        </p:nvSpPr>
        <p:spPr>
          <a:xfrm>
            <a:off x="4655668" y="1847088"/>
            <a:ext cx="1234440" cy="274320"/>
          </a:xfrm>
          <a:prstGeom prst="rect">
            <a:avLst/>
          </a:prstGeom>
          <a:noFill/>
          <a:ln/>
        </p:spPr>
        <p:txBody>
          <a:bodyPr wrap="square" lIns="0" tIns="0" rIns="0" bIns="0" rtlCol="0" anchor="ctr"/>
          <a:lstStyle/>
          <a:p>
            <a:pPr marL="0" indent="0" algn="ctr">
              <a:buNone/>
            </a:pPr>
            <a:r>
              <a:rPr lang="en-US" sz="1100" b="1" kern="0" spc="200" dirty="0">
                <a:solidFill>
                  <a:schemeClr val="bg1"/>
                </a:solidFill>
              </a:rPr>
              <a:t>PROCESSING</a:t>
            </a:r>
            <a:endParaRPr lang="en-US" sz="1100" dirty="0"/>
          </a:p>
        </p:txBody>
      </p:sp>
      <p:sp>
        <p:nvSpPr>
          <p:cNvPr id="13" name="Text 11"/>
          <p:cNvSpPr txBox="1"/>
          <p:nvPr/>
        </p:nvSpPr>
        <p:spPr>
          <a:xfrm>
            <a:off x="4655668" y="2240280"/>
            <a:ext cx="2880360" cy="365760"/>
          </a:xfrm>
          <a:prstGeom prst="rect">
            <a:avLst/>
          </a:prstGeom>
          <a:noFill/>
          <a:ln/>
        </p:spPr>
        <p:txBody>
          <a:bodyPr wrap="square" lIns="0" tIns="0" rIns="0" bIns="0" rtlCol="0" anchor="t"/>
          <a:lstStyle/>
          <a:p>
            <a:pPr marL="0" indent="0">
              <a:buNone/>
            </a:pPr>
            <a:r>
              <a:rPr lang="en-US" sz="1900" b="1" dirty="0">
                <a:solidFill>
                  <a:schemeClr val="tx1"/>
                </a:solidFill>
              </a:rPr>
              <a:t>Verify, enforce, decide</a:t>
            </a:r>
            <a:endParaRPr lang="en-US" sz="1900" dirty="0"/>
          </a:p>
        </p:txBody>
      </p:sp>
      <p:sp>
        <p:nvSpPr>
          <p:cNvPr id="14" name="Text 12"/>
          <p:cNvSpPr txBox="1"/>
          <p:nvPr/>
        </p:nvSpPr>
        <p:spPr>
          <a:xfrm>
            <a:off x="4655668" y="2670048"/>
            <a:ext cx="2880360" cy="1097280"/>
          </a:xfrm>
          <a:prstGeom prst="rect">
            <a:avLst/>
          </a:prstGeom>
          <a:noFill/>
          <a:ln/>
        </p:spPr>
        <p:txBody>
          <a:bodyPr wrap="square" lIns="0" tIns="0" rIns="0" bIns="0" rtlCol="0" anchor="t"/>
          <a:lstStyle/>
          <a:p>
            <a:pPr marL="0" indent="0">
              <a:buNone/>
            </a:pPr>
            <a:r>
              <a:rPr lang="en-US" sz="1350" dirty="0">
                <a:solidFill>
                  <a:schemeClr val="tx1"/>
                </a:solidFill>
              </a:rPr>
              <a:t>Signed consent is stored on the ledger. The gateway checks it on every request. Sensitive data is decided on as ciphertext.</a:t>
            </a:r>
            <a:endParaRPr lang="en-US" sz="1350" dirty="0"/>
          </a:p>
        </p:txBody>
      </p:sp>
      <p:sp>
        <p:nvSpPr>
          <p:cNvPr id="15" name="Flow arrow"/>
          <p:cNvSpPr/>
          <p:nvPr/>
        </p:nvSpPr>
        <p:spPr>
          <a:xfrm>
            <a:off x="7856068" y="2606040"/>
            <a:ext cx="357988" cy="365760"/>
          </a:xfrm>
          <a:prstGeom prst="rightArrow">
            <a:avLst/>
          </a:prstGeom>
          <a:solidFill>
            <a:srgbClr val="F2A33A"/>
          </a:solidFill>
          <a:ln/>
        </p:spPr>
      </p:sp>
      <p:sp>
        <p:nvSpPr>
          <p:cNvPr id="16" name="Flow card"/>
          <p:cNvSpPr/>
          <p:nvPr/>
        </p:nvSpPr>
        <p:spPr>
          <a:xfrm>
            <a:off x="8305495" y="1645920"/>
            <a:ext cx="3337560" cy="2194560"/>
          </a:xfrm>
          <a:prstGeom prst="roundRect">
            <a:avLst>
              <a:gd name="adj" fmla="val 5000"/>
            </a:avLst>
          </a:prstGeom>
          <a:solidFill>
            <a:schemeClr val="bg1"/>
          </a:solidFill>
          <a:ln/>
          <a:effectLst>
            <a:outerShdw blurRad="127000" dist="25400" dir="5400000" algn="bl" rotWithShape="0">
              <a:srgbClr val="0B1B2E">
                <a:alpha val="10000"/>
              </a:srgbClr>
            </a:outerShdw>
          </a:effectLst>
        </p:spPr>
      </p:sp>
      <p:sp>
        <p:nvSpPr>
          <p:cNvPr id="17" name="Stage chip"/>
          <p:cNvSpPr/>
          <p:nvPr/>
        </p:nvSpPr>
        <p:spPr>
          <a:xfrm>
            <a:off x="8534095" y="1847088"/>
            <a:ext cx="1234440" cy="274320"/>
          </a:xfrm>
          <a:prstGeom prst="roundRect">
            <a:avLst>
              <a:gd name="adj" fmla="val 50000"/>
            </a:avLst>
          </a:prstGeom>
          <a:solidFill>
            <a:schemeClr val="accent5"/>
          </a:solidFill>
          <a:ln/>
        </p:spPr>
      </p:sp>
      <p:sp>
        <p:nvSpPr>
          <p:cNvPr id="18" name="Text 16"/>
          <p:cNvSpPr txBox="1"/>
          <p:nvPr/>
        </p:nvSpPr>
        <p:spPr>
          <a:xfrm>
            <a:off x="8534095" y="1847088"/>
            <a:ext cx="1234440" cy="274320"/>
          </a:xfrm>
          <a:prstGeom prst="rect">
            <a:avLst/>
          </a:prstGeom>
          <a:noFill/>
          <a:ln/>
        </p:spPr>
        <p:txBody>
          <a:bodyPr wrap="square" lIns="0" tIns="0" rIns="0" bIns="0" rtlCol="0" anchor="ctr"/>
          <a:lstStyle/>
          <a:p>
            <a:pPr marL="0" indent="0" algn="ctr">
              <a:buNone/>
            </a:pPr>
            <a:r>
              <a:rPr lang="en-US" sz="1100" b="1" kern="0" spc="200" dirty="0">
                <a:solidFill>
                  <a:schemeClr val="bg1"/>
                </a:solidFill>
              </a:rPr>
              <a:t>OUTPUT</a:t>
            </a:r>
            <a:endParaRPr lang="en-US" sz="1100" dirty="0"/>
          </a:p>
        </p:txBody>
      </p:sp>
      <p:sp>
        <p:nvSpPr>
          <p:cNvPr id="19" name="Text 17"/>
          <p:cNvSpPr txBox="1"/>
          <p:nvPr/>
        </p:nvSpPr>
        <p:spPr>
          <a:xfrm>
            <a:off x="8534095" y="2240280"/>
            <a:ext cx="2880360" cy="365760"/>
          </a:xfrm>
          <a:prstGeom prst="rect">
            <a:avLst/>
          </a:prstGeom>
          <a:noFill/>
          <a:ln/>
        </p:spPr>
        <p:txBody>
          <a:bodyPr wrap="square" lIns="0" tIns="0" rIns="0" bIns="0" rtlCol="0" anchor="t"/>
          <a:lstStyle/>
          <a:p>
            <a:pPr marL="0" indent="0">
              <a:buNone/>
            </a:pPr>
            <a:r>
              <a:rPr lang="en-US" sz="1900" b="1" dirty="0">
                <a:solidFill>
                  <a:schemeClr val="tx1"/>
                </a:solidFill>
              </a:rPr>
              <a:t>Allow, block, prove</a:t>
            </a:r>
            <a:endParaRPr lang="en-US" sz="1900" dirty="0"/>
          </a:p>
        </p:txBody>
      </p:sp>
      <p:sp>
        <p:nvSpPr>
          <p:cNvPr id="20" name="Text 18"/>
          <p:cNvSpPr txBox="1"/>
          <p:nvPr/>
        </p:nvSpPr>
        <p:spPr>
          <a:xfrm>
            <a:off x="8534095" y="2670048"/>
            <a:ext cx="2880360" cy="1097280"/>
          </a:xfrm>
          <a:prstGeom prst="rect">
            <a:avLst/>
          </a:prstGeom>
          <a:noFill/>
          <a:ln/>
        </p:spPr>
        <p:txBody>
          <a:bodyPr wrap="square" lIns="0" tIns="0" rIns="0" bIns="0" rtlCol="0" anchor="t"/>
          <a:lstStyle/>
          <a:p>
            <a:pPr marL="0" indent="0">
              <a:buNone/>
            </a:pPr>
            <a:r>
              <a:rPr lang="en-US" sz="1350" dirty="0">
                <a:solidFill>
                  <a:schemeClr val="tx1"/>
                </a:solidFill>
              </a:rPr>
              <a:t>ALLOWED or BLOCKED (451) in real time. Withdrawals cascade to processors. Anchored proof for the regulator.</a:t>
            </a:r>
            <a:endParaRPr lang="en-US" sz="1350" dirty="0"/>
          </a:p>
        </p:txBody>
      </p:sp>
      <p:sp>
        <p:nvSpPr>
          <p:cNvPr id="21" name="Text 19"/>
          <p:cNvSpPr txBox="1"/>
          <p:nvPr/>
        </p:nvSpPr>
        <p:spPr>
          <a:xfrm>
            <a:off x="548640" y="4023360"/>
            <a:ext cx="3657600" cy="228600"/>
          </a:xfrm>
          <a:prstGeom prst="rect">
            <a:avLst/>
          </a:prstGeom>
          <a:noFill/>
          <a:ln/>
        </p:spPr>
        <p:txBody>
          <a:bodyPr wrap="square" lIns="0" tIns="0" rIns="0" bIns="0" rtlCol="0" anchor="t"/>
          <a:lstStyle/>
          <a:p>
            <a:pPr marL="0" indent="0">
              <a:buNone/>
            </a:pPr>
            <a:r>
              <a:rPr lang="en-US" sz="1100" b="1" kern="0" spc="300" dirty="0">
                <a:solidFill>
                  <a:schemeClr val="accent6"/>
                </a:solidFill>
              </a:rPr>
              <a:t>THE FOUR PIECES</a:t>
            </a:r>
            <a:endParaRPr lang="en-US" sz="1100" dirty="0"/>
          </a:p>
        </p:txBody>
      </p:sp>
      <p:sp>
        <p:nvSpPr>
          <p:cNvPr id="22" name="Component tile"/>
          <p:cNvSpPr/>
          <p:nvPr/>
        </p:nvSpPr>
        <p:spPr>
          <a:xfrm>
            <a:off x="548640" y="4343400"/>
            <a:ext cx="2651760" cy="1874520"/>
          </a:xfrm>
          <a:prstGeom prst="roundRect">
            <a:avLst>
              <a:gd name="adj" fmla="val 5854"/>
            </a:avLst>
          </a:prstGeom>
          <a:solidFill>
            <a:schemeClr val="bg1"/>
          </a:solidFill>
          <a:ln/>
          <a:effectLst>
            <a:outerShdw blurRad="127000" dist="25400" dir="5400000" algn="bl" rotWithShape="0">
              <a:srgbClr val="0B1B2E">
                <a:alpha val="10000"/>
              </a:srgbClr>
            </a:outerShdw>
          </a:effectLst>
        </p:spPr>
      </p:sp>
      <p:sp>
        <p:nvSpPr>
          <p:cNvPr id="23" name="Icon circle"/>
          <p:cNvSpPr/>
          <p:nvPr/>
        </p:nvSpPr>
        <p:spPr>
          <a:xfrm>
            <a:off x="749808" y="4526280"/>
            <a:ext cx="566928" cy="566928"/>
          </a:xfrm>
          <a:prstGeom prst="ellipse">
            <a:avLst/>
          </a:prstGeom>
          <a:solidFill>
            <a:srgbClr val="0E8F83"/>
          </a:solidFill>
          <a:ln/>
        </p:spPr>
      </p:sp>
      <p:pic>
        <p:nvPicPr>
          <p:cNvPr id="24" name="Image 0" descr="MobileAlt icon"/>
          <p:cNvPicPr>
            <a:picLocks noChangeAspect="1"/>
          </p:cNvPicPr>
          <p:nvPr/>
        </p:nvPicPr>
        <p:blipFill>
          <a:blip r:embed="rId3"/>
          <a:stretch>
            <a:fillRect/>
          </a:stretch>
        </p:blipFill>
        <p:spPr>
          <a:xfrm>
            <a:off x="897209" y="4673681"/>
            <a:ext cx="272125" cy="272125"/>
          </a:xfrm>
          <a:prstGeom prst="rect">
            <a:avLst/>
          </a:prstGeom>
        </p:spPr>
      </p:pic>
      <p:sp>
        <p:nvSpPr>
          <p:cNvPr id="25" name="Text 22"/>
          <p:cNvSpPr txBox="1"/>
          <p:nvPr/>
        </p:nvSpPr>
        <p:spPr>
          <a:xfrm>
            <a:off x="1444752" y="4544568"/>
            <a:ext cx="1645920" cy="274320"/>
          </a:xfrm>
          <a:prstGeom prst="rect">
            <a:avLst/>
          </a:prstGeom>
          <a:noFill/>
          <a:ln/>
        </p:spPr>
        <p:txBody>
          <a:bodyPr wrap="square" lIns="0" tIns="0" rIns="0" bIns="0" rtlCol="0" anchor="t"/>
          <a:lstStyle/>
          <a:p>
            <a:pPr marL="0" indent="0">
              <a:buNone/>
            </a:pPr>
            <a:r>
              <a:rPr lang="en-US" sz="1500" b="1" dirty="0">
                <a:solidFill>
                  <a:schemeClr val="tx1"/>
                </a:solidFill>
              </a:rPr>
              <a:t>Citizen Wallet</a:t>
            </a:r>
            <a:endParaRPr lang="en-US" sz="1500" dirty="0"/>
          </a:p>
        </p:txBody>
      </p:sp>
      <p:sp>
        <p:nvSpPr>
          <p:cNvPr id="26" name="Text 23"/>
          <p:cNvSpPr txBox="1"/>
          <p:nvPr/>
        </p:nvSpPr>
        <p:spPr>
          <a:xfrm>
            <a:off x="1444752" y="4818888"/>
            <a:ext cx="1645920" cy="228600"/>
          </a:xfrm>
          <a:prstGeom prst="rect">
            <a:avLst/>
          </a:prstGeom>
          <a:noFill/>
          <a:ln/>
        </p:spPr>
        <p:txBody>
          <a:bodyPr wrap="square" lIns="0" tIns="0" rIns="0" bIns="0" rtlCol="0" anchor="t"/>
          <a:lstStyle/>
          <a:p>
            <a:pPr marL="0" indent="0">
              <a:buNone/>
            </a:pPr>
            <a:r>
              <a:rPr lang="en-US" sz="1100" dirty="0">
                <a:solidFill>
                  <a:schemeClr val="accent6"/>
                </a:solidFill>
              </a:rPr>
              <a:t>Flutter</a:t>
            </a:r>
            <a:endParaRPr lang="en-US" sz="1100" dirty="0"/>
          </a:p>
        </p:txBody>
      </p:sp>
      <p:sp>
        <p:nvSpPr>
          <p:cNvPr id="27" name="Text 24"/>
          <p:cNvSpPr txBox="1"/>
          <p:nvPr/>
        </p:nvSpPr>
        <p:spPr>
          <a:xfrm>
            <a:off x="749808" y="5303520"/>
            <a:ext cx="2249424" cy="868680"/>
          </a:xfrm>
          <a:prstGeom prst="rect">
            <a:avLst/>
          </a:prstGeom>
          <a:noFill/>
          <a:ln/>
        </p:spPr>
        <p:txBody>
          <a:bodyPr wrap="square" lIns="0" tIns="0" rIns="0" bIns="0" rtlCol="0" anchor="t"/>
          <a:lstStyle/>
          <a:p>
            <a:pPr marL="0" indent="0">
              <a:buNone/>
            </a:pPr>
            <a:r>
              <a:rPr lang="en-US" sz="1300" dirty="0">
                <a:solidFill>
                  <a:schemeClr val="tx1"/>
                </a:solidFill>
              </a:rPr>
              <a:t>One place to see and control every purpose. Withdraw in two taps.</a:t>
            </a:r>
            <a:endParaRPr lang="en-US" sz="1300" dirty="0"/>
          </a:p>
        </p:txBody>
      </p:sp>
      <p:sp>
        <p:nvSpPr>
          <p:cNvPr id="28" name="Component tile"/>
          <p:cNvSpPr/>
          <p:nvPr/>
        </p:nvSpPr>
        <p:spPr>
          <a:xfrm>
            <a:off x="3362858" y="4343400"/>
            <a:ext cx="2651760" cy="1874520"/>
          </a:xfrm>
          <a:prstGeom prst="roundRect">
            <a:avLst>
              <a:gd name="adj" fmla="val 5854"/>
            </a:avLst>
          </a:prstGeom>
          <a:solidFill>
            <a:schemeClr val="bg1"/>
          </a:solidFill>
          <a:ln/>
          <a:effectLst>
            <a:outerShdw blurRad="127000" dist="25400" dir="5400000" algn="bl" rotWithShape="0">
              <a:srgbClr val="0B1B2E">
                <a:alpha val="10000"/>
              </a:srgbClr>
            </a:outerShdw>
          </a:effectLst>
        </p:spPr>
      </p:sp>
      <p:sp>
        <p:nvSpPr>
          <p:cNvPr id="29" name="Icon circle"/>
          <p:cNvSpPr/>
          <p:nvPr/>
        </p:nvSpPr>
        <p:spPr>
          <a:xfrm>
            <a:off x="3564026" y="4526280"/>
            <a:ext cx="566928" cy="566928"/>
          </a:xfrm>
          <a:prstGeom prst="ellipse">
            <a:avLst/>
          </a:prstGeom>
          <a:solidFill>
            <a:srgbClr val="F2A33A"/>
          </a:solidFill>
          <a:ln/>
        </p:spPr>
      </p:sp>
      <p:pic>
        <p:nvPicPr>
          <p:cNvPr id="30" name="Image 1" descr="ShieldAlt icon"/>
          <p:cNvPicPr>
            <a:picLocks noChangeAspect="1"/>
          </p:cNvPicPr>
          <p:nvPr/>
        </p:nvPicPr>
        <p:blipFill>
          <a:blip r:embed="rId4"/>
          <a:stretch>
            <a:fillRect/>
          </a:stretch>
        </p:blipFill>
        <p:spPr>
          <a:xfrm>
            <a:off x="3711428" y="4673681"/>
            <a:ext cx="272125" cy="272125"/>
          </a:xfrm>
          <a:prstGeom prst="rect">
            <a:avLst/>
          </a:prstGeom>
        </p:spPr>
      </p:pic>
      <p:sp>
        <p:nvSpPr>
          <p:cNvPr id="31" name="Text 27"/>
          <p:cNvSpPr txBox="1"/>
          <p:nvPr/>
        </p:nvSpPr>
        <p:spPr>
          <a:xfrm>
            <a:off x="4258970" y="4544568"/>
            <a:ext cx="1645920" cy="274320"/>
          </a:xfrm>
          <a:prstGeom prst="rect">
            <a:avLst/>
          </a:prstGeom>
          <a:noFill/>
          <a:ln/>
        </p:spPr>
        <p:txBody>
          <a:bodyPr wrap="square" lIns="0" tIns="0" rIns="0" bIns="0" rtlCol="0" anchor="t"/>
          <a:lstStyle/>
          <a:p>
            <a:pPr marL="0" indent="0">
              <a:buNone/>
            </a:pPr>
            <a:r>
              <a:rPr lang="en-US" sz="1500" b="1" dirty="0">
                <a:solidFill>
                  <a:schemeClr val="tx1"/>
                </a:solidFill>
              </a:rPr>
              <a:t>Gateway SDK</a:t>
            </a:r>
            <a:endParaRPr lang="en-US" sz="1500" dirty="0"/>
          </a:p>
        </p:txBody>
      </p:sp>
      <p:sp>
        <p:nvSpPr>
          <p:cNvPr id="32" name="Text 28"/>
          <p:cNvSpPr txBox="1"/>
          <p:nvPr/>
        </p:nvSpPr>
        <p:spPr>
          <a:xfrm>
            <a:off x="4258970" y="4818888"/>
            <a:ext cx="1645920" cy="228600"/>
          </a:xfrm>
          <a:prstGeom prst="rect">
            <a:avLst/>
          </a:prstGeom>
          <a:noFill/>
          <a:ln/>
        </p:spPr>
        <p:txBody>
          <a:bodyPr wrap="square" lIns="0" tIns="0" rIns="0" bIns="0" rtlCol="0" anchor="t"/>
          <a:lstStyle/>
          <a:p>
            <a:pPr marL="0" indent="0">
              <a:buNone/>
            </a:pPr>
            <a:r>
              <a:rPr lang="en-US" sz="1100" dirty="0">
                <a:solidFill>
                  <a:schemeClr val="accent6"/>
                </a:solidFill>
              </a:rPr>
              <a:t>TypeScript middleware</a:t>
            </a:r>
            <a:endParaRPr lang="en-US" sz="1100" dirty="0"/>
          </a:p>
        </p:txBody>
      </p:sp>
      <p:sp>
        <p:nvSpPr>
          <p:cNvPr id="33" name="Text 29"/>
          <p:cNvSpPr txBox="1"/>
          <p:nvPr/>
        </p:nvSpPr>
        <p:spPr>
          <a:xfrm>
            <a:off x="3564026" y="5303520"/>
            <a:ext cx="2249424" cy="868680"/>
          </a:xfrm>
          <a:prstGeom prst="rect">
            <a:avLst/>
          </a:prstGeom>
          <a:noFill/>
          <a:ln/>
        </p:spPr>
        <p:txBody>
          <a:bodyPr wrap="square" lIns="0" tIns="0" rIns="0" bIns="0" rtlCol="0" anchor="t"/>
          <a:lstStyle/>
          <a:p>
            <a:pPr marL="0" indent="0">
              <a:buNone/>
            </a:pPr>
            <a:r>
              <a:rPr lang="en-US" sz="1300" dirty="0">
                <a:solidFill>
                  <a:schemeClr val="tx1"/>
                </a:solidFill>
              </a:rPr>
              <a:t>requireConsent() on any endpoint. Blocks unauthorised use in real time.</a:t>
            </a:r>
            <a:endParaRPr lang="en-US" sz="1300" dirty="0"/>
          </a:p>
        </p:txBody>
      </p:sp>
      <p:sp>
        <p:nvSpPr>
          <p:cNvPr id="34" name="Component tile"/>
          <p:cNvSpPr/>
          <p:nvPr/>
        </p:nvSpPr>
        <p:spPr>
          <a:xfrm>
            <a:off x="6177077" y="4343400"/>
            <a:ext cx="2651760" cy="1874520"/>
          </a:xfrm>
          <a:prstGeom prst="roundRect">
            <a:avLst>
              <a:gd name="adj" fmla="val 5854"/>
            </a:avLst>
          </a:prstGeom>
          <a:solidFill>
            <a:schemeClr val="bg1"/>
          </a:solidFill>
          <a:ln/>
          <a:effectLst>
            <a:outerShdw blurRad="127000" dist="25400" dir="5400000" algn="bl" rotWithShape="0">
              <a:srgbClr val="0B1B2E">
                <a:alpha val="10000"/>
              </a:srgbClr>
            </a:outerShdw>
          </a:effectLst>
        </p:spPr>
      </p:sp>
      <p:sp>
        <p:nvSpPr>
          <p:cNvPr id="35" name="Icon circle"/>
          <p:cNvSpPr/>
          <p:nvPr/>
        </p:nvSpPr>
        <p:spPr>
          <a:xfrm>
            <a:off x="6378245" y="4526280"/>
            <a:ext cx="566928" cy="566928"/>
          </a:xfrm>
          <a:prstGeom prst="ellipse">
            <a:avLst/>
          </a:prstGeom>
          <a:solidFill>
            <a:srgbClr val="2F63C8"/>
          </a:solidFill>
          <a:ln/>
        </p:spPr>
      </p:sp>
      <p:pic>
        <p:nvPicPr>
          <p:cNvPr id="36" name="Image 2" descr="Link icon"/>
          <p:cNvPicPr>
            <a:picLocks noChangeAspect="1"/>
          </p:cNvPicPr>
          <p:nvPr/>
        </p:nvPicPr>
        <p:blipFill>
          <a:blip r:embed="rId5"/>
          <a:stretch>
            <a:fillRect/>
          </a:stretch>
        </p:blipFill>
        <p:spPr>
          <a:xfrm>
            <a:off x="6525646" y="4673681"/>
            <a:ext cx="272125" cy="272125"/>
          </a:xfrm>
          <a:prstGeom prst="rect">
            <a:avLst/>
          </a:prstGeom>
        </p:spPr>
      </p:pic>
      <p:sp>
        <p:nvSpPr>
          <p:cNvPr id="37" name="Text 32"/>
          <p:cNvSpPr txBox="1"/>
          <p:nvPr/>
        </p:nvSpPr>
        <p:spPr>
          <a:xfrm>
            <a:off x="7073189" y="4544568"/>
            <a:ext cx="1645920" cy="274320"/>
          </a:xfrm>
          <a:prstGeom prst="rect">
            <a:avLst/>
          </a:prstGeom>
          <a:noFill/>
          <a:ln/>
        </p:spPr>
        <p:txBody>
          <a:bodyPr wrap="square" lIns="0" tIns="0" rIns="0" bIns="0" rtlCol="0" anchor="t"/>
          <a:lstStyle/>
          <a:p>
            <a:pPr marL="0" indent="0">
              <a:buNone/>
            </a:pPr>
            <a:r>
              <a:rPr lang="en-US" sz="1500" b="1" dirty="0">
                <a:solidFill>
                  <a:schemeClr val="tx1"/>
                </a:solidFill>
              </a:rPr>
              <a:t>Consent Ledger</a:t>
            </a:r>
            <a:endParaRPr lang="en-US" sz="1500" dirty="0"/>
          </a:p>
        </p:txBody>
      </p:sp>
      <p:sp>
        <p:nvSpPr>
          <p:cNvPr id="38" name="Text 33"/>
          <p:cNvSpPr txBox="1"/>
          <p:nvPr/>
        </p:nvSpPr>
        <p:spPr>
          <a:xfrm>
            <a:off x="7073189" y="4818888"/>
            <a:ext cx="1645920" cy="228600"/>
          </a:xfrm>
          <a:prstGeom prst="rect">
            <a:avLst/>
          </a:prstGeom>
          <a:noFill/>
          <a:ln/>
        </p:spPr>
        <p:txBody>
          <a:bodyPr wrap="square" lIns="0" tIns="0" rIns="0" bIns="0" rtlCol="0" anchor="t"/>
          <a:lstStyle/>
          <a:p>
            <a:pPr marL="0" indent="0">
              <a:buNone/>
            </a:pPr>
            <a:r>
              <a:rPr lang="en-US" sz="1100" dirty="0">
                <a:solidFill>
                  <a:schemeClr val="accent6"/>
                </a:solidFill>
              </a:rPr>
              <a:t>Solidity on Polygon Amoy</a:t>
            </a:r>
            <a:endParaRPr lang="en-US" sz="1100" dirty="0"/>
          </a:p>
        </p:txBody>
      </p:sp>
      <p:sp>
        <p:nvSpPr>
          <p:cNvPr id="39" name="Text 34"/>
          <p:cNvSpPr txBox="1"/>
          <p:nvPr/>
        </p:nvSpPr>
        <p:spPr>
          <a:xfrm>
            <a:off x="6378245" y="5303520"/>
            <a:ext cx="2249424" cy="868680"/>
          </a:xfrm>
          <a:prstGeom prst="rect">
            <a:avLst/>
          </a:prstGeom>
          <a:noFill/>
          <a:ln/>
        </p:spPr>
        <p:txBody>
          <a:bodyPr wrap="square" lIns="0" tIns="0" rIns="0" bIns="0" rtlCol="0" anchor="t"/>
          <a:lstStyle/>
          <a:p>
            <a:pPr marL="0" indent="0">
              <a:buNone/>
            </a:pPr>
            <a:r>
              <a:rPr lang="en-US" sz="1300" dirty="0">
                <a:solidFill>
                  <a:schemeClr val="tx1"/>
                </a:solidFill>
              </a:rPr>
              <a:t>User-signed, tamper-evident consent state and anchored access logs.</a:t>
            </a:r>
            <a:endParaRPr lang="en-US" sz="1300" dirty="0"/>
          </a:p>
        </p:txBody>
      </p:sp>
      <p:sp>
        <p:nvSpPr>
          <p:cNvPr id="40" name="Component tile"/>
          <p:cNvSpPr/>
          <p:nvPr/>
        </p:nvSpPr>
        <p:spPr>
          <a:xfrm>
            <a:off x="8991295" y="4343400"/>
            <a:ext cx="2651760" cy="1874520"/>
          </a:xfrm>
          <a:prstGeom prst="roundRect">
            <a:avLst>
              <a:gd name="adj" fmla="val 5854"/>
            </a:avLst>
          </a:prstGeom>
          <a:solidFill>
            <a:schemeClr val="bg1"/>
          </a:solidFill>
          <a:ln/>
          <a:effectLst>
            <a:outerShdw blurRad="127000" dist="25400" dir="5400000" algn="bl" rotWithShape="0">
              <a:srgbClr val="0B1B2E">
                <a:alpha val="10000"/>
              </a:srgbClr>
            </a:outerShdw>
          </a:effectLst>
        </p:spPr>
      </p:sp>
      <p:sp>
        <p:nvSpPr>
          <p:cNvPr id="41" name="Icon circle"/>
          <p:cNvSpPr/>
          <p:nvPr/>
        </p:nvSpPr>
        <p:spPr>
          <a:xfrm>
            <a:off x="9192463" y="4526280"/>
            <a:ext cx="566928" cy="566928"/>
          </a:xfrm>
          <a:prstGeom prst="ellipse">
            <a:avLst/>
          </a:prstGeom>
          <a:solidFill>
            <a:srgbClr val="6D4FD0"/>
          </a:solidFill>
          <a:ln/>
        </p:spPr>
      </p:sp>
      <p:pic>
        <p:nvPicPr>
          <p:cNvPr id="42" name="Image 3" descr="Search icon"/>
          <p:cNvPicPr>
            <a:picLocks noChangeAspect="1"/>
          </p:cNvPicPr>
          <p:nvPr/>
        </p:nvPicPr>
        <p:blipFill>
          <a:blip r:embed="rId6"/>
          <a:stretch>
            <a:fillRect/>
          </a:stretch>
        </p:blipFill>
        <p:spPr>
          <a:xfrm>
            <a:off x="9339864" y="4673681"/>
            <a:ext cx="272125" cy="272125"/>
          </a:xfrm>
          <a:prstGeom prst="rect">
            <a:avLst/>
          </a:prstGeom>
        </p:spPr>
      </p:pic>
      <p:sp>
        <p:nvSpPr>
          <p:cNvPr id="43" name="Text 37"/>
          <p:cNvSpPr txBox="1"/>
          <p:nvPr/>
        </p:nvSpPr>
        <p:spPr>
          <a:xfrm>
            <a:off x="9887407" y="4544568"/>
            <a:ext cx="1645920" cy="274320"/>
          </a:xfrm>
          <a:prstGeom prst="rect">
            <a:avLst/>
          </a:prstGeom>
          <a:noFill/>
          <a:ln/>
        </p:spPr>
        <p:txBody>
          <a:bodyPr wrap="square" lIns="0" tIns="0" rIns="0" bIns="0" rtlCol="0" anchor="t"/>
          <a:lstStyle/>
          <a:p>
            <a:pPr marL="0" indent="0">
              <a:buNone/>
            </a:pPr>
            <a:r>
              <a:rPr lang="en-US" sz="1500" b="1" dirty="0">
                <a:solidFill>
                  <a:schemeClr val="tx1"/>
                </a:solidFill>
              </a:rPr>
              <a:t>Regulator Auditor</a:t>
            </a:r>
            <a:endParaRPr lang="en-US" sz="1500" dirty="0"/>
          </a:p>
        </p:txBody>
      </p:sp>
      <p:sp>
        <p:nvSpPr>
          <p:cNvPr id="44" name="Text 38"/>
          <p:cNvSpPr txBox="1"/>
          <p:nvPr/>
        </p:nvSpPr>
        <p:spPr>
          <a:xfrm>
            <a:off x="9887407" y="4818888"/>
            <a:ext cx="1645920" cy="228600"/>
          </a:xfrm>
          <a:prstGeom prst="rect">
            <a:avLst/>
          </a:prstGeom>
          <a:noFill/>
          <a:ln/>
        </p:spPr>
        <p:txBody>
          <a:bodyPr wrap="square" lIns="0" tIns="0" rIns="0" bIns="0" rtlCol="0" anchor="t"/>
          <a:lstStyle/>
          <a:p>
            <a:pPr marL="0" indent="0">
              <a:buNone/>
            </a:pPr>
            <a:r>
              <a:rPr lang="en-US" sz="1100" dirty="0">
                <a:solidFill>
                  <a:schemeClr val="accent6"/>
                </a:solidFill>
              </a:rPr>
              <a:t>React</a:t>
            </a:r>
            <a:endParaRPr lang="en-US" sz="1100" dirty="0"/>
          </a:p>
        </p:txBody>
      </p:sp>
      <p:sp>
        <p:nvSpPr>
          <p:cNvPr id="45" name="Text 39"/>
          <p:cNvSpPr txBox="1"/>
          <p:nvPr/>
        </p:nvSpPr>
        <p:spPr>
          <a:xfrm>
            <a:off x="9192463" y="5303520"/>
            <a:ext cx="2249424" cy="868680"/>
          </a:xfrm>
          <a:prstGeom prst="rect">
            <a:avLst/>
          </a:prstGeom>
          <a:noFill/>
          <a:ln/>
        </p:spPr>
        <p:txBody>
          <a:bodyPr wrap="square" lIns="0" tIns="0" rIns="0" bIns="0" rtlCol="0" anchor="t"/>
          <a:lstStyle/>
          <a:p>
            <a:pPr marL="0" indent="0">
              <a:buNone/>
            </a:pPr>
            <a:r>
              <a:rPr lang="en-US" sz="1300" dirty="0">
                <a:solidFill>
                  <a:schemeClr val="tx1"/>
                </a:solidFill>
              </a:rPr>
              <a:t>Recomputes hash chains against anchors and names the edited record.</a:t>
            </a:r>
            <a:endParaRPr lang="en-US" sz="1300" dirty="0"/>
          </a:p>
        </p:txBody>
      </p:sp>
      <p:sp>
        <p:nvSpPr>
          <p:cNvPr id="46" name="Slide Number Placeholder 0"/>
          <p:cNvSpPr>
            <a:spLocks noGrp="1"/>
          </p:cNvSpPr>
          <p:nvPr>
            <p:ph type="sldNum" sz="quarter" idx="4294967295"/>
          </p:nvPr>
        </p:nvSpPr>
        <p:spPr>
          <a:xfrm>
            <a:off x="10881360" y="6455664"/>
            <a:ext cx="758952" cy="237744"/>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marL="0" indent="0">
              <a:buNone/>
            </a:pPr>
            <a:r>
              <a:rPr lang="en-US" sz="1200" b="1" kern="0" spc="300" dirty="0">
                <a:solidFill>
                  <a:schemeClr val="accent1"/>
                </a:solidFill>
              </a:rPr>
              <a:t>04  |  INNOVATION AND UNIQUE VALUE PROPOSITION</a:t>
            </a:r>
            <a:endParaRPr lang="en-US" sz="1200" dirty="0"/>
          </a:p>
        </p:txBody>
      </p:sp>
      <p:sp>
        <p:nvSpPr>
          <p:cNvPr id="3" name="Text 1"/>
          <p:cNvSpPr>
            <a:spLocks noGrp="1"/>
          </p:cNvSpPr>
          <p:nvPr>
            <p:ph type="title" idx="101" hasCustomPrompt="1"/>
          </p:nvPr>
        </p:nvSpPr>
        <p:spPr>
          <a:xfrm>
            <a:off x="548640" y="658368"/>
            <a:ext cx="11094415" cy="731520"/>
          </a:xfrm>
          <a:prstGeom prst="rect">
            <a:avLst/>
          </a:prstGeom>
          <a:noFill/>
          <a:ln/>
        </p:spPr>
        <p:txBody>
          <a:bodyPr wrap="square" lIns="0" tIns="0" rIns="0" bIns="0" rtlCol="0" anchor="ctr"/>
          <a:lstStyle/>
          <a:p>
            <a:pPr marL="0" indent="0" algn="l">
              <a:buNone/>
            </a:pPr>
            <a:r>
              <a:rPr lang="en-US" sz="3200" b="1" dirty="0">
                <a:solidFill>
                  <a:schemeClr val="tx1"/>
                </a:solidFill>
              </a:rPr>
              <a:t>What is genuinely new</a:t>
            </a:r>
            <a:endParaRPr lang="en-US" sz="3200" dirty="0"/>
          </a:p>
        </p:txBody>
      </p:sp>
      <p:sp>
        <p:nvSpPr>
          <p:cNvPr id="4" name="Differentiator card"/>
          <p:cNvSpPr/>
          <p:nvPr/>
        </p:nvSpPr>
        <p:spPr>
          <a:xfrm>
            <a:off x="548640" y="1645920"/>
            <a:ext cx="5449824" cy="1664208"/>
          </a:xfrm>
          <a:prstGeom prst="roundRect">
            <a:avLst>
              <a:gd name="adj" fmla="val 6593"/>
            </a:avLst>
          </a:prstGeom>
          <a:solidFill>
            <a:schemeClr val="bg1"/>
          </a:solidFill>
          <a:ln/>
          <a:effectLst>
            <a:outerShdw blurRad="127000" dist="25400" dir="5400000" algn="bl" rotWithShape="0">
              <a:srgbClr val="0B1B2E">
                <a:alpha val="10000"/>
              </a:srgbClr>
            </a:outerShdw>
          </a:effectLst>
        </p:spPr>
      </p:sp>
      <p:sp>
        <p:nvSpPr>
          <p:cNvPr id="5" name="Icon circle"/>
          <p:cNvSpPr/>
          <p:nvPr/>
        </p:nvSpPr>
        <p:spPr>
          <a:xfrm>
            <a:off x="822960" y="1938528"/>
            <a:ext cx="731520" cy="731520"/>
          </a:xfrm>
          <a:prstGeom prst="ellipse">
            <a:avLst/>
          </a:prstGeom>
          <a:solidFill>
            <a:srgbClr val="D64550"/>
          </a:solidFill>
          <a:ln/>
        </p:spPr>
      </p:sp>
      <p:pic>
        <p:nvPicPr>
          <p:cNvPr id="6" name="Image 0" descr="Ban icon"/>
          <p:cNvPicPr>
            <a:picLocks noChangeAspect="1"/>
          </p:cNvPicPr>
          <p:nvPr/>
        </p:nvPicPr>
        <p:blipFill>
          <a:blip r:embed="rId3"/>
          <a:stretch>
            <a:fillRect/>
          </a:stretch>
        </p:blipFill>
        <p:spPr>
          <a:xfrm>
            <a:off x="1013155" y="2128723"/>
            <a:ext cx="351130" cy="351130"/>
          </a:xfrm>
          <a:prstGeom prst="rect">
            <a:avLst/>
          </a:prstGeom>
        </p:spPr>
      </p:pic>
      <p:sp>
        <p:nvSpPr>
          <p:cNvPr id="7" name="Text 4"/>
          <p:cNvSpPr txBox="1"/>
          <p:nvPr/>
        </p:nvSpPr>
        <p:spPr>
          <a:xfrm>
            <a:off x="1828800" y="1847088"/>
            <a:ext cx="3941064" cy="320040"/>
          </a:xfrm>
          <a:prstGeom prst="rect">
            <a:avLst/>
          </a:prstGeom>
          <a:noFill/>
          <a:ln/>
        </p:spPr>
        <p:txBody>
          <a:bodyPr wrap="square" lIns="0" tIns="0" rIns="0" bIns="0" rtlCol="0" anchor="t"/>
          <a:lstStyle/>
          <a:p>
            <a:pPr marL="0" indent="0">
              <a:buNone/>
            </a:pPr>
            <a:r>
              <a:rPr lang="en-US" sz="1900" b="1" dirty="0">
                <a:solidFill>
                  <a:schemeClr val="tx1"/>
                </a:solidFill>
              </a:rPr>
              <a:t>Enforcement, not just a log</a:t>
            </a:r>
            <a:endParaRPr lang="en-US" sz="1900" dirty="0"/>
          </a:p>
        </p:txBody>
      </p:sp>
      <p:sp>
        <p:nvSpPr>
          <p:cNvPr id="8" name="Text 5"/>
          <p:cNvSpPr txBox="1"/>
          <p:nvPr/>
        </p:nvSpPr>
        <p:spPr>
          <a:xfrm>
            <a:off x="1828800" y="2286000"/>
            <a:ext cx="3941064" cy="914400"/>
          </a:xfrm>
          <a:prstGeom prst="rect">
            <a:avLst/>
          </a:prstGeom>
          <a:noFill/>
          <a:ln/>
        </p:spPr>
        <p:txBody>
          <a:bodyPr wrap="square" lIns="0" tIns="0" rIns="0" bIns="0" rtlCol="0" anchor="t"/>
          <a:lstStyle/>
          <a:p>
            <a:pPr marL="0" indent="0">
              <a:buNone/>
            </a:pPr>
            <a:r>
              <a:rPr lang="en-US" sz="1400" dirty="0">
                <a:solidFill>
                  <a:schemeClr val="tx1"/>
                </a:solidFill>
              </a:rPr>
              <a:t>Withdraw in the wallet and the company’s very next request is blocked, not merely recorded.</a:t>
            </a:r>
            <a:endParaRPr lang="en-US" sz="1400" dirty="0"/>
          </a:p>
        </p:txBody>
      </p:sp>
      <p:sp>
        <p:nvSpPr>
          <p:cNvPr id="9" name="Differentiator card"/>
          <p:cNvSpPr/>
          <p:nvPr/>
        </p:nvSpPr>
        <p:spPr>
          <a:xfrm>
            <a:off x="6193231" y="1645920"/>
            <a:ext cx="5449824" cy="1664208"/>
          </a:xfrm>
          <a:prstGeom prst="roundRect">
            <a:avLst>
              <a:gd name="adj" fmla="val 6593"/>
            </a:avLst>
          </a:prstGeom>
          <a:solidFill>
            <a:schemeClr val="bg1"/>
          </a:solidFill>
          <a:ln/>
          <a:effectLst>
            <a:outerShdw blurRad="127000" dist="25400" dir="5400000" algn="bl" rotWithShape="0">
              <a:srgbClr val="0B1B2E">
                <a:alpha val="10000"/>
              </a:srgbClr>
            </a:outerShdw>
          </a:effectLst>
        </p:spPr>
      </p:sp>
      <p:sp>
        <p:nvSpPr>
          <p:cNvPr id="10" name="Icon circle"/>
          <p:cNvSpPr/>
          <p:nvPr/>
        </p:nvSpPr>
        <p:spPr>
          <a:xfrm>
            <a:off x="6467551" y="1938528"/>
            <a:ext cx="731520" cy="731520"/>
          </a:xfrm>
          <a:prstGeom prst="ellipse">
            <a:avLst/>
          </a:prstGeom>
          <a:solidFill>
            <a:srgbClr val="2F63C8"/>
          </a:solidFill>
          <a:ln/>
        </p:spPr>
      </p:sp>
      <p:pic>
        <p:nvPicPr>
          <p:cNvPr id="11" name="Image 1" descr="Search icon"/>
          <p:cNvPicPr>
            <a:picLocks noChangeAspect="1"/>
          </p:cNvPicPr>
          <p:nvPr/>
        </p:nvPicPr>
        <p:blipFill>
          <a:blip r:embed="rId4"/>
          <a:stretch>
            <a:fillRect/>
          </a:stretch>
        </p:blipFill>
        <p:spPr>
          <a:xfrm>
            <a:off x="6657746" y="2128723"/>
            <a:ext cx="351130" cy="351130"/>
          </a:xfrm>
          <a:prstGeom prst="rect">
            <a:avLst/>
          </a:prstGeom>
        </p:spPr>
      </p:pic>
      <p:sp>
        <p:nvSpPr>
          <p:cNvPr id="12" name="Text 8"/>
          <p:cNvSpPr txBox="1"/>
          <p:nvPr/>
        </p:nvSpPr>
        <p:spPr>
          <a:xfrm>
            <a:off x="7473391" y="1847088"/>
            <a:ext cx="3941064" cy="320040"/>
          </a:xfrm>
          <a:prstGeom prst="rect">
            <a:avLst/>
          </a:prstGeom>
          <a:noFill/>
          <a:ln/>
        </p:spPr>
        <p:txBody>
          <a:bodyPr wrap="square" lIns="0" tIns="0" rIns="0" bIns="0" rtlCol="0" anchor="t"/>
          <a:lstStyle/>
          <a:p>
            <a:pPr marL="0" indent="0">
              <a:buNone/>
            </a:pPr>
            <a:r>
              <a:rPr lang="en-US" sz="1900" b="1" dirty="0">
                <a:solidFill>
                  <a:schemeClr val="tx1"/>
                </a:solidFill>
              </a:rPr>
              <a:t>Proof of every access</a:t>
            </a:r>
            <a:endParaRPr lang="en-US" sz="1900" dirty="0"/>
          </a:p>
        </p:txBody>
      </p:sp>
      <p:sp>
        <p:nvSpPr>
          <p:cNvPr id="13" name="Text 9"/>
          <p:cNvSpPr txBox="1"/>
          <p:nvPr/>
        </p:nvSpPr>
        <p:spPr>
          <a:xfrm>
            <a:off x="7473391" y="2286000"/>
            <a:ext cx="3941064" cy="914400"/>
          </a:xfrm>
          <a:prstGeom prst="rect">
            <a:avLst/>
          </a:prstGeom>
          <a:noFill/>
          <a:ln/>
        </p:spPr>
        <p:txBody>
          <a:bodyPr wrap="square" lIns="0" tIns="0" rIns="0" bIns="0" rtlCol="0" anchor="t"/>
          <a:lstStyle/>
          <a:p>
            <a:pPr marL="0" indent="0">
              <a:buNone/>
            </a:pPr>
            <a:r>
              <a:rPr lang="en-US" sz="1400" dirty="0">
                <a:solidFill>
                  <a:schemeClr val="tx1"/>
                </a:solidFill>
              </a:rPr>
              <a:t>Each data use is hash-chained and anchored on chain. Citizens can verify it and the regulator can catch edited logs.</a:t>
            </a:r>
            <a:endParaRPr lang="en-US" sz="1400" dirty="0"/>
          </a:p>
        </p:txBody>
      </p:sp>
      <p:sp>
        <p:nvSpPr>
          <p:cNvPr id="14" name="Differentiator card"/>
          <p:cNvSpPr/>
          <p:nvPr/>
        </p:nvSpPr>
        <p:spPr>
          <a:xfrm>
            <a:off x="548640" y="3474720"/>
            <a:ext cx="5449824" cy="1664208"/>
          </a:xfrm>
          <a:prstGeom prst="roundRect">
            <a:avLst>
              <a:gd name="adj" fmla="val 6593"/>
            </a:avLst>
          </a:prstGeom>
          <a:solidFill>
            <a:schemeClr val="bg1"/>
          </a:solidFill>
          <a:ln/>
          <a:effectLst>
            <a:outerShdw blurRad="127000" dist="25400" dir="5400000" algn="bl" rotWithShape="0">
              <a:srgbClr val="0B1B2E">
                <a:alpha val="10000"/>
              </a:srgbClr>
            </a:outerShdw>
          </a:effectLst>
        </p:spPr>
      </p:sp>
      <p:sp>
        <p:nvSpPr>
          <p:cNvPr id="15" name="Icon circle"/>
          <p:cNvSpPr/>
          <p:nvPr/>
        </p:nvSpPr>
        <p:spPr>
          <a:xfrm>
            <a:off x="822960" y="3767328"/>
            <a:ext cx="731520" cy="731520"/>
          </a:xfrm>
          <a:prstGeom prst="ellipse">
            <a:avLst/>
          </a:prstGeom>
          <a:solidFill>
            <a:srgbClr val="0E8F83"/>
          </a:solidFill>
          <a:ln/>
        </p:spPr>
      </p:sp>
      <p:pic>
        <p:nvPicPr>
          <p:cNvPr id="16" name="Image 2" descr="FileSignature icon"/>
          <p:cNvPicPr>
            <a:picLocks noChangeAspect="1"/>
          </p:cNvPicPr>
          <p:nvPr/>
        </p:nvPicPr>
        <p:blipFill>
          <a:blip r:embed="rId5"/>
          <a:stretch>
            <a:fillRect/>
          </a:stretch>
        </p:blipFill>
        <p:spPr>
          <a:xfrm>
            <a:off x="1013155" y="3957523"/>
            <a:ext cx="351130" cy="351130"/>
          </a:xfrm>
          <a:prstGeom prst="rect">
            <a:avLst/>
          </a:prstGeom>
        </p:spPr>
      </p:pic>
      <p:sp>
        <p:nvSpPr>
          <p:cNvPr id="17" name="Text 12"/>
          <p:cNvSpPr txBox="1"/>
          <p:nvPr/>
        </p:nvSpPr>
        <p:spPr>
          <a:xfrm>
            <a:off x="1828800" y="3675888"/>
            <a:ext cx="3941064" cy="320040"/>
          </a:xfrm>
          <a:prstGeom prst="rect">
            <a:avLst/>
          </a:prstGeom>
          <a:noFill/>
          <a:ln/>
        </p:spPr>
        <p:txBody>
          <a:bodyPr wrap="square" lIns="0" tIns="0" rIns="0" bIns="0" rtlCol="0" anchor="t"/>
          <a:lstStyle/>
          <a:p>
            <a:pPr marL="0" indent="0">
              <a:buNone/>
            </a:pPr>
            <a:r>
              <a:rPr lang="en-US" sz="1900" b="1" dirty="0">
                <a:solidFill>
                  <a:schemeClr val="tx1"/>
                </a:solidFill>
              </a:rPr>
              <a:t>User-signed, shared truth</a:t>
            </a:r>
            <a:endParaRPr lang="en-US" sz="1900" dirty="0"/>
          </a:p>
        </p:txBody>
      </p:sp>
      <p:sp>
        <p:nvSpPr>
          <p:cNvPr id="18" name="Text 13"/>
          <p:cNvSpPr txBox="1"/>
          <p:nvPr/>
        </p:nvSpPr>
        <p:spPr>
          <a:xfrm>
            <a:off x="1828800" y="4114800"/>
            <a:ext cx="3941064" cy="914400"/>
          </a:xfrm>
          <a:prstGeom prst="rect">
            <a:avLst/>
          </a:prstGeom>
          <a:noFill/>
          <a:ln/>
        </p:spPr>
        <p:txBody>
          <a:bodyPr wrap="square" lIns="0" tIns="0" rIns="0" bIns="0" rtlCol="0" anchor="t"/>
          <a:lstStyle/>
          <a:p>
            <a:pPr marL="0" indent="0">
              <a:buNone/>
            </a:pPr>
            <a:r>
              <a:rPr lang="en-US" sz="1400" dirty="0">
                <a:solidFill>
                  <a:schemeClr val="tx1"/>
                </a:solidFill>
              </a:rPr>
              <a:t>The company cannot forge a “yes” or deny a “no”. Neither side owns the record.</a:t>
            </a:r>
            <a:endParaRPr lang="en-US" sz="1400" dirty="0"/>
          </a:p>
        </p:txBody>
      </p:sp>
      <p:sp>
        <p:nvSpPr>
          <p:cNvPr id="19" name="Differentiator card"/>
          <p:cNvSpPr/>
          <p:nvPr/>
        </p:nvSpPr>
        <p:spPr>
          <a:xfrm>
            <a:off x="6193231" y="3474720"/>
            <a:ext cx="5449824" cy="1664208"/>
          </a:xfrm>
          <a:prstGeom prst="roundRect">
            <a:avLst>
              <a:gd name="adj" fmla="val 6593"/>
            </a:avLst>
          </a:prstGeom>
          <a:solidFill>
            <a:schemeClr val="bg1"/>
          </a:solidFill>
          <a:ln/>
          <a:effectLst>
            <a:outerShdw blurRad="127000" dist="25400" dir="5400000" algn="bl" rotWithShape="0">
              <a:srgbClr val="0B1B2E">
                <a:alpha val="10000"/>
              </a:srgbClr>
            </a:outerShdw>
          </a:effectLst>
        </p:spPr>
      </p:sp>
      <p:sp>
        <p:nvSpPr>
          <p:cNvPr id="20" name="Icon circle"/>
          <p:cNvSpPr/>
          <p:nvPr/>
        </p:nvSpPr>
        <p:spPr>
          <a:xfrm>
            <a:off x="6467551" y="3767328"/>
            <a:ext cx="731520" cy="731520"/>
          </a:xfrm>
          <a:prstGeom prst="ellipse">
            <a:avLst/>
          </a:prstGeom>
          <a:solidFill>
            <a:srgbClr val="6D4FD0"/>
          </a:solidFill>
          <a:ln/>
        </p:spPr>
      </p:sp>
      <p:pic>
        <p:nvPicPr>
          <p:cNvPr id="21" name="Image 3" descr="EyeSlash icon"/>
          <p:cNvPicPr>
            <a:picLocks noChangeAspect="1"/>
          </p:cNvPicPr>
          <p:nvPr/>
        </p:nvPicPr>
        <p:blipFill>
          <a:blip r:embed="rId6"/>
          <a:stretch>
            <a:fillRect/>
          </a:stretch>
        </p:blipFill>
        <p:spPr>
          <a:xfrm>
            <a:off x="6657746" y="3957523"/>
            <a:ext cx="351130" cy="351130"/>
          </a:xfrm>
          <a:prstGeom prst="rect">
            <a:avLst/>
          </a:prstGeom>
        </p:spPr>
      </p:pic>
      <p:sp>
        <p:nvSpPr>
          <p:cNvPr id="22" name="Text 16"/>
          <p:cNvSpPr txBox="1"/>
          <p:nvPr/>
        </p:nvSpPr>
        <p:spPr>
          <a:xfrm>
            <a:off x="7473391" y="3675888"/>
            <a:ext cx="3941064" cy="320040"/>
          </a:xfrm>
          <a:prstGeom prst="rect">
            <a:avLst/>
          </a:prstGeom>
          <a:noFill/>
          <a:ln/>
        </p:spPr>
        <p:txBody>
          <a:bodyPr wrap="square" lIns="0" tIns="0" rIns="0" bIns="0" rtlCol="0" anchor="t"/>
          <a:lstStyle/>
          <a:p>
            <a:pPr marL="0" indent="0">
              <a:buNone/>
            </a:pPr>
            <a:r>
              <a:rPr lang="en-US" sz="1900" b="1" dirty="0">
                <a:solidFill>
                  <a:schemeClr val="tx1"/>
                </a:solidFill>
              </a:rPr>
              <a:t>Use without reading</a:t>
            </a:r>
            <a:endParaRPr lang="en-US" sz="1900" dirty="0"/>
          </a:p>
        </p:txBody>
      </p:sp>
      <p:sp>
        <p:nvSpPr>
          <p:cNvPr id="23" name="Text 17"/>
          <p:cNvSpPr txBox="1"/>
          <p:nvPr/>
        </p:nvSpPr>
        <p:spPr>
          <a:xfrm>
            <a:off x="7473391" y="4114800"/>
            <a:ext cx="3941064" cy="914400"/>
          </a:xfrm>
          <a:prstGeom prst="rect">
            <a:avLst/>
          </a:prstGeom>
          <a:noFill/>
          <a:ln/>
        </p:spPr>
        <p:txBody>
          <a:bodyPr wrap="square" lIns="0" tIns="0" rIns="0" bIns="0" rtlCol="0" anchor="t"/>
          <a:lstStyle/>
          <a:p>
            <a:pPr marL="0" indent="0">
              <a:buNone/>
            </a:pPr>
            <a:r>
              <a:rPr lang="en-US" sz="1400" dirty="0">
                <a:solidFill>
                  <a:schemeClr val="tx1"/>
                </a:solidFill>
              </a:rPr>
              <a:t>The company gets a decision from data it never sees. Withdraw and the data is erased, not just locked.</a:t>
            </a:r>
            <a:endParaRPr lang="en-US" sz="1400" dirty="0"/>
          </a:p>
        </p:txBody>
      </p:sp>
      <p:sp>
        <p:nvSpPr>
          <p:cNvPr id="24" name="USP banner"/>
          <p:cNvSpPr/>
          <p:nvPr/>
        </p:nvSpPr>
        <p:spPr>
          <a:xfrm>
            <a:off x="548640" y="5394960"/>
            <a:ext cx="11094415" cy="868680"/>
          </a:xfrm>
          <a:prstGeom prst="roundRect">
            <a:avLst>
              <a:gd name="adj" fmla="val 14737"/>
            </a:avLst>
          </a:prstGeom>
          <a:solidFill>
            <a:schemeClr val="tx1"/>
          </a:solidFill>
          <a:ln/>
        </p:spPr>
      </p:sp>
      <p:sp>
        <p:nvSpPr>
          <p:cNvPr id="25" name="Text 19"/>
          <p:cNvSpPr txBox="1"/>
          <p:nvPr/>
        </p:nvSpPr>
        <p:spPr>
          <a:xfrm>
            <a:off x="868680" y="5559552"/>
            <a:ext cx="1280160" cy="274320"/>
          </a:xfrm>
          <a:prstGeom prst="rect">
            <a:avLst/>
          </a:prstGeom>
          <a:noFill/>
          <a:ln/>
        </p:spPr>
        <p:txBody>
          <a:bodyPr wrap="square" lIns="0" tIns="0" rIns="0" bIns="0" rtlCol="0" anchor="t"/>
          <a:lstStyle/>
          <a:p>
            <a:pPr marL="0" indent="0">
              <a:buNone/>
            </a:pPr>
            <a:r>
              <a:rPr lang="en-US" sz="1200" b="1" kern="0" spc="300" dirty="0">
                <a:solidFill>
                  <a:schemeClr val="accent2"/>
                </a:solidFill>
              </a:rPr>
              <a:t>OUR USP</a:t>
            </a:r>
            <a:endParaRPr lang="en-US" sz="1200" dirty="0"/>
          </a:p>
        </p:txBody>
      </p:sp>
      <p:sp>
        <p:nvSpPr>
          <p:cNvPr id="26" name="Text 20"/>
          <p:cNvSpPr txBox="1"/>
          <p:nvPr/>
        </p:nvSpPr>
        <p:spPr>
          <a:xfrm>
            <a:off x="868680" y="5833872"/>
            <a:ext cx="10515600" cy="365760"/>
          </a:xfrm>
          <a:prstGeom prst="rect">
            <a:avLst/>
          </a:prstGeom>
          <a:noFill/>
          <a:ln/>
        </p:spPr>
        <p:txBody>
          <a:bodyPr wrap="square" lIns="0" tIns="0" rIns="0" bIns="0" rtlCol="0" anchor="t"/>
          <a:lstStyle/>
          <a:p>
            <a:pPr marL="0" indent="0">
              <a:buNone/>
            </a:pPr>
            <a:r>
              <a:rPr lang="en-US" sz="2000" b="1" dirty="0">
                <a:solidFill>
                  <a:schemeClr val="bg1"/>
                </a:solidFill>
              </a:rPr>
              <a:t>UPI made payments simple and trustworthy. Sammati does that for consent.</a:t>
            </a:r>
            <a:endParaRPr lang="en-US" sz="2000" dirty="0"/>
          </a:p>
        </p:txBody>
      </p:sp>
      <p:sp>
        <p:nvSpPr>
          <p:cNvPr id="27" name="Slide Number Placeholder 0"/>
          <p:cNvSpPr>
            <a:spLocks noGrp="1"/>
          </p:cNvSpPr>
          <p:nvPr>
            <p:ph type="sldNum" sz="quarter" idx="4294967295"/>
          </p:nvPr>
        </p:nvSpPr>
        <p:spPr>
          <a:xfrm>
            <a:off x="10881360" y="6455664"/>
            <a:ext cx="758952" cy="237744"/>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marL="0" indent="0">
              <a:buNone/>
            </a:pPr>
            <a:r>
              <a:rPr lang="en-US" sz="1200" b="1" kern="0" spc="300" dirty="0">
                <a:solidFill>
                  <a:schemeClr val="accent1"/>
                </a:solidFill>
              </a:rPr>
              <a:t>05  |  HOW THE SOLUTION WORKS</a:t>
            </a:r>
            <a:endParaRPr lang="en-US" sz="1200" dirty="0"/>
          </a:p>
        </p:txBody>
      </p:sp>
      <p:sp>
        <p:nvSpPr>
          <p:cNvPr id="3" name="Text 1"/>
          <p:cNvSpPr>
            <a:spLocks noGrp="1"/>
          </p:cNvSpPr>
          <p:nvPr>
            <p:ph type="title" idx="101" hasCustomPrompt="1"/>
          </p:nvPr>
        </p:nvSpPr>
        <p:spPr>
          <a:xfrm>
            <a:off x="548640" y="658368"/>
            <a:ext cx="11094415" cy="731520"/>
          </a:xfrm>
          <a:prstGeom prst="rect">
            <a:avLst/>
          </a:prstGeom>
          <a:noFill/>
          <a:ln/>
        </p:spPr>
        <p:txBody>
          <a:bodyPr wrap="square" lIns="0" tIns="0" rIns="0" bIns="0" rtlCol="0" anchor="ctr"/>
          <a:lstStyle/>
          <a:p>
            <a:pPr marL="0" indent="0" algn="l">
              <a:buNone/>
            </a:pPr>
            <a:r>
              <a:rPr lang="en-US" sz="3200" b="1" dirty="0">
                <a:solidFill>
                  <a:schemeClr val="tx1"/>
                </a:solidFill>
              </a:rPr>
              <a:t>One journey, five steps, every step provable</a:t>
            </a:r>
            <a:endParaRPr lang="en-US" sz="3200" dirty="0"/>
          </a:p>
        </p:txBody>
      </p:sp>
      <p:sp>
        <p:nvSpPr>
          <p:cNvPr id="4" name="Journey step"/>
          <p:cNvSpPr/>
          <p:nvPr/>
        </p:nvSpPr>
        <p:spPr>
          <a:xfrm>
            <a:off x="548640" y="1645920"/>
            <a:ext cx="1993392" cy="2926080"/>
          </a:xfrm>
          <a:prstGeom prst="roundRect">
            <a:avLst>
              <a:gd name="adj" fmla="val 5505"/>
            </a:avLst>
          </a:prstGeom>
          <a:solidFill>
            <a:schemeClr val="bg1"/>
          </a:solidFill>
          <a:ln/>
          <a:effectLst>
            <a:outerShdw blurRad="127000" dist="25400" dir="5400000" algn="bl" rotWithShape="0">
              <a:srgbClr val="0B1B2E">
                <a:alpha val="10000"/>
              </a:srgbClr>
            </a:outerShdw>
          </a:effectLst>
        </p:spPr>
      </p:sp>
      <p:sp>
        <p:nvSpPr>
          <p:cNvPr id="5" name="Icon circle"/>
          <p:cNvSpPr/>
          <p:nvPr/>
        </p:nvSpPr>
        <p:spPr>
          <a:xfrm>
            <a:off x="749808" y="1828800"/>
            <a:ext cx="640080" cy="640080"/>
          </a:xfrm>
          <a:prstGeom prst="ellipse">
            <a:avLst/>
          </a:prstGeom>
          <a:solidFill>
            <a:srgbClr val="0E8F83"/>
          </a:solidFill>
          <a:ln/>
        </p:spPr>
      </p:sp>
      <p:pic>
        <p:nvPicPr>
          <p:cNvPr id="6" name="Image 0" descr="Qrcode icon"/>
          <p:cNvPicPr>
            <a:picLocks noChangeAspect="1"/>
          </p:cNvPicPr>
          <p:nvPr/>
        </p:nvPicPr>
        <p:blipFill>
          <a:blip r:embed="rId3"/>
          <a:stretch>
            <a:fillRect/>
          </a:stretch>
        </p:blipFill>
        <p:spPr>
          <a:xfrm>
            <a:off x="916229" y="1995221"/>
            <a:ext cx="307238" cy="307238"/>
          </a:xfrm>
          <a:prstGeom prst="rect">
            <a:avLst/>
          </a:prstGeom>
        </p:spPr>
      </p:pic>
      <p:sp>
        <p:nvSpPr>
          <p:cNvPr id="7" name="Text 4"/>
          <p:cNvSpPr txBox="1"/>
          <p:nvPr/>
        </p:nvSpPr>
        <p:spPr>
          <a:xfrm>
            <a:off x="1975104" y="1828800"/>
            <a:ext cx="365760" cy="365760"/>
          </a:xfrm>
          <a:prstGeom prst="rect">
            <a:avLst/>
          </a:prstGeom>
          <a:noFill/>
          <a:ln/>
        </p:spPr>
        <p:txBody>
          <a:bodyPr wrap="square" lIns="0" tIns="0" rIns="0" bIns="0" rtlCol="0" anchor="t"/>
          <a:lstStyle/>
          <a:p>
            <a:pPr marL="0" indent="0" algn="r">
              <a:buNone/>
            </a:pPr>
            <a:r>
              <a:rPr lang="en-US" sz="2400" b="1" dirty="0">
                <a:solidFill>
                  <a:schemeClr val="accent6"/>
                </a:solidFill>
                <a:latin typeface="+mj-lt" pitchFamily="34" charset="0"/>
                <a:ea typeface="+mj-lt" pitchFamily="34" charset="-122"/>
                <a:cs typeface="+mj-lt" pitchFamily="34" charset="-120"/>
              </a:rPr>
              <a:t>1</a:t>
            </a:r>
            <a:endParaRPr lang="en-US" sz="2400" dirty="0"/>
          </a:p>
        </p:txBody>
      </p:sp>
      <p:sp>
        <p:nvSpPr>
          <p:cNvPr id="8" name="Text 5"/>
          <p:cNvSpPr txBox="1"/>
          <p:nvPr/>
        </p:nvSpPr>
        <p:spPr>
          <a:xfrm>
            <a:off x="749808" y="2633472"/>
            <a:ext cx="1627632" cy="320040"/>
          </a:xfrm>
          <a:prstGeom prst="rect">
            <a:avLst/>
          </a:prstGeom>
          <a:noFill/>
          <a:ln/>
        </p:spPr>
        <p:txBody>
          <a:bodyPr wrap="square" lIns="0" tIns="0" rIns="0" bIns="0" rtlCol="0" anchor="t"/>
          <a:lstStyle/>
          <a:p>
            <a:pPr marL="0" indent="0">
              <a:buNone/>
            </a:pPr>
            <a:r>
              <a:rPr lang="en-US" sz="1800" b="1" dirty="0">
                <a:solidFill>
                  <a:schemeClr val="tx1"/>
                </a:solidFill>
              </a:rPr>
              <a:t>Scan and choose</a:t>
            </a:r>
            <a:endParaRPr lang="en-US" sz="1800" dirty="0"/>
          </a:p>
        </p:txBody>
      </p:sp>
      <p:sp>
        <p:nvSpPr>
          <p:cNvPr id="9" name="Text 6"/>
          <p:cNvSpPr txBox="1"/>
          <p:nvPr/>
        </p:nvSpPr>
        <p:spPr>
          <a:xfrm>
            <a:off x="749808" y="3063240"/>
            <a:ext cx="1627632" cy="1463040"/>
          </a:xfrm>
          <a:prstGeom prst="rect">
            <a:avLst/>
          </a:prstGeom>
          <a:noFill/>
          <a:ln/>
        </p:spPr>
        <p:txBody>
          <a:bodyPr wrap="square" lIns="0" tIns="0" rIns="0" bIns="0" rtlCol="0" anchor="t"/>
          <a:lstStyle/>
          <a:p>
            <a:pPr marL="0" indent="0">
              <a:buNone/>
            </a:pPr>
            <a:r>
              <a:rPr lang="en-US" sz="1300" dirty="0">
                <a:solidFill>
                  <a:schemeClr val="tx1"/>
                </a:solidFill>
              </a:rPr>
              <a:t>Citizen scans the company QR and reads an itemised notice. One toggle per purpose, nothing pre-ticked.</a:t>
            </a:r>
            <a:endParaRPr lang="en-US" sz="1300" dirty="0"/>
          </a:p>
        </p:txBody>
      </p:sp>
      <p:sp>
        <p:nvSpPr>
          <p:cNvPr id="10" name="Flow arrow"/>
          <p:cNvSpPr/>
          <p:nvPr/>
        </p:nvSpPr>
        <p:spPr>
          <a:xfrm>
            <a:off x="2578608" y="2011680"/>
            <a:ext cx="201168" cy="274320"/>
          </a:xfrm>
          <a:prstGeom prst="rightArrow">
            <a:avLst/>
          </a:prstGeom>
          <a:solidFill>
            <a:srgbClr val="F2A33A"/>
          </a:solidFill>
          <a:ln/>
        </p:spPr>
      </p:sp>
      <p:sp>
        <p:nvSpPr>
          <p:cNvPr id="11" name="Journey step"/>
          <p:cNvSpPr/>
          <p:nvPr/>
        </p:nvSpPr>
        <p:spPr>
          <a:xfrm>
            <a:off x="2816352" y="1645920"/>
            <a:ext cx="1993392" cy="2926080"/>
          </a:xfrm>
          <a:prstGeom prst="roundRect">
            <a:avLst>
              <a:gd name="adj" fmla="val 5505"/>
            </a:avLst>
          </a:prstGeom>
          <a:solidFill>
            <a:schemeClr val="bg1"/>
          </a:solidFill>
          <a:ln/>
          <a:effectLst>
            <a:outerShdw blurRad="127000" dist="25400" dir="5400000" algn="bl" rotWithShape="0">
              <a:srgbClr val="0B1B2E">
                <a:alpha val="10000"/>
              </a:srgbClr>
            </a:outerShdw>
          </a:effectLst>
        </p:spPr>
      </p:sp>
      <p:sp>
        <p:nvSpPr>
          <p:cNvPr id="12" name="Icon circle"/>
          <p:cNvSpPr/>
          <p:nvPr/>
        </p:nvSpPr>
        <p:spPr>
          <a:xfrm>
            <a:off x="3017520" y="1828800"/>
            <a:ext cx="640080" cy="640080"/>
          </a:xfrm>
          <a:prstGeom prst="ellipse">
            <a:avLst/>
          </a:prstGeom>
          <a:solidFill>
            <a:srgbClr val="2F63C8"/>
          </a:solidFill>
          <a:ln/>
        </p:spPr>
      </p:sp>
      <p:pic>
        <p:nvPicPr>
          <p:cNvPr id="13" name="Image 1" descr="Fingerprint icon"/>
          <p:cNvPicPr>
            <a:picLocks noChangeAspect="1"/>
          </p:cNvPicPr>
          <p:nvPr/>
        </p:nvPicPr>
        <p:blipFill>
          <a:blip r:embed="rId4"/>
          <a:stretch>
            <a:fillRect/>
          </a:stretch>
        </p:blipFill>
        <p:spPr>
          <a:xfrm>
            <a:off x="3183941" y="1995221"/>
            <a:ext cx="307238" cy="307238"/>
          </a:xfrm>
          <a:prstGeom prst="rect">
            <a:avLst/>
          </a:prstGeom>
        </p:spPr>
      </p:pic>
      <p:sp>
        <p:nvSpPr>
          <p:cNvPr id="14" name="Text 10"/>
          <p:cNvSpPr txBox="1"/>
          <p:nvPr/>
        </p:nvSpPr>
        <p:spPr>
          <a:xfrm>
            <a:off x="4242816" y="1828800"/>
            <a:ext cx="365760" cy="365760"/>
          </a:xfrm>
          <a:prstGeom prst="rect">
            <a:avLst/>
          </a:prstGeom>
          <a:noFill/>
          <a:ln/>
        </p:spPr>
        <p:txBody>
          <a:bodyPr wrap="square" lIns="0" tIns="0" rIns="0" bIns="0" rtlCol="0" anchor="t"/>
          <a:lstStyle/>
          <a:p>
            <a:pPr marL="0" indent="0" algn="r">
              <a:buNone/>
            </a:pPr>
            <a:r>
              <a:rPr lang="en-US" sz="2400" b="1" dirty="0">
                <a:solidFill>
                  <a:schemeClr val="accent6"/>
                </a:solidFill>
                <a:latin typeface="+mj-lt" pitchFamily="34" charset="0"/>
                <a:ea typeface="+mj-lt" pitchFamily="34" charset="-122"/>
                <a:cs typeface="+mj-lt" pitchFamily="34" charset="-120"/>
              </a:rPr>
              <a:t>2</a:t>
            </a:r>
            <a:endParaRPr lang="en-US" sz="2400" dirty="0"/>
          </a:p>
        </p:txBody>
      </p:sp>
      <p:sp>
        <p:nvSpPr>
          <p:cNvPr id="15" name="Text 11"/>
          <p:cNvSpPr txBox="1"/>
          <p:nvPr/>
        </p:nvSpPr>
        <p:spPr>
          <a:xfrm>
            <a:off x="3017520" y="2633472"/>
            <a:ext cx="1627632" cy="320040"/>
          </a:xfrm>
          <a:prstGeom prst="rect">
            <a:avLst/>
          </a:prstGeom>
          <a:noFill/>
          <a:ln/>
        </p:spPr>
        <p:txBody>
          <a:bodyPr wrap="square" lIns="0" tIns="0" rIns="0" bIns="0" rtlCol="0" anchor="t"/>
          <a:lstStyle/>
          <a:p>
            <a:pPr marL="0" indent="0">
              <a:buNone/>
            </a:pPr>
            <a:r>
              <a:rPr lang="en-US" sz="1800" b="1" dirty="0">
                <a:solidFill>
                  <a:schemeClr val="tx1"/>
                </a:solidFill>
              </a:rPr>
              <a:t>Sign</a:t>
            </a:r>
            <a:endParaRPr lang="en-US" sz="1800" dirty="0"/>
          </a:p>
        </p:txBody>
      </p:sp>
      <p:sp>
        <p:nvSpPr>
          <p:cNvPr id="16" name="Text 12"/>
          <p:cNvSpPr txBox="1"/>
          <p:nvPr/>
        </p:nvSpPr>
        <p:spPr>
          <a:xfrm>
            <a:off x="3017520" y="3063240"/>
            <a:ext cx="1627632" cy="1463040"/>
          </a:xfrm>
          <a:prstGeom prst="rect">
            <a:avLst/>
          </a:prstGeom>
          <a:noFill/>
          <a:ln/>
        </p:spPr>
        <p:txBody>
          <a:bodyPr wrap="square" lIns="0" tIns="0" rIns="0" bIns="0" rtlCol="0" anchor="t"/>
          <a:lstStyle/>
          <a:p>
            <a:pPr marL="0" indent="0">
              <a:buNone/>
            </a:pPr>
            <a:r>
              <a:rPr lang="en-US" sz="1300" dirty="0">
                <a:solidFill>
                  <a:schemeClr val="tx1"/>
                </a:solidFill>
              </a:rPr>
              <a:t>The wallet signs an EIP‑712 message with the device key. A relayer pays gas, so the user never does.</a:t>
            </a:r>
            <a:endParaRPr lang="en-US" sz="1300" dirty="0"/>
          </a:p>
        </p:txBody>
      </p:sp>
      <p:sp>
        <p:nvSpPr>
          <p:cNvPr id="17" name="Flow arrow"/>
          <p:cNvSpPr/>
          <p:nvPr/>
        </p:nvSpPr>
        <p:spPr>
          <a:xfrm>
            <a:off x="4846320" y="2011680"/>
            <a:ext cx="201168" cy="274320"/>
          </a:xfrm>
          <a:prstGeom prst="rightArrow">
            <a:avLst/>
          </a:prstGeom>
          <a:solidFill>
            <a:srgbClr val="F2A33A"/>
          </a:solidFill>
          <a:ln/>
        </p:spPr>
      </p:sp>
      <p:sp>
        <p:nvSpPr>
          <p:cNvPr id="18" name="Journey step"/>
          <p:cNvSpPr/>
          <p:nvPr/>
        </p:nvSpPr>
        <p:spPr>
          <a:xfrm>
            <a:off x="5084064" y="1645920"/>
            <a:ext cx="1993392" cy="2926080"/>
          </a:xfrm>
          <a:prstGeom prst="roundRect">
            <a:avLst>
              <a:gd name="adj" fmla="val 5505"/>
            </a:avLst>
          </a:prstGeom>
          <a:solidFill>
            <a:schemeClr val="bg1"/>
          </a:solidFill>
          <a:ln/>
          <a:effectLst>
            <a:outerShdw blurRad="127000" dist="25400" dir="5400000" algn="bl" rotWithShape="0">
              <a:srgbClr val="0B1B2E">
                <a:alpha val="10000"/>
              </a:srgbClr>
            </a:outerShdw>
          </a:effectLst>
        </p:spPr>
      </p:sp>
      <p:sp>
        <p:nvSpPr>
          <p:cNvPr id="19" name="Icon circle"/>
          <p:cNvSpPr/>
          <p:nvPr/>
        </p:nvSpPr>
        <p:spPr>
          <a:xfrm>
            <a:off x="5285232" y="1828800"/>
            <a:ext cx="640080" cy="640080"/>
          </a:xfrm>
          <a:prstGeom prst="ellipse">
            <a:avLst/>
          </a:prstGeom>
          <a:solidFill>
            <a:srgbClr val="F2A33A"/>
          </a:solidFill>
          <a:ln/>
        </p:spPr>
      </p:sp>
      <p:pic>
        <p:nvPicPr>
          <p:cNvPr id="20" name="Image 2" descr="ShieldAlt icon"/>
          <p:cNvPicPr>
            <a:picLocks noChangeAspect="1"/>
          </p:cNvPicPr>
          <p:nvPr/>
        </p:nvPicPr>
        <p:blipFill>
          <a:blip r:embed="rId5"/>
          <a:stretch>
            <a:fillRect/>
          </a:stretch>
        </p:blipFill>
        <p:spPr>
          <a:xfrm>
            <a:off x="5451653" y="1995221"/>
            <a:ext cx="307238" cy="307238"/>
          </a:xfrm>
          <a:prstGeom prst="rect">
            <a:avLst/>
          </a:prstGeom>
        </p:spPr>
      </p:pic>
      <p:sp>
        <p:nvSpPr>
          <p:cNvPr id="21" name="Text 16"/>
          <p:cNvSpPr txBox="1"/>
          <p:nvPr/>
        </p:nvSpPr>
        <p:spPr>
          <a:xfrm>
            <a:off x="6510528" y="1828800"/>
            <a:ext cx="365760" cy="365760"/>
          </a:xfrm>
          <a:prstGeom prst="rect">
            <a:avLst/>
          </a:prstGeom>
          <a:noFill/>
          <a:ln/>
        </p:spPr>
        <p:txBody>
          <a:bodyPr wrap="square" lIns="0" tIns="0" rIns="0" bIns="0" rtlCol="0" anchor="t"/>
          <a:lstStyle/>
          <a:p>
            <a:pPr marL="0" indent="0" algn="r">
              <a:buNone/>
            </a:pPr>
            <a:r>
              <a:rPr lang="en-US" sz="2400" b="1" dirty="0">
                <a:solidFill>
                  <a:schemeClr val="accent6"/>
                </a:solidFill>
                <a:latin typeface="+mj-lt" pitchFamily="34" charset="0"/>
                <a:ea typeface="+mj-lt" pitchFamily="34" charset="-122"/>
                <a:cs typeface="+mj-lt" pitchFamily="34" charset="-120"/>
              </a:rPr>
              <a:t>3</a:t>
            </a:r>
            <a:endParaRPr lang="en-US" sz="2400" dirty="0"/>
          </a:p>
        </p:txBody>
      </p:sp>
      <p:sp>
        <p:nvSpPr>
          <p:cNvPr id="22" name="Text 17"/>
          <p:cNvSpPr txBox="1"/>
          <p:nvPr/>
        </p:nvSpPr>
        <p:spPr>
          <a:xfrm>
            <a:off x="5285232" y="2633472"/>
            <a:ext cx="1627632" cy="320040"/>
          </a:xfrm>
          <a:prstGeom prst="rect">
            <a:avLst/>
          </a:prstGeom>
          <a:noFill/>
          <a:ln/>
        </p:spPr>
        <p:txBody>
          <a:bodyPr wrap="square" lIns="0" tIns="0" rIns="0" bIns="0" rtlCol="0" anchor="t"/>
          <a:lstStyle/>
          <a:p>
            <a:pPr marL="0" indent="0">
              <a:buNone/>
            </a:pPr>
            <a:r>
              <a:rPr lang="en-US" sz="1800" b="1" dirty="0">
                <a:solidFill>
                  <a:schemeClr val="tx1"/>
                </a:solidFill>
              </a:rPr>
              <a:t>Enforce</a:t>
            </a:r>
            <a:endParaRPr lang="en-US" sz="1800" dirty="0"/>
          </a:p>
        </p:txBody>
      </p:sp>
      <p:sp>
        <p:nvSpPr>
          <p:cNvPr id="23" name="Text 18"/>
          <p:cNvSpPr txBox="1"/>
          <p:nvPr/>
        </p:nvSpPr>
        <p:spPr>
          <a:xfrm>
            <a:off x="5285232" y="3063240"/>
            <a:ext cx="1627632" cy="1463040"/>
          </a:xfrm>
          <a:prstGeom prst="rect">
            <a:avLst/>
          </a:prstGeom>
          <a:noFill/>
          <a:ln/>
        </p:spPr>
        <p:txBody>
          <a:bodyPr wrap="square" lIns="0" tIns="0" rIns="0" bIns="0" rtlCol="0" anchor="t"/>
          <a:lstStyle/>
          <a:p>
            <a:pPr marL="0" indent="0">
              <a:buNone/>
            </a:pPr>
            <a:r>
              <a:rPr lang="en-US" sz="1300" dirty="0">
                <a:solidFill>
                  <a:schemeClr val="tx1"/>
                </a:solidFill>
              </a:rPr>
              <a:t>requireConsent() checks the ledger on every call, then writes a hash-chained access log.</a:t>
            </a:r>
            <a:endParaRPr lang="en-US" sz="1300" dirty="0"/>
          </a:p>
        </p:txBody>
      </p:sp>
      <p:sp>
        <p:nvSpPr>
          <p:cNvPr id="24" name="Flow arrow"/>
          <p:cNvSpPr/>
          <p:nvPr/>
        </p:nvSpPr>
        <p:spPr>
          <a:xfrm>
            <a:off x="7114032" y="2011680"/>
            <a:ext cx="201168" cy="274320"/>
          </a:xfrm>
          <a:prstGeom prst="rightArrow">
            <a:avLst/>
          </a:prstGeom>
          <a:solidFill>
            <a:srgbClr val="F2A33A"/>
          </a:solidFill>
          <a:ln/>
        </p:spPr>
      </p:sp>
      <p:sp>
        <p:nvSpPr>
          <p:cNvPr id="25" name="Journey step"/>
          <p:cNvSpPr/>
          <p:nvPr/>
        </p:nvSpPr>
        <p:spPr>
          <a:xfrm>
            <a:off x="7351776" y="1645920"/>
            <a:ext cx="1993392" cy="2926080"/>
          </a:xfrm>
          <a:prstGeom prst="roundRect">
            <a:avLst>
              <a:gd name="adj" fmla="val 5505"/>
            </a:avLst>
          </a:prstGeom>
          <a:solidFill>
            <a:schemeClr val="bg1"/>
          </a:solidFill>
          <a:ln/>
          <a:effectLst>
            <a:outerShdw blurRad="127000" dist="25400" dir="5400000" algn="bl" rotWithShape="0">
              <a:srgbClr val="0B1B2E">
                <a:alpha val="10000"/>
              </a:srgbClr>
            </a:outerShdw>
          </a:effectLst>
        </p:spPr>
      </p:sp>
      <p:sp>
        <p:nvSpPr>
          <p:cNvPr id="26" name="Icon circle"/>
          <p:cNvSpPr/>
          <p:nvPr/>
        </p:nvSpPr>
        <p:spPr>
          <a:xfrm>
            <a:off x="7552944" y="1828800"/>
            <a:ext cx="640080" cy="640080"/>
          </a:xfrm>
          <a:prstGeom prst="ellipse">
            <a:avLst/>
          </a:prstGeom>
          <a:solidFill>
            <a:srgbClr val="D64550"/>
          </a:solidFill>
          <a:ln/>
        </p:spPr>
      </p:sp>
      <p:pic>
        <p:nvPicPr>
          <p:cNvPr id="27" name="Image 3" descr="Ban icon"/>
          <p:cNvPicPr>
            <a:picLocks noChangeAspect="1"/>
          </p:cNvPicPr>
          <p:nvPr/>
        </p:nvPicPr>
        <p:blipFill>
          <a:blip r:embed="rId6"/>
          <a:stretch>
            <a:fillRect/>
          </a:stretch>
        </p:blipFill>
        <p:spPr>
          <a:xfrm>
            <a:off x="7719365" y="1995221"/>
            <a:ext cx="307238" cy="307238"/>
          </a:xfrm>
          <a:prstGeom prst="rect">
            <a:avLst/>
          </a:prstGeom>
        </p:spPr>
      </p:pic>
      <p:sp>
        <p:nvSpPr>
          <p:cNvPr id="28" name="Text 22"/>
          <p:cNvSpPr txBox="1"/>
          <p:nvPr/>
        </p:nvSpPr>
        <p:spPr>
          <a:xfrm>
            <a:off x="8778240" y="1828800"/>
            <a:ext cx="365760" cy="365760"/>
          </a:xfrm>
          <a:prstGeom prst="rect">
            <a:avLst/>
          </a:prstGeom>
          <a:noFill/>
          <a:ln/>
        </p:spPr>
        <p:txBody>
          <a:bodyPr wrap="square" lIns="0" tIns="0" rIns="0" bIns="0" rtlCol="0" anchor="t"/>
          <a:lstStyle/>
          <a:p>
            <a:pPr marL="0" indent="0" algn="r">
              <a:buNone/>
            </a:pPr>
            <a:r>
              <a:rPr lang="en-US" sz="2400" b="1" dirty="0">
                <a:solidFill>
                  <a:schemeClr val="accent6"/>
                </a:solidFill>
                <a:latin typeface="+mj-lt" pitchFamily="34" charset="0"/>
                <a:ea typeface="+mj-lt" pitchFamily="34" charset="-122"/>
                <a:cs typeface="+mj-lt" pitchFamily="34" charset="-120"/>
              </a:rPr>
              <a:t>4</a:t>
            </a:r>
            <a:endParaRPr lang="en-US" sz="2400" dirty="0"/>
          </a:p>
        </p:txBody>
      </p:sp>
      <p:sp>
        <p:nvSpPr>
          <p:cNvPr id="29" name="Text 23"/>
          <p:cNvSpPr txBox="1"/>
          <p:nvPr/>
        </p:nvSpPr>
        <p:spPr>
          <a:xfrm>
            <a:off x="7552944" y="2633472"/>
            <a:ext cx="1627632" cy="320040"/>
          </a:xfrm>
          <a:prstGeom prst="rect">
            <a:avLst/>
          </a:prstGeom>
          <a:noFill/>
          <a:ln/>
        </p:spPr>
        <p:txBody>
          <a:bodyPr wrap="square" lIns="0" tIns="0" rIns="0" bIns="0" rtlCol="0" anchor="t"/>
          <a:lstStyle/>
          <a:p>
            <a:pPr marL="0" indent="0">
              <a:buNone/>
            </a:pPr>
            <a:r>
              <a:rPr lang="en-US" sz="1800" b="1" dirty="0">
                <a:solidFill>
                  <a:schemeClr val="tx1"/>
                </a:solidFill>
              </a:rPr>
              <a:t>Withdraw</a:t>
            </a:r>
            <a:endParaRPr lang="en-US" sz="1800" dirty="0"/>
          </a:p>
        </p:txBody>
      </p:sp>
      <p:sp>
        <p:nvSpPr>
          <p:cNvPr id="30" name="Text 24"/>
          <p:cNvSpPr txBox="1"/>
          <p:nvPr/>
        </p:nvSpPr>
        <p:spPr>
          <a:xfrm>
            <a:off x="7552944" y="3063240"/>
            <a:ext cx="1627632" cy="1463040"/>
          </a:xfrm>
          <a:prstGeom prst="rect">
            <a:avLst/>
          </a:prstGeom>
          <a:noFill/>
          <a:ln/>
        </p:spPr>
        <p:txBody>
          <a:bodyPr wrap="square" lIns="0" tIns="0" rIns="0" bIns="0" rtlCol="0" anchor="t"/>
          <a:lstStyle/>
          <a:p>
            <a:pPr marL="0" indent="0">
              <a:buNone/>
            </a:pPr>
            <a:r>
              <a:rPr lang="en-US" sz="1300" dirty="0">
                <a:solidFill>
                  <a:schemeClr val="tx1"/>
                </a:solidFill>
              </a:rPr>
              <a:t>Two taps. The next request is blocked, the sealed copy erased, processors notified and acknowledged.</a:t>
            </a:r>
            <a:endParaRPr lang="en-US" sz="1300" dirty="0"/>
          </a:p>
        </p:txBody>
      </p:sp>
      <p:sp>
        <p:nvSpPr>
          <p:cNvPr id="31" name="Flow arrow"/>
          <p:cNvSpPr/>
          <p:nvPr/>
        </p:nvSpPr>
        <p:spPr>
          <a:xfrm>
            <a:off x="9381744" y="2011680"/>
            <a:ext cx="201168" cy="274320"/>
          </a:xfrm>
          <a:prstGeom prst="rightArrow">
            <a:avLst/>
          </a:prstGeom>
          <a:solidFill>
            <a:srgbClr val="F2A33A"/>
          </a:solidFill>
          <a:ln/>
        </p:spPr>
      </p:sp>
      <p:sp>
        <p:nvSpPr>
          <p:cNvPr id="32" name="Journey step"/>
          <p:cNvSpPr/>
          <p:nvPr/>
        </p:nvSpPr>
        <p:spPr>
          <a:xfrm>
            <a:off x="9619488" y="1645920"/>
            <a:ext cx="1993392" cy="2926080"/>
          </a:xfrm>
          <a:prstGeom prst="roundRect">
            <a:avLst>
              <a:gd name="adj" fmla="val 5505"/>
            </a:avLst>
          </a:prstGeom>
          <a:solidFill>
            <a:schemeClr val="bg1"/>
          </a:solidFill>
          <a:ln/>
          <a:effectLst>
            <a:outerShdw blurRad="127000" dist="25400" dir="5400000" algn="bl" rotWithShape="0">
              <a:srgbClr val="0B1B2E">
                <a:alpha val="10000"/>
              </a:srgbClr>
            </a:outerShdw>
          </a:effectLst>
        </p:spPr>
      </p:sp>
      <p:sp>
        <p:nvSpPr>
          <p:cNvPr id="33" name="Icon circle"/>
          <p:cNvSpPr/>
          <p:nvPr/>
        </p:nvSpPr>
        <p:spPr>
          <a:xfrm>
            <a:off x="9820656" y="1828800"/>
            <a:ext cx="640080" cy="640080"/>
          </a:xfrm>
          <a:prstGeom prst="ellipse">
            <a:avLst/>
          </a:prstGeom>
          <a:solidFill>
            <a:srgbClr val="6D4FD0"/>
          </a:solidFill>
          <a:ln/>
        </p:spPr>
      </p:sp>
      <p:pic>
        <p:nvPicPr>
          <p:cNvPr id="34" name="Image 4" descr="Search icon"/>
          <p:cNvPicPr>
            <a:picLocks noChangeAspect="1"/>
          </p:cNvPicPr>
          <p:nvPr/>
        </p:nvPicPr>
        <p:blipFill>
          <a:blip r:embed="rId7"/>
          <a:stretch>
            <a:fillRect/>
          </a:stretch>
        </p:blipFill>
        <p:spPr>
          <a:xfrm>
            <a:off x="9987077" y="1995221"/>
            <a:ext cx="307238" cy="307238"/>
          </a:xfrm>
          <a:prstGeom prst="rect">
            <a:avLst/>
          </a:prstGeom>
        </p:spPr>
      </p:pic>
      <p:sp>
        <p:nvSpPr>
          <p:cNvPr id="35" name="Text 28"/>
          <p:cNvSpPr txBox="1"/>
          <p:nvPr/>
        </p:nvSpPr>
        <p:spPr>
          <a:xfrm>
            <a:off x="11045952" y="1828800"/>
            <a:ext cx="365760" cy="365760"/>
          </a:xfrm>
          <a:prstGeom prst="rect">
            <a:avLst/>
          </a:prstGeom>
          <a:noFill/>
          <a:ln/>
        </p:spPr>
        <p:txBody>
          <a:bodyPr wrap="square" lIns="0" tIns="0" rIns="0" bIns="0" rtlCol="0" anchor="t"/>
          <a:lstStyle/>
          <a:p>
            <a:pPr marL="0" indent="0" algn="r">
              <a:buNone/>
            </a:pPr>
            <a:r>
              <a:rPr lang="en-US" sz="2400" b="1" dirty="0">
                <a:solidFill>
                  <a:schemeClr val="accent6"/>
                </a:solidFill>
                <a:latin typeface="+mj-lt" pitchFamily="34" charset="0"/>
                <a:ea typeface="+mj-lt" pitchFamily="34" charset="-122"/>
                <a:cs typeface="+mj-lt" pitchFamily="34" charset="-120"/>
              </a:rPr>
              <a:t>5</a:t>
            </a:r>
            <a:endParaRPr lang="en-US" sz="2400" dirty="0"/>
          </a:p>
        </p:txBody>
      </p:sp>
      <p:sp>
        <p:nvSpPr>
          <p:cNvPr id="36" name="Text 29"/>
          <p:cNvSpPr txBox="1"/>
          <p:nvPr/>
        </p:nvSpPr>
        <p:spPr>
          <a:xfrm>
            <a:off x="9820656" y="2633472"/>
            <a:ext cx="1627632" cy="320040"/>
          </a:xfrm>
          <a:prstGeom prst="rect">
            <a:avLst/>
          </a:prstGeom>
          <a:noFill/>
          <a:ln/>
        </p:spPr>
        <p:txBody>
          <a:bodyPr wrap="square" lIns="0" tIns="0" rIns="0" bIns="0" rtlCol="0" anchor="t"/>
          <a:lstStyle/>
          <a:p>
            <a:pPr marL="0" indent="0">
              <a:buNone/>
            </a:pPr>
            <a:r>
              <a:rPr lang="en-US" sz="1800" b="1" dirty="0">
                <a:solidFill>
                  <a:schemeClr val="tx1"/>
                </a:solidFill>
              </a:rPr>
              <a:t>Audit</a:t>
            </a:r>
            <a:endParaRPr lang="en-US" sz="1800" dirty="0"/>
          </a:p>
        </p:txBody>
      </p:sp>
      <p:sp>
        <p:nvSpPr>
          <p:cNvPr id="37" name="Text 30"/>
          <p:cNvSpPr txBox="1"/>
          <p:nvPr/>
        </p:nvSpPr>
        <p:spPr>
          <a:xfrm>
            <a:off x="9820656" y="3063240"/>
            <a:ext cx="1627632" cy="1463040"/>
          </a:xfrm>
          <a:prstGeom prst="rect">
            <a:avLst/>
          </a:prstGeom>
          <a:noFill/>
          <a:ln/>
        </p:spPr>
        <p:txBody>
          <a:bodyPr wrap="square" lIns="0" tIns="0" rIns="0" bIns="0" rtlCol="0" anchor="t"/>
          <a:lstStyle/>
          <a:p>
            <a:pPr marL="0" indent="0">
              <a:buNone/>
            </a:pPr>
            <a:r>
              <a:rPr lang="en-US" sz="1300" dirty="0">
                <a:solidFill>
                  <a:schemeClr val="tx1"/>
                </a:solidFill>
              </a:rPr>
              <a:t>The auditor recomputes hash chains and Merkle roots against on-chain anchors and flags the exact record.</a:t>
            </a:r>
            <a:endParaRPr lang="en-US" sz="1300" dirty="0"/>
          </a:p>
        </p:txBody>
      </p:sp>
      <p:sp>
        <p:nvSpPr>
          <p:cNvPr id="38" name="Decision band"/>
          <p:cNvSpPr/>
          <p:nvPr/>
        </p:nvSpPr>
        <p:spPr>
          <a:xfrm>
            <a:off x="548640" y="4800600"/>
            <a:ext cx="11094415" cy="1463040"/>
          </a:xfrm>
          <a:prstGeom prst="roundRect">
            <a:avLst>
              <a:gd name="adj" fmla="val 8750"/>
            </a:avLst>
          </a:prstGeom>
          <a:solidFill>
            <a:schemeClr val="bg1"/>
          </a:solidFill>
          <a:ln w="12700">
            <a:solidFill>
              <a:srgbClr val="DCE3EA"/>
            </a:solidFill>
            <a:prstDash val="solid"/>
          </a:ln>
          <a:effectLst>
            <a:outerShdw blurRad="127000" dist="25400" dir="5400000" algn="bl" rotWithShape="0">
              <a:srgbClr val="0B1B2E">
                <a:alpha val="10000"/>
              </a:srgbClr>
            </a:outerShdw>
          </a:effectLst>
        </p:spPr>
      </p:sp>
      <p:sp>
        <p:nvSpPr>
          <p:cNvPr id="39" name="Decision diamond"/>
          <p:cNvSpPr/>
          <p:nvPr/>
        </p:nvSpPr>
        <p:spPr>
          <a:xfrm>
            <a:off x="777240" y="4937760"/>
            <a:ext cx="2651760" cy="1188720"/>
          </a:xfrm>
          <a:prstGeom prst="diamond">
            <a:avLst/>
          </a:prstGeom>
          <a:solidFill>
            <a:schemeClr val="tx1"/>
          </a:solidFill>
          <a:ln/>
        </p:spPr>
      </p:sp>
      <p:sp>
        <p:nvSpPr>
          <p:cNvPr id="40" name="Text 33"/>
          <p:cNvSpPr txBox="1"/>
          <p:nvPr/>
        </p:nvSpPr>
        <p:spPr>
          <a:xfrm>
            <a:off x="1234440" y="4937760"/>
            <a:ext cx="1737360" cy="1188720"/>
          </a:xfrm>
          <a:prstGeom prst="rect">
            <a:avLst/>
          </a:prstGeom>
          <a:noFill/>
          <a:ln/>
        </p:spPr>
        <p:txBody>
          <a:bodyPr wrap="square" lIns="0" tIns="0" rIns="0" bIns="0" rtlCol="0" anchor="ctr"/>
          <a:lstStyle/>
          <a:p>
            <a:pPr marL="0" indent="0" algn="ctr">
              <a:buNone/>
            </a:pPr>
            <a:r>
              <a:rPr lang="en-US" sz="1300" b="1" dirty="0">
                <a:solidFill>
                  <a:schemeClr val="bg1"/>
                </a:solidFill>
              </a:rPr>
              <a:t>Valid consent on the ledger?</a:t>
            </a:r>
            <a:endParaRPr lang="en-US" sz="1300" dirty="0"/>
          </a:p>
        </p:txBody>
      </p:sp>
      <p:sp>
        <p:nvSpPr>
          <p:cNvPr id="41" name="Flow arrow"/>
          <p:cNvSpPr/>
          <p:nvPr/>
        </p:nvSpPr>
        <p:spPr>
          <a:xfrm>
            <a:off x="3474720" y="5138928"/>
            <a:ext cx="320040" cy="256032"/>
          </a:xfrm>
          <a:prstGeom prst="rightArrow">
            <a:avLst/>
          </a:prstGeom>
          <a:solidFill>
            <a:srgbClr val="0E8F83"/>
          </a:solidFill>
          <a:ln/>
        </p:spPr>
      </p:sp>
      <p:sp>
        <p:nvSpPr>
          <p:cNvPr id="42" name="Flow arrow"/>
          <p:cNvSpPr/>
          <p:nvPr/>
        </p:nvSpPr>
        <p:spPr>
          <a:xfrm>
            <a:off x="3474720" y="5669280"/>
            <a:ext cx="320040" cy="256032"/>
          </a:xfrm>
          <a:prstGeom prst="rightArrow">
            <a:avLst/>
          </a:prstGeom>
          <a:solidFill>
            <a:srgbClr val="D64550"/>
          </a:solidFill>
          <a:ln/>
        </p:spPr>
      </p:sp>
      <p:sp>
        <p:nvSpPr>
          <p:cNvPr id="43" name="Yes outcome"/>
          <p:cNvSpPr/>
          <p:nvPr/>
        </p:nvSpPr>
        <p:spPr>
          <a:xfrm>
            <a:off x="3886200" y="5029200"/>
            <a:ext cx="4114800" cy="457200"/>
          </a:xfrm>
          <a:prstGeom prst="roundRect">
            <a:avLst>
              <a:gd name="adj" fmla="val 20000"/>
            </a:avLst>
          </a:prstGeom>
          <a:solidFill>
            <a:schemeClr val="accent1"/>
          </a:solidFill>
          <a:ln/>
        </p:spPr>
      </p:sp>
      <p:sp>
        <p:nvSpPr>
          <p:cNvPr id="44" name="Text 37"/>
          <p:cNvSpPr txBox="1"/>
          <p:nvPr/>
        </p:nvSpPr>
        <p:spPr>
          <a:xfrm>
            <a:off x="3886200" y="5029200"/>
            <a:ext cx="4114800" cy="457200"/>
          </a:xfrm>
          <a:prstGeom prst="rect">
            <a:avLst/>
          </a:prstGeom>
          <a:noFill/>
          <a:ln/>
        </p:spPr>
        <p:txBody>
          <a:bodyPr wrap="square" lIns="0" tIns="0" rIns="0" bIns="0" rtlCol="0" anchor="ctr"/>
          <a:lstStyle/>
          <a:p>
            <a:pPr marL="0" indent="0" algn="ctr">
              <a:buNone/>
            </a:pPr>
            <a:r>
              <a:rPr lang="en-US" sz="1300" b="1" dirty="0">
                <a:solidFill>
                  <a:schemeClr val="bg1"/>
                </a:solidFill>
              </a:rPr>
              <a:t>YES  |  ALLOWED: data flows, access is logged</a:t>
            </a:r>
            <a:endParaRPr lang="en-US" sz="1300" dirty="0"/>
          </a:p>
        </p:txBody>
      </p:sp>
      <p:sp>
        <p:nvSpPr>
          <p:cNvPr id="45" name="No outcome"/>
          <p:cNvSpPr/>
          <p:nvPr/>
        </p:nvSpPr>
        <p:spPr>
          <a:xfrm>
            <a:off x="3886200" y="5577840"/>
            <a:ext cx="4114800" cy="457200"/>
          </a:xfrm>
          <a:prstGeom prst="roundRect">
            <a:avLst>
              <a:gd name="adj" fmla="val 20000"/>
            </a:avLst>
          </a:prstGeom>
          <a:solidFill>
            <a:schemeClr val="accent4"/>
          </a:solidFill>
          <a:ln/>
        </p:spPr>
      </p:sp>
      <p:sp>
        <p:nvSpPr>
          <p:cNvPr id="46" name="Text 39"/>
          <p:cNvSpPr txBox="1"/>
          <p:nvPr/>
        </p:nvSpPr>
        <p:spPr>
          <a:xfrm>
            <a:off x="3886200" y="5577840"/>
            <a:ext cx="4114800" cy="457200"/>
          </a:xfrm>
          <a:prstGeom prst="rect">
            <a:avLst/>
          </a:prstGeom>
          <a:noFill/>
          <a:ln/>
        </p:spPr>
        <p:txBody>
          <a:bodyPr wrap="square" lIns="0" tIns="0" rIns="0" bIns="0" rtlCol="0" anchor="ctr"/>
          <a:lstStyle/>
          <a:p>
            <a:pPr marL="0" indent="0" algn="ctr">
              <a:buNone/>
            </a:pPr>
            <a:r>
              <a:rPr lang="en-US" sz="1300" b="1" dirty="0">
                <a:solidFill>
                  <a:schemeClr val="bg1"/>
                </a:solidFill>
              </a:rPr>
              <a:t>NO  |  BLOCKED (HTTP 451): reason code, refusal logged</a:t>
            </a:r>
            <a:endParaRPr lang="en-US" sz="1300" dirty="0"/>
          </a:p>
        </p:txBody>
      </p:sp>
      <p:sp>
        <p:nvSpPr>
          <p:cNvPr id="47" name="Text 40"/>
          <p:cNvSpPr txBox="1"/>
          <p:nvPr/>
        </p:nvSpPr>
        <p:spPr>
          <a:xfrm>
            <a:off x="8321040" y="4983480"/>
            <a:ext cx="3108960" cy="731520"/>
          </a:xfrm>
          <a:prstGeom prst="rect">
            <a:avLst/>
          </a:prstGeom>
          <a:noFill/>
          <a:ln/>
        </p:spPr>
        <p:txBody>
          <a:bodyPr wrap="square" lIns="0" tIns="0" rIns="0" bIns="0" rtlCol="0" anchor="t"/>
          <a:lstStyle/>
          <a:p>
            <a:pPr marL="0" indent="0">
              <a:buNone/>
            </a:pPr>
            <a:r>
              <a:rPr lang="en-US" sz="1400" b="1" dirty="0">
                <a:solidFill>
                  <a:schemeClr val="tx1"/>
                </a:solidFill>
              </a:rPr>
              <a:t>Either way, the decision becomes a log entry, batched into a Merkle tree and anchored on chain.</a:t>
            </a:r>
            <a:endParaRPr lang="en-US" sz="1400" dirty="0"/>
          </a:p>
        </p:txBody>
      </p:sp>
      <p:sp>
        <p:nvSpPr>
          <p:cNvPr id="48" name="Text 41"/>
          <p:cNvSpPr txBox="1"/>
          <p:nvPr/>
        </p:nvSpPr>
        <p:spPr>
          <a:xfrm>
            <a:off x="8321040" y="5760720"/>
            <a:ext cx="3108960" cy="411480"/>
          </a:xfrm>
          <a:prstGeom prst="rect">
            <a:avLst/>
          </a:prstGeom>
          <a:noFill/>
          <a:ln/>
        </p:spPr>
        <p:txBody>
          <a:bodyPr wrap="square" lIns="0" tIns="0" rIns="0" bIns="0" rtlCol="0" anchor="t"/>
          <a:lstStyle/>
          <a:p>
            <a:pPr marL="0" indent="0">
              <a:buNone/>
            </a:pPr>
            <a:r>
              <a:rPr lang="en-US" sz="1200" dirty="0">
                <a:solidFill>
                  <a:schemeClr val="accent6"/>
                </a:solidFill>
              </a:rPr>
              <a:t>Withdrawal to block: under 1.5 s target on a local chain.</a:t>
            </a:r>
            <a:endParaRPr lang="en-US" sz="1200" dirty="0"/>
          </a:p>
        </p:txBody>
      </p:sp>
      <p:sp>
        <p:nvSpPr>
          <p:cNvPr id="49" name="Slide Number Placeholder 0"/>
          <p:cNvSpPr>
            <a:spLocks noGrp="1"/>
          </p:cNvSpPr>
          <p:nvPr>
            <p:ph type="sldNum" sz="quarter" idx="4294967295"/>
          </p:nvPr>
        </p:nvSpPr>
        <p:spPr>
          <a:xfrm>
            <a:off x="10881360" y="6455664"/>
            <a:ext cx="758952" cy="237744"/>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marL="0" indent="0">
              <a:buNone/>
            </a:pPr>
            <a:r>
              <a:rPr lang="en-US" sz="1200" b="1" kern="0" spc="300" dirty="0">
                <a:solidFill>
                  <a:schemeClr val="accent1"/>
                </a:solidFill>
              </a:rPr>
              <a:t>06  |  TECHNOLOGY STACK</a:t>
            </a:r>
            <a:endParaRPr lang="en-US" sz="1200" dirty="0"/>
          </a:p>
        </p:txBody>
      </p:sp>
      <p:sp>
        <p:nvSpPr>
          <p:cNvPr id="3" name="Text 1"/>
          <p:cNvSpPr>
            <a:spLocks noGrp="1"/>
          </p:cNvSpPr>
          <p:nvPr>
            <p:ph type="title" idx="101" hasCustomPrompt="1"/>
          </p:nvPr>
        </p:nvSpPr>
        <p:spPr>
          <a:xfrm>
            <a:off x="548640" y="658368"/>
            <a:ext cx="11094415" cy="731520"/>
          </a:xfrm>
          <a:prstGeom prst="rect">
            <a:avLst/>
          </a:prstGeom>
          <a:noFill/>
          <a:ln/>
        </p:spPr>
        <p:txBody>
          <a:bodyPr wrap="square" lIns="0" tIns="0" rIns="0" bIns="0" rtlCol="0" anchor="ctr"/>
          <a:lstStyle/>
          <a:p>
            <a:pPr marL="0" indent="0" algn="l">
              <a:buNone/>
            </a:pPr>
            <a:r>
              <a:rPr lang="en-US" sz="3200" b="1" dirty="0">
                <a:solidFill>
                  <a:schemeClr val="tx1"/>
                </a:solidFill>
              </a:rPr>
              <a:t>A stack chosen for trust and speed</a:t>
            </a:r>
            <a:endParaRPr lang="en-US" sz="3200" dirty="0"/>
          </a:p>
        </p:txBody>
      </p:sp>
      <p:sp>
        <p:nvSpPr>
          <p:cNvPr id="4" name="Stack card"/>
          <p:cNvSpPr/>
          <p:nvPr/>
        </p:nvSpPr>
        <p:spPr>
          <a:xfrm>
            <a:off x="548640" y="1645920"/>
            <a:ext cx="3566160" cy="2176272"/>
          </a:xfrm>
          <a:prstGeom prst="roundRect">
            <a:avLst>
              <a:gd name="adj" fmla="val 5042"/>
            </a:avLst>
          </a:prstGeom>
          <a:solidFill>
            <a:schemeClr val="bg1"/>
          </a:solidFill>
          <a:ln/>
          <a:effectLst>
            <a:outerShdw blurRad="127000" dist="25400" dir="5400000" algn="bl" rotWithShape="0">
              <a:srgbClr val="0B1B2E">
                <a:alpha val="10000"/>
              </a:srgbClr>
            </a:outerShdw>
          </a:effectLst>
        </p:spPr>
      </p:sp>
      <p:sp>
        <p:nvSpPr>
          <p:cNvPr id="5" name="Icon circle"/>
          <p:cNvSpPr/>
          <p:nvPr/>
        </p:nvSpPr>
        <p:spPr>
          <a:xfrm>
            <a:off x="749808" y="1828800"/>
            <a:ext cx="566928" cy="566928"/>
          </a:xfrm>
          <a:prstGeom prst="ellipse">
            <a:avLst/>
          </a:prstGeom>
          <a:solidFill>
            <a:srgbClr val="0E8F83"/>
          </a:solidFill>
          <a:ln/>
        </p:spPr>
      </p:sp>
      <p:pic>
        <p:nvPicPr>
          <p:cNvPr id="6" name="Image 0" descr="MobileAlt icon"/>
          <p:cNvPicPr>
            <a:picLocks noChangeAspect="1"/>
          </p:cNvPicPr>
          <p:nvPr/>
        </p:nvPicPr>
        <p:blipFill>
          <a:blip r:embed="rId3"/>
          <a:stretch>
            <a:fillRect/>
          </a:stretch>
        </p:blipFill>
        <p:spPr>
          <a:xfrm>
            <a:off x="897209" y="1976201"/>
            <a:ext cx="272125" cy="272125"/>
          </a:xfrm>
          <a:prstGeom prst="rect">
            <a:avLst/>
          </a:prstGeom>
        </p:spPr>
      </p:pic>
      <p:sp>
        <p:nvSpPr>
          <p:cNvPr id="7" name="Text 4"/>
          <p:cNvSpPr txBox="1"/>
          <p:nvPr/>
        </p:nvSpPr>
        <p:spPr>
          <a:xfrm>
            <a:off x="1463040" y="1938528"/>
            <a:ext cx="2468880" cy="347472"/>
          </a:xfrm>
          <a:prstGeom prst="rect">
            <a:avLst/>
          </a:prstGeom>
          <a:noFill/>
          <a:ln/>
        </p:spPr>
        <p:txBody>
          <a:bodyPr wrap="square" lIns="0" tIns="0" rIns="0" bIns="0" rtlCol="0" anchor="t"/>
          <a:lstStyle/>
          <a:p>
            <a:pPr marL="0" indent="0">
              <a:buNone/>
            </a:pPr>
            <a:r>
              <a:rPr lang="en-US" sz="1800" b="1" dirty="0">
                <a:solidFill>
                  <a:schemeClr val="tx1"/>
                </a:solidFill>
              </a:rPr>
              <a:t>Frontend</a:t>
            </a:r>
            <a:endParaRPr lang="en-US" sz="1800" dirty="0"/>
          </a:p>
        </p:txBody>
      </p:sp>
      <p:sp>
        <p:nvSpPr>
          <p:cNvPr id="8" name="Text 5"/>
          <p:cNvSpPr txBox="1"/>
          <p:nvPr/>
        </p:nvSpPr>
        <p:spPr>
          <a:xfrm>
            <a:off x="777240" y="2560320"/>
            <a:ext cx="3108960" cy="731520"/>
          </a:xfrm>
          <a:prstGeom prst="rect">
            <a:avLst/>
          </a:prstGeom>
          <a:noFill/>
          <a:ln/>
        </p:spPr>
        <p:txBody>
          <a:bodyPr wrap="square" lIns="0" tIns="0" rIns="0" bIns="0" rtlCol="0" anchor="t"/>
          <a:lstStyle/>
          <a:p>
            <a:pPr marL="0" indent="0">
              <a:buNone/>
            </a:pPr>
            <a:r>
              <a:rPr lang="en-US" sz="1300" b="1" dirty="0">
                <a:solidFill>
                  <a:schemeClr val="tx1"/>
                </a:solidFill>
              </a:rPr>
              <a:t>Flutter wallet (Dart)  |  React web apps (Vite)</a:t>
            </a:r>
            <a:endParaRPr lang="en-US" sz="1300" dirty="0"/>
          </a:p>
        </p:txBody>
      </p:sp>
      <p:sp>
        <p:nvSpPr>
          <p:cNvPr id="9" name="Text 6"/>
          <p:cNvSpPr txBox="1"/>
          <p:nvPr/>
        </p:nvSpPr>
        <p:spPr>
          <a:xfrm>
            <a:off x="777240" y="3182112"/>
            <a:ext cx="3108960" cy="548640"/>
          </a:xfrm>
          <a:prstGeom prst="rect">
            <a:avLst/>
          </a:prstGeom>
          <a:noFill/>
          <a:ln/>
        </p:spPr>
        <p:txBody>
          <a:bodyPr wrap="square" lIns="0" tIns="0" rIns="0" bIns="0" rtlCol="0" anchor="t"/>
          <a:lstStyle/>
          <a:p>
            <a:pPr marL="0" indent="0">
              <a:buNone/>
            </a:pPr>
            <a:r>
              <a:rPr lang="en-US" sz="1200" i="1" dirty="0">
                <a:solidFill>
                  <a:schemeClr val="accent6"/>
                </a:solidFill>
              </a:rPr>
              <a:t>Secure storage and biometric lock on the phone; one codebase.</a:t>
            </a:r>
            <a:endParaRPr lang="en-US" sz="1200" dirty="0"/>
          </a:p>
        </p:txBody>
      </p:sp>
      <p:sp>
        <p:nvSpPr>
          <p:cNvPr id="10" name="Stack card"/>
          <p:cNvSpPr/>
          <p:nvPr/>
        </p:nvSpPr>
        <p:spPr>
          <a:xfrm>
            <a:off x="4312768" y="1645920"/>
            <a:ext cx="3566160" cy="2176272"/>
          </a:xfrm>
          <a:prstGeom prst="roundRect">
            <a:avLst>
              <a:gd name="adj" fmla="val 5042"/>
            </a:avLst>
          </a:prstGeom>
          <a:solidFill>
            <a:schemeClr val="bg1"/>
          </a:solidFill>
          <a:ln/>
          <a:effectLst>
            <a:outerShdw blurRad="127000" dist="25400" dir="5400000" algn="bl" rotWithShape="0">
              <a:srgbClr val="0B1B2E">
                <a:alpha val="10000"/>
              </a:srgbClr>
            </a:outerShdw>
          </a:effectLst>
        </p:spPr>
      </p:sp>
      <p:sp>
        <p:nvSpPr>
          <p:cNvPr id="11" name="Icon circle"/>
          <p:cNvSpPr/>
          <p:nvPr/>
        </p:nvSpPr>
        <p:spPr>
          <a:xfrm>
            <a:off x="4513936" y="1828800"/>
            <a:ext cx="566928" cy="566928"/>
          </a:xfrm>
          <a:prstGeom prst="ellipse">
            <a:avLst/>
          </a:prstGeom>
          <a:solidFill>
            <a:srgbClr val="2F63C8"/>
          </a:solidFill>
          <a:ln/>
        </p:spPr>
      </p:sp>
      <p:pic>
        <p:nvPicPr>
          <p:cNvPr id="12" name="Image 1" descr="Server icon"/>
          <p:cNvPicPr>
            <a:picLocks noChangeAspect="1"/>
          </p:cNvPicPr>
          <p:nvPr/>
        </p:nvPicPr>
        <p:blipFill>
          <a:blip r:embed="rId4"/>
          <a:stretch>
            <a:fillRect/>
          </a:stretch>
        </p:blipFill>
        <p:spPr>
          <a:xfrm>
            <a:off x="4661337" y="1976201"/>
            <a:ext cx="272125" cy="272125"/>
          </a:xfrm>
          <a:prstGeom prst="rect">
            <a:avLst/>
          </a:prstGeom>
        </p:spPr>
      </p:pic>
      <p:sp>
        <p:nvSpPr>
          <p:cNvPr id="13" name="Text 9"/>
          <p:cNvSpPr txBox="1"/>
          <p:nvPr/>
        </p:nvSpPr>
        <p:spPr>
          <a:xfrm>
            <a:off x="5227168" y="1938528"/>
            <a:ext cx="2468880" cy="347472"/>
          </a:xfrm>
          <a:prstGeom prst="rect">
            <a:avLst/>
          </a:prstGeom>
          <a:noFill/>
          <a:ln/>
        </p:spPr>
        <p:txBody>
          <a:bodyPr wrap="square" lIns="0" tIns="0" rIns="0" bIns="0" rtlCol="0" anchor="t"/>
          <a:lstStyle/>
          <a:p>
            <a:pPr marL="0" indent="0">
              <a:buNone/>
            </a:pPr>
            <a:r>
              <a:rPr lang="en-US" sz="1800" b="1" dirty="0">
                <a:solidFill>
                  <a:schemeClr val="tx1"/>
                </a:solidFill>
              </a:rPr>
              <a:t>Backend</a:t>
            </a:r>
            <a:endParaRPr lang="en-US" sz="1800" dirty="0"/>
          </a:p>
        </p:txBody>
      </p:sp>
      <p:sp>
        <p:nvSpPr>
          <p:cNvPr id="14" name="Text 10"/>
          <p:cNvSpPr txBox="1"/>
          <p:nvPr/>
        </p:nvSpPr>
        <p:spPr>
          <a:xfrm>
            <a:off x="4541368" y="2560320"/>
            <a:ext cx="3108960" cy="731520"/>
          </a:xfrm>
          <a:prstGeom prst="rect">
            <a:avLst/>
          </a:prstGeom>
          <a:noFill/>
          <a:ln/>
        </p:spPr>
        <p:txBody>
          <a:bodyPr wrap="square" lIns="0" tIns="0" rIns="0" bIns="0" rtlCol="0" anchor="t"/>
          <a:lstStyle/>
          <a:p>
            <a:pPr marL="0" indent="0">
              <a:buNone/>
            </a:pPr>
            <a:r>
              <a:rPr lang="en-US" sz="1300" b="1" dirty="0">
                <a:solidFill>
                  <a:schemeClr val="tx1"/>
                </a:solidFill>
              </a:rPr>
              <a:t>Node.js + TypeScript  |  Express gateway SDK  |  SQLite  |  WebSocket</a:t>
            </a:r>
            <a:endParaRPr lang="en-US" sz="1300" dirty="0"/>
          </a:p>
        </p:txBody>
      </p:sp>
      <p:sp>
        <p:nvSpPr>
          <p:cNvPr id="15" name="Text 11"/>
          <p:cNvSpPr txBox="1"/>
          <p:nvPr/>
        </p:nvSpPr>
        <p:spPr>
          <a:xfrm>
            <a:off x="4541368" y="3182112"/>
            <a:ext cx="3108960" cy="548640"/>
          </a:xfrm>
          <a:prstGeom prst="rect">
            <a:avLst/>
          </a:prstGeom>
          <a:noFill/>
          <a:ln/>
        </p:spPr>
        <p:txBody>
          <a:bodyPr wrap="square" lIns="0" tIns="0" rIns="0" bIns="0" rtlCol="0" anchor="t"/>
          <a:lstStyle/>
          <a:p>
            <a:pPr marL="0" indent="0">
              <a:buNone/>
            </a:pPr>
            <a:r>
              <a:rPr lang="en-US" sz="1200" i="1" dirty="0">
                <a:solidFill>
                  <a:schemeClr val="accent6"/>
                </a:solidFill>
              </a:rPr>
              <a:t>One language end to end; middleware drops into any company backend.</a:t>
            </a:r>
            <a:endParaRPr lang="en-US" sz="1200" dirty="0"/>
          </a:p>
        </p:txBody>
      </p:sp>
      <p:sp>
        <p:nvSpPr>
          <p:cNvPr id="16" name="Stack card"/>
          <p:cNvSpPr/>
          <p:nvPr/>
        </p:nvSpPr>
        <p:spPr>
          <a:xfrm>
            <a:off x="8076895" y="1645920"/>
            <a:ext cx="3566160" cy="2176272"/>
          </a:xfrm>
          <a:prstGeom prst="roundRect">
            <a:avLst>
              <a:gd name="adj" fmla="val 5042"/>
            </a:avLst>
          </a:prstGeom>
          <a:solidFill>
            <a:schemeClr val="bg1"/>
          </a:solidFill>
          <a:ln/>
          <a:effectLst>
            <a:outerShdw blurRad="127000" dist="25400" dir="5400000" algn="bl" rotWithShape="0">
              <a:srgbClr val="0B1B2E">
                <a:alpha val="10000"/>
              </a:srgbClr>
            </a:outerShdw>
          </a:effectLst>
        </p:spPr>
      </p:sp>
      <p:sp>
        <p:nvSpPr>
          <p:cNvPr id="17" name="Icon circle"/>
          <p:cNvSpPr/>
          <p:nvPr/>
        </p:nvSpPr>
        <p:spPr>
          <a:xfrm>
            <a:off x="8278063" y="1828800"/>
            <a:ext cx="566928" cy="566928"/>
          </a:xfrm>
          <a:prstGeom prst="ellipse">
            <a:avLst/>
          </a:prstGeom>
          <a:solidFill>
            <a:srgbClr val="6D4FD0"/>
          </a:solidFill>
          <a:ln/>
        </p:spPr>
      </p:sp>
      <p:pic>
        <p:nvPicPr>
          <p:cNvPr id="18" name="Image 2" descr="Cubes icon"/>
          <p:cNvPicPr>
            <a:picLocks noChangeAspect="1"/>
          </p:cNvPicPr>
          <p:nvPr/>
        </p:nvPicPr>
        <p:blipFill>
          <a:blip r:embed="rId5"/>
          <a:stretch>
            <a:fillRect/>
          </a:stretch>
        </p:blipFill>
        <p:spPr>
          <a:xfrm>
            <a:off x="8425464" y="1976201"/>
            <a:ext cx="272125" cy="272125"/>
          </a:xfrm>
          <a:prstGeom prst="rect">
            <a:avLst/>
          </a:prstGeom>
        </p:spPr>
      </p:pic>
      <p:sp>
        <p:nvSpPr>
          <p:cNvPr id="19" name="Text 14"/>
          <p:cNvSpPr txBox="1"/>
          <p:nvPr/>
        </p:nvSpPr>
        <p:spPr>
          <a:xfrm>
            <a:off x="8991295" y="1938528"/>
            <a:ext cx="2468880" cy="347472"/>
          </a:xfrm>
          <a:prstGeom prst="rect">
            <a:avLst/>
          </a:prstGeom>
          <a:noFill/>
          <a:ln/>
        </p:spPr>
        <p:txBody>
          <a:bodyPr wrap="square" lIns="0" tIns="0" rIns="0" bIns="0" rtlCol="0" anchor="t"/>
          <a:lstStyle/>
          <a:p>
            <a:pPr marL="0" indent="0">
              <a:buNone/>
            </a:pPr>
            <a:r>
              <a:rPr lang="en-US" sz="1800" b="1" dirty="0">
                <a:solidFill>
                  <a:schemeClr val="tx1"/>
                </a:solidFill>
              </a:rPr>
              <a:t>Blockchain</a:t>
            </a:r>
            <a:endParaRPr lang="en-US" sz="1800" dirty="0"/>
          </a:p>
        </p:txBody>
      </p:sp>
      <p:sp>
        <p:nvSpPr>
          <p:cNvPr id="20" name="Text 15"/>
          <p:cNvSpPr txBox="1"/>
          <p:nvPr/>
        </p:nvSpPr>
        <p:spPr>
          <a:xfrm>
            <a:off x="8305495" y="2560320"/>
            <a:ext cx="3108960" cy="731520"/>
          </a:xfrm>
          <a:prstGeom prst="rect">
            <a:avLst/>
          </a:prstGeom>
          <a:noFill/>
          <a:ln/>
        </p:spPr>
        <p:txBody>
          <a:bodyPr wrap="square" lIns="0" tIns="0" rIns="0" bIns="0" rtlCol="0" anchor="t"/>
          <a:lstStyle/>
          <a:p>
            <a:pPr marL="0" indent="0">
              <a:buNone/>
            </a:pPr>
            <a:r>
              <a:rPr lang="en-US" sz="1300" b="1" dirty="0">
                <a:solidFill>
                  <a:schemeClr val="tx1"/>
                </a:solidFill>
              </a:rPr>
              <a:t>Solidity 0.8  |  Hardhat  |  OpenZeppelin  |  Polygon Amoy</a:t>
            </a:r>
            <a:endParaRPr lang="en-US" sz="1300" dirty="0"/>
          </a:p>
        </p:txBody>
      </p:sp>
      <p:sp>
        <p:nvSpPr>
          <p:cNvPr id="21" name="Text 16"/>
          <p:cNvSpPr txBox="1"/>
          <p:nvPr/>
        </p:nvSpPr>
        <p:spPr>
          <a:xfrm>
            <a:off x="8305495" y="3182112"/>
            <a:ext cx="3108960" cy="548640"/>
          </a:xfrm>
          <a:prstGeom prst="rect">
            <a:avLst/>
          </a:prstGeom>
          <a:noFill/>
          <a:ln/>
        </p:spPr>
        <p:txBody>
          <a:bodyPr wrap="square" lIns="0" tIns="0" rIns="0" bIns="0" rtlCol="0" anchor="t"/>
          <a:lstStyle/>
          <a:p>
            <a:pPr marL="0" indent="0">
              <a:buNone/>
            </a:pPr>
            <a:r>
              <a:rPr lang="en-US" sz="1200" i="1" dirty="0">
                <a:solidFill>
                  <a:schemeClr val="accent6"/>
                </a:solidFill>
              </a:rPr>
              <a:t>Shared state no single company owns. Hashes only, gasless for users.</a:t>
            </a:r>
            <a:endParaRPr lang="en-US" sz="1200" dirty="0"/>
          </a:p>
        </p:txBody>
      </p:sp>
      <p:sp>
        <p:nvSpPr>
          <p:cNvPr id="22" name="Stack card"/>
          <p:cNvSpPr/>
          <p:nvPr/>
        </p:nvSpPr>
        <p:spPr>
          <a:xfrm>
            <a:off x="548640" y="3977640"/>
            <a:ext cx="3566160" cy="2176272"/>
          </a:xfrm>
          <a:prstGeom prst="roundRect">
            <a:avLst>
              <a:gd name="adj" fmla="val 5042"/>
            </a:avLst>
          </a:prstGeom>
          <a:solidFill>
            <a:schemeClr val="bg1"/>
          </a:solidFill>
          <a:ln/>
          <a:effectLst>
            <a:outerShdw blurRad="127000" dist="25400" dir="5400000" algn="bl" rotWithShape="0">
              <a:srgbClr val="0B1B2E">
                <a:alpha val="10000"/>
              </a:srgbClr>
            </a:outerShdw>
          </a:effectLst>
        </p:spPr>
      </p:sp>
      <p:sp>
        <p:nvSpPr>
          <p:cNvPr id="23" name="Icon circle"/>
          <p:cNvSpPr/>
          <p:nvPr/>
        </p:nvSpPr>
        <p:spPr>
          <a:xfrm>
            <a:off x="749808" y="4160520"/>
            <a:ext cx="566928" cy="566928"/>
          </a:xfrm>
          <a:prstGeom prst="ellipse">
            <a:avLst/>
          </a:prstGeom>
          <a:solidFill>
            <a:srgbClr val="D64550"/>
          </a:solidFill>
          <a:ln/>
        </p:spPr>
      </p:sp>
      <p:pic>
        <p:nvPicPr>
          <p:cNvPr id="24" name="Image 3" descr="Lock icon"/>
          <p:cNvPicPr>
            <a:picLocks noChangeAspect="1"/>
          </p:cNvPicPr>
          <p:nvPr/>
        </p:nvPicPr>
        <p:blipFill>
          <a:blip r:embed="rId6"/>
          <a:stretch>
            <a:fillRect/>
          </a:stretch>
        </p:blipFill>
        <p:spPr>
          <a:xfrm>
            <a:off x="897209" y="4307921"/>
            <a:ext cx="272125" cy="272125"/>
          </a:xfrm>
          <a:prstGeom prst="rect">
            <a:avLst/>
          </a:prstGeom>
        </p:spPr>
      </p:pic>
      <p:sp>
        <p:nvSpPr>
          <p:cNvPr id="25" name="Text 19"/>
          <p:cNvSpPr txBox="1"/>
          <p:nvPr/>
        </p:nvSpPr>
        <p:spPr>
          <a:xfrm>
            <a:off x="1463040" y="4270248"/>
            <a:ext cx="2468880" cy="347472"/>
          </a:xfrm>
          <a:prstGeom prst="rect">
            <a:avLst/>
          </a:prstGeom>
          <a:noFill/>
          <a:ln/>
        </p:spPr>
        <p:txBody>
          <a:bodyPr wrap="square" lIns="0" tIns="0" rIns="0" bIns="0" rtlCol="0" anchor="t"/>
          <a:lstStyle/>
          <a:p>
            <a:pPr marL="0" indent="0">
              <a:buNone/>
            </a:pPr>
            <a:r>
              <a:rPr lang="en-US" sz="1800" b="1" dirty="0">
                <a:solidFill>
                  <a:schemeClr val="tx1"/>
                </a:solidFill>
              </a:rPr>
              <a:t>Security and crypto</a:t>
            </a:r>
            <a:endParaRPr lang="en-US" sz="1800" dirty="0"/>
          </a:p>
        </p:txBody>
      </p:sp>
      <p:sp>
        <p:nvSpPr>
          <p:cNvPr id="26" name="Text 20"/>
          <p:cNvSpPr txBox="1"/>
          <p:nvPr/>
        </p:nvSpPr>
        <p:spPr>
          <a:xfrm>
            <a:off x="777240" y="4892040"/>
            <a:ext cx="3108960" cy="731520"/>
          </a:xfrm>
          <a:prstGeom prst="rect">
            <a:avLst/>
          </a:prstGeom>
          <a:noFill/>
          <a:ln/>
        </p:spPr>
        <p:txBody>
          <a:bodyPr wrap="square" lIns="0" tIns="0" rIns="0" bIns="0" rtlCol="0" anchor="t"/>
          <a:lstStyle/>
          <a:p>
            <a:pPr marL="0" indent="0">
              <a:buNone/>
            </a:pPr>
            <a:r>
              <a:rPr lang="en-US" sz="1300" b="1" dirty="0">
                <a:solidFill>
                  <a:schemeClr val="tx1"/>
                </a:solidFill>
              </a:rPr>
              <a:t>EIP‑712 signing  |  X25519 + AES‑256‑GCM  |  hash chains and Merkle roots</a:t>
            </a:r>
            <a:endParaRPr lang="en-US" sz="1300" dirty="0"/>
          </a:p>
        </p:txBody>
      </p:sp>
      <p:sp>
        <p:nvSpPr>
          <p:cNvPr id="27" name="Text 21"/>
          <p:cNvSpPr txBox="1"/>
          <p:nvPr/>
        </p:nvSpPr>
        <p:spPr>
          <a:xfrm>
            <a:off x="777240" y="5513832"/>
            <a:ext cx="3108960" cy="548640"/>
          </a:xfrm>
          <a:prstGeom prst="rect">
            <a:avLst/>
          </a:prstGeom>
          <a:noFill/>
          <a:ln/>
        </p:spPr>
        <p:txBody>
          <a:bodyPr wrap="square" lIns="0" tIns="0" rIns="0" bIns="0" rtlCol="0" anchor="t"/>
          <a:lstStyle/>
          <a:p>
            <a:pPr marL="0" indent="0">
              <a:buNone/>
            </a:pPr>
            <a:r>
              <a:rPr lang="en-US" sz="1200" i="1" dirty="0">
                <a:solidFill>
                  <a:schemeClr val="accent6"/>
                </a:solidFill>
              </a:rPr>
              <a:t>Standard primitives; Dart and Node pass the same test vectors.</a:t>
            </a:r>
            <a:endParaRPr lang="en-US" sz="1200" dirty="0"/>
          </a:p>
        </p:txBody>
      </p:sp>
      <p:sp>
        <p:nvSpPr>
          <p:cNvPr id="28" name="Stack card"/>
          <p:cNvSpPr/>
          <p:nvPr/>
        </p:nvSpPr>
        <p:spPr>
          <a:xfrm>
            <a:off x="4312768" y="3977640"/>
            <a:ext cx="3566160" cy="2176272"/>
          </a:xfrm>
          <a:prstGeom prst="roundRect">
            <a:avLst>
              <a:gd name="adj" fmla="val 5042"/>
            </a:avLst>
          </a:prstGeom>
          <a:solidFill>
            <a:schemeClr val="bg1"/>
          </a:solidFill>
          <a:ln/>
          <a:effectLst>
            <a:outerShdw blurRad="127000" dist="25400" dir="5400000" algn="bl" rotWithShape="0">
              <a:srgbClr val="0B1B2E">
                <a:alpha val="10000"/>
              </a:srgbClr>
            </a:outerShdw>
          </a:effectLst>
        </p:spPr>
      </p:sp>
      <p:sp>
        <p:nvSpPr>
          <p:cNvPr id="29" name="Icon circle"/>
          <p:cNvSpPr/>
          <p:nvPr/>
        </p:nvSpPr>
        <p:spPr>
          <a:xfrm>
            <a:off x="4513936" y="4160520"/>
            <a:ext cx="566928" cy="566928"/>
          </a:xfrm>
          <a:prstGeom prst="ellipse">
            <a:avLst/>
          </a:prstGeom>
          <a:solidFill>
            <a:srgbClr val="F2A33A"/>
          </a:solidFill>
          <a:ln/>
        </p:spPr>
      </p:sp>
      <p:pic>
        <p:nvPicPr>
          <p:cNvPr id="30" name="Image 4" descr="Brain icon"/>
          <p:cNvPicPr>
            <a:picLocks noChangeAspect="1"/>
          </p:cNvPicPr>
          <p:nvPr/>
        </p:nvPicPr>
        <p:blipFill>
          <a:blip r:embed="rId7"/>
          <a:stretch>
            <a:fillRect/>
          </a:stretch>
        </p:blipFill>
        <p:spPr>
          <a:xfrm>
            <a:off x="4661337" y="4307921"/>
            <a:ext cx="272125" cy="272125"/>
          </a:xfrm>
          <a:prstGeom prst="rect">
            <a:avLst/>
          </a:prstGeom>
        </p:spPr>
      </p:pic>
      <p:sp>
        <p:nvSpPr>
          <p:cNvPr id="31" name="Text 24"/>
          <p:cNvSpPr txBox="1"/>
          <p:nvPr/>
        </p:nvSpPr>
        <p:spPr>
          <a:xfrm>
            <a:off x="5227168" y="4270248"/>
            <a:ext cx="2468880" cy="347472"/>
          </a:xfrm>
          <a:prstGeom prst="rect">
            <a:avLst/>
          </a:prstGeom>
          <a:noFill/>
          <a:ln/>
        </p:spPr>
        <p:txBody>
          <a:bodyPr wrap="square" lIns="0" tIns="0" rIns="0" bIns="0" rtlCol="0" anchor="t"/>
          <a:lstStyle/>
          <a:p>
            <a:pPr marL="0" indent="0">
              <a:buNone/>
            </a:pPr>
            <a:r>
              <a:rPr lang="en-US" sz="1800" b="1" dirty="0">
                <a:solidFill>
                  <a:schemeClr val="tx1"/>
                </a:solidFill>
              </a:rPr>
              <a:t>AI / ML and decisions</a:t>
            </a:r>
            <a:endParaRPr lang="en-US" sz="1800" dirty="0"/>
          </a:p>
        </p:txBody>
      </p:sp>
      <p:sp>
        <p:nvSpPr>
          <p:cNvPr id="32" name="Text 25"/>
          <p:cNvSpPr txBox="1"/>
          <p:nvPr/>
        </p:nvSpPr>
        <p:spPr>
          <a:xfrm>
            <a:off x="4541368" y="4892040"/>
            <a:ext cx="3108960" cy="731520"/>
          </a:xfrm>
          <a:prstGeom prst="rect">
            <a:avLst/>
          </a:prstGeom>
          <a:noFill/>
          <a:ln/>
        </p:spPr>
        <p:txBody>
          <a:bodyPr wrap="square" lIns="0" tIns="0" rIns="0" bIns="0" rtlCol="0" anchor="t"/>
          <a:lstStyle/>
          <a:p>
            <a:pPr marL="0" indent="0">
              <a:buNone/>
            </a:pPr>
            <a:r>
              <a:rPr lang="en-US" sz="1300" b="1" dirty="0">
                <a:solidFill>
                  <a:schemeClr val="tx1"/>
                </a:solidFill>
              </a:rPr>
              <a:t>Deterministic loan-scoring rules with reason codes. No black-box model.</a:t>
            </a:r>
            <a:endParaRPr lang="en-US" sz="1300" dirty="0"/>
          </a:p>
        </p:txBody>
      </p:sp>
      <p:sp>
        <p:nvSpPr>
          <p:cNvPr id="33" name="Text 26"/>
          <p:cNvSpPr txBox="1"/>
          <p:nvPr/>
        </p:nvSpPr>
        <p:spPr>
          <a:xfrm>
            <a:off x="4541368" y="5513832"/>
            <a:ext cx="3108960" cy="548640"/>
          </a:xfrm>
          <a:prstGeom prst="rect">
            <a:avLst/>
          </a:prstGeom>
          <a:noFill/>
          <a:ln/>
        </p:spPr>
        <p:txBody>
          <a:bodyPr wrap="square" lIns="0" tIns="0" rIns="0" bIns="0" rtlCol="0" anchor="t"/>
          <a:lstStyle/>
          <a:p>
            <a:pPr marL="0" indent="0">
              <a:buNone/>
            </a:pPr>
            <a:r>
              <a:rPr lang="en-US" sz="1200" i="1" dirty="0">
                <a:solidFill>
                  <a:schemeClr val="accent6"/>
                </a:solidFill>
              </a:rPr>
              <a:t>Every decision is explainable and auditable by design.</a:t>
            </a:r>
            <a:endParaRPr lang="en-US" sz="1200" dirty="0"/>
          </a:p>
        </p:txBody>
      </p:sp>
      <p:sp>
        <p:nvSpPr>
          <p:cNvPr id="34" name="Stack card"/>
          <p:cNvSpPr/>
          <p:nvPr/>
        </p:nvSpPr>
        <p:spPr>
          <a:xfrm>
            <a:off x="8076895" y="3977640"/>
            <a:ext cx="3566160" cy="2176272"/>
          </a:xfrm>
          <a:prstGeom prst="roundRect">
            <a:avLst>
              <a:gd name="adj" fmla="val 5042"/>
            </a:avLst>
          </a:prstGeom>
          <a:solidFill>
            <a:schemeClr val="bg1"/>
          </a:solidFill>
          <a:ln/>
          <a:effectLst>
            <a:outerShdw blurRad="127000" dist="25400" dir="5400000" algn="bl" rotWithShape="0">
              <a:srgbClr val="0B1B2E">
                <a:alpha val="10000"/>
              </a:srgbClr>
            </a:outerShdw>
          </a:effectLst>
        </p:spPr>
      </p:sp>
      <p:sp>
        <p:nvSpPr>
          <p:cNvPr id="35" name="Icon circle"/>
          <p:cNvSpPr/>
          <p:nvPr/>
        </p:nvSpPr>
        <p:spPr>
          <a:xfrm>
            <a:off x="8278063" y="4160520"/>
            <a:ext cx="566928" cy="566928"/>
          </a:xfrm>
          <a:prstGeom prst="ellipse">
            <a:avLst/>
          </a:prstGeom>
          <a:solidFill>
            <a:srgbClr val="566678"/>
          </a:solidFill>
          <a:ln/>
        </p:spPr>
      </p:sp>
      <p:pic>
        <p:nvPicPr>
          <p:cNvPr id="36" name="Image 5" descr="Cloud icon"/>
          <p:cNvPicPr>
            <a:picLocks noChangeAspect="1"/>
          </p:cNvPicPr>
          <p:nvPr/>
        </p:nvPicPr>
        <p:blipFill>
          <a:blip r:embed="rId8"/>
          <a:stretch>
            <a:fillRect/>
          </a:stretch>
        </p:blipFill>
        <p:spPr>
          <a:xfrm>
            <a:off x="8425464" y="4307921"/>
            <a:ext cx="272125" cy="272125"/>
          </a:xfrm>
          <a:prstGeom prst="rect">
            <a:avLst/>
          </a:prstGeom>
        </p:spPr>
      </p:pic>
      <p:sp>
        <p:nvSpPr>
          <p:cNvPr id="37" name="Text 29"/>
          <p:cNvSpPr txBox="1"/>
          <p:nvPr/>
        </p:nvSpPr>
        <p:spPr>
          <a:xfrm>
            <a:off x="8991295" y="4270248"/>
            <a:ext cx="2468880" cy="347472"/>
          </a:xfrm>
          <a:prstGeom prst="rect">
            <a:avLst/>
          </a:prstGeom>
          <a:noFill/>
          <a:ln/>
        </p:spPr>
        <p:txBody>
          <a:bodyPr wrap="square" lIns="0" tIns="0" rIns="0" bIns="0" rtlCol="0" anchor="t"/>
          <a:lstStyle/>
          <a:p>
            <a:pPr marL="0" indent="0">
              <a:buNone/>
            </a:pPr>
            <a:r>
              <a:rPr lang="en-US" sz="1800" b="1" dirty="0">
                <a:solidFill>
                  <a:schemeClr val="tx1"/>
                </a:solidFill>
              </a:rPr>
              <a:t>Cloud and APIs</a:t>
            </a:r>
            <a:endParaRPr lang="en-US" sz="1800" dirty="0"/>
          </a:p>
        </p:txBody>
      </p:sp>
      <p:sp>
        <p:nvSpPr>
          <p:cNvPr id="38" name="Text 30"/>
          <p:cNvSpPr txBox="1"/>
          <p:nvPr/>
        </p:nvSpPr>
        <p:spPr>
          <a:xfrm>
            <a:off x="8305495" y="4892040"/>
            <a:ext cx="3108960" cy="731520"/>
          </a:xfrm>
          <a:prstGeom prst="rect">
            <a:avLst/>
          </a:prstGeom>
          <a:noFill/>
          <a:ln/>
        </p:spPr>
        <p:txBody>
          <a:bodyPr wrap="square" lIns="0" tIns="0" rIns="0" bIns="0" rtlCol="0" anchor="t"/>
          <a:lstStyle/>
          <a:p>
            <a:pPr marL="0" indent="0">
              <a:buNone/>
            </a:pPr>
            <a:r>
              <a:rPr lang="en-US" sz="1300" b="1" dirty="0">
                <a:solidFill>
                  <a:schemeClr val="tx1"/>
                </a:solidFill>
              </a:rPr>
              <a:t>Target: Render and Vercel  |  GitHub Actions  |  public RPC for Amoy</a:t>
            </a:r>
            <a:endParaRPr lang="en-US" sz="1300" dirty="0"/>
          </a:p>
        </p:txBody>
      </p:sp>
      <p:sp>
        <p:nvSpPr>
          <p:cNvPr id="39" name="Text 31"/>
          <p:cNvSpPr txBox="1"/>
          <p:nvPr/>
        </p:nvSpPr>
        <p:spPr>
          <a:xfrm>
            <a:off x="8305495" y="5513832"/>
            <a:ext cx="3108960" cy="548640"/>
          </a:xfrm>
          <a:prstGeom prst="rect">
            <a:avLst/>
          </a:prstGeom>
          <a:noFill/>
          <a:ln/>
        </p:spPr>
        <p:txBody>
          <a:bodyPr wrap="square" lIns="0" tIns="0" rIns="0" bIns="0" rtlCol="0" anchor="t"/>
          <a:lstStyle/>
          <a:p>
            <a:pPr marL="0" indent="0">
              <a:buNone/>
            </a:pPr>
            <a:r>
              <a:rPr lang="en-US" sz="1200" i="1" dirty="0">
                <a:solidFill>
                  <a:schemeClr val="accent6"/>
                </a:solidFill>
              </a:rPr>
              <a:t>Runs fully offline on a local chain; Amoy is proof, not a dependency.</a:t>
            </a:r>
            <a:endParaRPr lang="en-US" sz="1200" dirty="0"/>
          </a:p>
        </p:txBody>
      </p:sp>
      <p:sp>
        <p:nvSpPr>
          <p:cNvPr id="40" name="Slide Number Placeholder 0"/>
          <p:cNvSpPr>
            <a:spLocks noGrp="1"/>
          </p:cNvSpPr>
          <p:nvPr>
            <p:ph type="sldNum" sz="quarter" idx="4294967295"/>
          </p:nvPr>
        </p:nvSpPr>
        <p:spPr>
          <a:xfrm>
            <a:off x="10881360" y="6455664"/>
            <a:ext cx="758952" cy="237744"/>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A359E0-6E7C-1E90-6EF2-592269AD973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0653D4A-8833-6907-E69F-D355CB54F424}"/>
              </a:ext>
            </a:extLst>
          </p:cNvPr>
          <p:cNvSpPr txBox="1"/>
          <p:nvPr/>
        </p:nvSpPr>
        <p:spPr>
          <a:xfrm>
            <a:off x="548640" y="347472"/>
            <a:ext cx="8229600" cy="274320"/>
          </a:xfrm>
          <a:prstGeom prst="rect">
            <a:avLst/>
          </a:prstGeom>
          <a:noFill/>
          <a:ln/>
        </p:spPr>
        <p:txBody>
          <a:bodyPr wrap="square" lIns="0" tIns="0" rIns="0" bIns="0" rtlCol="0" anchor="t"/>
          <a:lstStyle/>
          <a:p>
            <a:pPr marL="0" indent="0">
              <a:buNone/>
            </a:pPr>
            <a:r>
              <a:rPr lang="en-US" sz="1200" b="1" kern="0" spc="300" dirty="0">
                <a:solidFill>
                  <a:schemeClr val="accent1"/>
                </a:solidFill>
              </a:rPr>
              <a:t>07  |  SYSTEM ARCHITECTURE</a:t>
            </a:r>
            <a:endParaRPr lang="en-US" sz="1200" dirty="0"/>
          </a:p>
        </p:txBody>
      </p:sp>
      <p:sp>
        <p:nvSpPr>
          <p:cNvPr id="3" name="Text 1">
            <a:extLst>
              <a:ext uri="{FF2B5EF4-FFF2-40B4-BE49-F238E27FC236}">
                <a16:creationId xmlns:a16="http://schemas.microsoft.com/office/drawing/2014/main" id="{15EF54D6-6C7C-C004-CA80-81C66C8202D3}"/>
              </a:ext>
            </a:extLst>
          </p:cNvPr>
          <p:cNvSpPr>
            <a:spLocks noGrp="1"/>
          </p:cNvSpPr>
          <p:nvPr>
            <p:ph type="title" idx="101" hasCustomPrompt="1"/>
          </p:nvPr>
        </p:nvSpPr>
        <p:spPr>
          <a:xfrm>
            <a:off x="548640" y="658368"/>
            <a:ext cx="11094415" cy="731520"/>
          </a:xfrm>
          <a:prstGeom prst="rect">
            <a:avLst/>
          </a:prstGeom>
          <a:noFill/>
          <a:ln/>
        </p:spPr>
        <p:txBody>
          <a:bodyPr wrap="square" lIns="0" tIns="0" rIns="0" bIns="0" rtlCol="0" anchor="ctr"/>
          <a:lstStyle/>
          <a:p>
            <a:pPr marL="0" indent="0" algn="l">
              <a:buNone/>
            </a:pPr>
            <a:r>
              <a:rPr lang="en-US" sz="3200" b="1" dirty="0">
                <a:solidFill>
                  <a:schemeClr val="tx1"/>
                </a:solidFill>
              </a:rPr>
              <a:t>Architecture at a glance</a:t>
            </a:r>
            <a:endParaRPr lang="en-US" sz="3200" dirty="0"/>
          </a:p>
        </p:txBody>
      </p:sp>
      <p:sp>
        <p:nvSpPr>
          <p:cNvPr id="4" name="Clients band">
            <a:extLst>
              <a:ext uri="{FF2B5EF4-FFF2-40B4-BE49-F238E27FC236}">
                <a16:creationId xmlns:a16="http://schemas.microsoft.com/office/drawing/2014/main" id="{DBBDB473-F7DC-A4C2-3F11-DF6184476680}"/>
              </a:ext>
            </a:extLst>
          </p:cNvPr>
          <p:cNvSpPr/>
          <p:nvPr/>
        </p:nvSpPr>
        <p:spPr>
          <a:xfrm>
            <a:off x="411480" y="1554480"/>
            <a:ext cx="11365992" cy="1463040"/>
          </a:xfrm>
          <a:prstGeom prst="roundRect">
            <a:avLst>
              <a:gd name="adj" fmla="val 7500"/>
            </a:avLst>
          </a:prstGeom>
          <a:solidFill>
            <a:schemeClr val="bg1"/>
          </a:solidFill>
          <a:ln w="12700">
            <a:solidFill>
              <a:srgbClr val="DCE3EA"/>
            </a:solidFill>
            <a:prstDash val="solid"/>
          </a:ln>
        </p:spPr>
      </p:sp>
      <p:sp>
        <p:nvSpPr>
          <p:cNvPr id="5" name="Core band">
            <a:extLst>
              <a:ext uri="{FF2B5EF4-FFF2-40B4-BE49-F238E27FC236}">
                <a16:creationId xmlns:a16="http://schemas.microsoft.com/office/drawing/2014/main" id="{0EF6EF33-9972-0FD4-4FAA-B3DB53C5EA55}"/>
              </a:ext>
            </a:extLst>
          </p:cNvPr>
          <p:cNvSpPr/>
          <p:nvPr/>
        </p:nvSpPr>
        <p:spPr>
          <a:xfrm>
            <a:off x="411480" y="3611880"/>
            <a:ext cx="11365992" cy="1005840"/>
          </a:xfrm>
          <a:prstGeom prst="roundRect">
            <a:avLst>
              <a:gd name="adj" fmla="val 10909"/>
            </a:avLst>
          </a:prstGeom>
          <a:solidFill>
            <a:schemeClr val="tx2"/>
          </a:solidFill>
          <a:ln/>
        </p:spPr>
      </p:sp>
      <p:sp>
        <p:nvSpPr>
          <p:cNvPr id="6" name="Trust band">
            <a:extLst>
              <a:ext uri="{FF2B5EF4-FFF2-40B4-BE49-F238E27FC236}">
                <a16:creationId xmlns:a16="http://schemas.microsoft.com/office/drawing/2014/main" id="{FF8183EB-5914-DA94-16FF-05360C163638}"/>
              </a:ext>
            </a:extLst>
          </p:cNvPr>
          <p:cNvSpPr/>
          <p:nvPr/>
        </p:nvSpPr>
        <p:spPr>
          <a:xfrm>
            <a:off x="411480" y="5120640"/>
            <a:ext cx="11365992" cy="1234440"/>
          </a:xfrm>
          <a:prstGeom prst="roundRect">
            <a:avLst>
              <a:gd name="adj" fmla="val 8889"/>
            </a:avLst>
          </a:prstGeom>
          <a:solidFill>
            <a:schemeClr val="bg1"/>
          </a:solidFill>
          <a:ln w="12700">
            <a:solidFill>
              <a:srgbClr val="DCE3EA"/>
            </a:solidFill>
            <a:prstDash val="solid"/>
          </a:ln>
        </p:spPr>
      </p:sp>
      <p:sp>
        <p:nvSpPr>
          <p:cNvPr id="7" name="Text 5">
            <a:extLst>
              <a:ext uri="{FF2B5EF4-FFF2-40B4-BE49-F238E27FC236}">
                <a16:creationId xmlns:a16="http://schemas.microsoft.com/office/drawing/2014/main" id="{5CEFE348-9110-E6E1-4F20-79E4B1BF8BA7}"/>
              </a:ext>
            </a:extLst>
          </p:cNvPr>
          <p:cNvSpPr txBox="1"/>
          <p:nvPr/>
        </p:nvSpPr>
        <p:spPr>
          <a:xfrm>
            <a:off x="640080" y="1600200"/>
            <a:ext cx="2743200" cy="228600"/>
          </a:xfrm>
          <a:prstGeom prst="rect">
            <a:avLst/>
          </a:prstGeom>
          <a:noFill/>
          <a:ln/>
        </p:spPr>
        <p:txBody>
          <a:bodyPr wrap="square" lIns="0" tIns="0" rIns="0" bIns="0" rtlCol="0" anchor="t"/>
          <a:lstStyle/>
          <a:p>
            <a:pPr marL="0" indent="0">
              <a:buNone/>
            </a:pPr>
            <a:r>
              <a:rPr lang="en-US" sz="1000" b="1" kern="0" spc="300" dirty="0">
                <a:solidFill>
                  <a:schemeClr val="accent6"/>
                </a:solidFill>
              </a:rPr>
              <a:t>CLIENTS</a:t>
            </a:r>
            <a:endParaRPr lang="en-US" sz="1000" dirty="0"/>
          </a:p>
        </p:txBody>
      </p:sp>
      <p:sp>
        <p:nvSpPr>
          <p:cNvPr id="8" name="Client box">
            <a:extLst>
              <a:ext uri="{FF2B5EF4-FFF2-40B4-BE49-F238E27FC236}">
                <a16:creationId xmlns:a16="http://schemas.microsoft.com/office/drawing/2014/main" id="{028DA590-2140-6AED-A180-54D8058F442D}"/>
              </a:ext>
            </a:extLst>
          </p:cNvPr>
          <p:cNvSpPr/>
          <p:nvPr/>
        </p:nvSpPr>
        <p:spPr>
          <a:xfrm>
            <a:off x="640080" y="1874520"/>
            <a:ext cx="2606040" cy="1005840"/>
          </a:xfrm>
          <a:prstGeom prst="roundRect">
            <a:avLst>
              <a:gd name="adj" fmla="val 9091"/>
            </a:avLst>
          </a:prstGeom>
          <a:solidFill>
            <a:schemeClr val="accent1"/>
          </a:solidFill>
          <a:ln/>
        </p:spPr>
      </p:sp>
      <p:sp>
        <p:nvSpPr>
          <p:cNvPr id="9" name="Text 7">
            <a:extLst>
              <a:ext uri="{FF2B5EF4-FFF2-40B4-BE49-F238E27FC236}">
                <a16:creationId xmlns:a16="http://schemas.microsoft.com/office/drawing/2014/main" id="{3CEEA50A-20AE-B4CD-921F-50252B026788}"/>
              </a:ext>
            </a:extLst>
          </p:cNvPr>
          <p:cNvSpPr txBox="1"/>
          <p:nvPr/>
        </p:nvSpPr>
        <p:spPr>
          <a:xfrm>
            <a:off x="777240" y="1965960"/>
            <a:ext cx="2331720" cy="292608"/>
          </a:xfrm>
          <a:prstGeom prst="rect">
            <a:avLst/>
          </a:prstGeom>
          <a:noFill/>
          <a:ln/>
        </p:spPr>
        <p:txBody>
          <a:bodyPr wrap="square" lIns="0" tIns="0" rIns="0" bIns="0" rtlCol="0" anchor="t"/>
          <a:lstStyle/>
          <a:p>
            <a:pPr marL="0" indent="0">
              <a:buNone/>
            </a:pPr>
            <a:r>
              <a:rPr lang="en-US" sz="1500" b="1" dirty="0">
                <a:solidFill>
                  <a:schemeClr val="bg1"/>
                </a:solidFill>
              </a:rPr>
              <a:t>Citizen Wallet</a:t>
            </a:r>
            <a:endParaRPr lang="en-US" sz="1500" dirty="0"/>
          </a:p>
        </p:txBody>
      </p:sp>
      <p:sp>
        <p:nvSpPr>
          <p:cNvPr id="10" name="Text 8">
            <a:extLst>
              <a:ext uri="{FF2B5EF4-FFF2-40B4-BE49-F238E27FC236}">
                <a16:creationId xmlns:a16="http://schemas.microsoft.com/office/drawing/2014/main" id="{E18F6F55-0AB7-845A-6D37-28C984153310}"/>
              </a:ext>
            </a:extLst>
          </p:cNvPr>
          <p:cNvSpPr txBox="1"/>
          <p:nvPr/>
        </p:nvSpPr>
        <p:spPr>
          <a:xfrm>
            <a:off x="777240" y="2304288"/>
            <a:ext cx="2331720" cy="502920"/>
          </a:xfrm>
          <a:prstGeom prst="rect">
            <a:avLst/>
          </a:prstGeom>
          <a:noFill/>
          <a:ln/>
        </p:spPr>
        <p:txBody>
          <a:bodyPr wrap="square" lIns="0" tIns="0" rIns="0" bIns="0" rtlCol="0" anchor="t"/>
          <a:lstStyle/>
          <a:p>
            <a:pPr marL="0" indent="0">
              <a:buNone/>
            </a:pPr>
            <a:r>
              <a:rPr lang="en-US" sz="1200" dirty="0">
                <a:solidFill>
                  <a:schemeClr val="bg1"/>
                </a:solidFill>
              </a:rPr>
              <a:t>Flutter. Keys stay on device. Signs consent.</a:t>
            </a:r>
            <a:endParaRPr lang="en-US" sz="1200" dirty="0"/>
          </a:p>
        </p:txBody>
      </p:sp>
      <p:sp>
        <p:nvSpPr>
          <p:cNvPr id="11" name="Client box">
            <a:extLst>
              <a:ext uri="{FF2B5EF4-FFF2-40B4-BE49-F238E27FC236}">
                <a16:creationId xmlns:a16="http://schemas.microsoft.com/office/drawing/2014/main" id="{82AC46E8-8103-0863-FE71-43987BE20731}"/>
              </a:ext>
            </a:extLst>
          </p:cNvPr>
          <p:cNvSpPr/>
          <p:nvPr/>
        </p:nvSpPr>
        <p:spPr>
          <a:xfrm>
            <a:off x="3456432" y="1874520"/>
            <a:ext cx="2606040" cy="1005840"/>
          </a:xfrm>
          <a:prstGeom prst="roundRect">
            <a:avLst>
              <a:gd name="adj" fmla="val 9091"/>
            </a:avLst>
          </a:prstGeom>
          <a:solidFill>
            <a:schemeClr val="accent3"/>
          </a:solidFill>
          <a:ln/>
        </p:spPr>
      </p:sp>
      <p:sp>
        <p:nvSpPr>
          <p:cNvPr id="12" name="Text 10">
            <a:extLst>
              <a:ext uri="{FF2B5EF4-FFF2-40B4-BE49-F238E27FC236}">
                <a16:creationId xmlns:a16="http://schemas.microsoft.com/office/drawing/2014/main" id="{D6DE066E-82C9-F691-5CF3-BDBD709F30E4}"/>
              </a:ext>
            </a:extLst>
          </p:cNvPr>
          <p:cNvSpPr txBox="1"/>
          <p:nvPr/>
        </p:nvSpPr>
        <p:spPr>
          <a:xfrm>
            <a:off x="3593592" y="1965960"/>
            <a:ext cx="2331720" cy="292608"/>
          </a:xfrm>
          <a:prstGeom prst="rect">
            <a:avLst/>
          </a:prstGeom>
          <a:noFill/>
          <a:ln/>
        </p:spPr>
        <p:txBody>
          <a:bodyPr wrap="square" lIns="0" tIns="0" rIns="0" bIns="0" rtlCol="0" anchor="t"/>
          <a:lstStyle/>
          <a:p>
            <a:pPr marL="0" indent="0">
              <a:buNone/>
            </a:pPr>
            <a:r>
              <a:rPr lang="en-US" sz="1500" b="1" dirty="0">
                <a:solidFill>
                  <a:schemeClr val="bg1"/>
                </a:solidFill>
              </a:rPr>
              <a:t>Company Console</a:t>
            </a:r>
            <a:endParaRPr lang="en-US" sz="1500" dirty="0"/>
          </a:p>
        </p:txBody>
      </p:sp>
      <p:sp>
        <p:nvSpPr>
          <p:cNvPr id="13" name="Text 11">
            <a:extLst>
              <a:ext uri="{FF2B5EF4-FFF2-40B4-BE49-F238E27FC236}">
                <a16:creationId xmlns:a16="http://schemas.microsoft.com/office/drawing/2014/main" id="{EB71451F-D07B-FF48-FA92-D9E3893A3A7B}"/>
              </a:ext>
            </a:extLst>
          </p:cNvPr>
          <p:cNvSpPr txBox="1"/>
          <p:nvPr/>
        </p:nvSpPr>
        <p:spPr>
          <a:xfrm>
            <a:off x="3593592" y="2304288"/>
            <a:ext cx="2331720" cy="502920"/>
          </a:xfrm>
          <a:prstGeom prst="rect">
            <a:avLst/>
          </a:prstGeom>
          <a:noFill/>
          <a:ln/>
        </p:spPr>
        <p:txBody>
          <a:bodyPr wrap="square" lIns="0" tIns="0" rIns="0" bIns="0" rtlCol="0" anchor="t"/>
          <a:lstStyle/>
          <a:p>
            <a:pPr marL="0" indent="0">
              <a:buNone/>
            </a:pPr>
            <a:r>
              <a:rPr lang="en-US" sz="1200" dirty="0">
                <a:solidFill>
                  <a:schemeClr val="bg1"/>
                </a:solidFill>
              </a:rPr>
              <a:t>React. Purposes, QR requests, live feed.</a:t>
            </a:r>
            <a:endParaRPr lang="en-US" sz="1200" dirty="0"/>
          </a:p>
        </p:txBody>
      </p:sp>
      <p:sp>
        <p:nvSpPr>
          <p:cNvPr id="14" name="Client box">
            <a:extLst>
              <a:ext uri="{FF2B5EF4-FFF2-40B4-BE49-F238E27FC236}">
                <a16:creationId xmlns:a16="http://schemas.microsoft.com/office/drawing/2014/main" id="{5FC770CE-1943-8C8E-FC67-6622886971ED}"/>
              </a:ext>
            </a:extLst>
          </p:cNvPr>
          <p:cNvSpPr/>
          <p:nvPr/>
        </p:nvSpPr>
        <p:spPr>
          <a:xfrm>
            <a:off x="6272784" y="1874520"/>
            <a:ext cx="2606040" cy="1005840"/>
          </a:xfrm>
          <a:prstGeom prst="roundRect">
            <a:avLst>
              <a:gd name="adj" fmla="val 9091"/>
            </a:avLst>
          </a:prstGeom>
          <a:solidFill>
            <a:schemeClr val="accent5"/>
          </a:solidFill>
          <a:ln/>
        </p:spPr>
      </p:sp>
      <p:sp>
        <p:nvSpPr>
          <p:cNvPr id="15" name="Text 13">
            <a:extLst>
              <a:ext uri="{FF2B5EF4-FFF2-40B4-BE49-F238E27FC236}">
                <a16:creationId xmlns:a16="http://schemas.microsoft.com/office/drawing/2014/main" id="{5141A720-3BAA-5480-9480-021B1B655D51}"/>
              </a:ext>
            </a:extLst>
          </p:cNvPr>
          <p:cNvSpPr txBox="1"/>
          <p:nvPr/>
        </p:nvSpPr>
        <p:spPr>
          <a:xfrm>
            <a:off x="6409944" y="1965960"/>
            <a:ext cx="2331720" cy="292608"/>
          </a:xfrm>
          <a:prstGeom prst="rect">
            <a:avLst/>
          </a:prstGeom>
          <a:noFill/>
          <a:ln/>
        </p:spPr>
        <p:txBody>
          <a:bodyPr wrap="square" lIns="0" tIns="0" rIns="0" bIns="0" rtlCol="0" anchor="t"/>
          <a:lstStyle/>
          <a:p>
            <a:pPr marL="0" indent="0">
              <a:buNone/>
            </a:pPr>
            <a:r>
              <a:rPr lang="en-US" sz="1500" b="1" dirty="0">
                <a:solidFill>
                  <a:schemeClr val="bg1"/>
                </a:solidFill>
              </a:rPr>
              <a:t>Regulator Auditor</a:t>
            </a:r>
            <a:endParaRPr lang="en-US" sz="1500" dirty="0"/>
          </a:p>
        </p:txBody>
      </p:sp>
      <p:sp>
        <p:nvSpPr>
          <p:cNvPr id="16" name="Text 14">
            <a:extLst>
              <a:ext uri="{FF2B5EF4-FFF2-40B4-BE49-F238E27FC236}">
                <a16:creationId xmlns:a16="http://schemas.microsoft.com/office/drawing/2014/main" id="{9E0DD2C5-2B06-2C1A-E9AE-B509C2307BCC}"/>
              </a:ext>
            </a:extLst>
          </p:cNvPr>
          <p:cNvSpPr txBox="1"/>
          <p:nvPr/>
        </p:nvSpPr>
        <p:spPr>
          <a:xfrm>
            <a:off x="6409944" y="2304288"/>
            <a:ext cx="2331720" cy="502920"/>
          </a:xfrm>
          <a:prstGeom prst="rect">
            <a:avLst/>
          </a:prstGeom>
          <a:noFill/>
          <a:ln/>
        </p:spPr>
        <p:txBody>
          <a:bodyPr wrap="square" lIns="0" tIns="0" rIns="0" bIns="0" rtlCol="0" anchor="t"/>
          <a:lstStyle/>
          <a:p>
            <a:pPr marL="0" indent="0">
              <a:buNone/>
            </a:pPr>
            <a:r>
              <a:rPr lang="en-US" sz="1200" dirty="0">
                <a:solidFill>
                  <a:schemeClr val="bg1"/>
                </a:solidFill>
              </a:rPr>
              <a:t>React. Verify, ledger explorer, reports.</a:t>
            </a:r>
            <a:endParaRPr lang="en-US" sz="1200" dirty="0"/>
          </a:p>
        </p:txBody>
      </p:sp>
      <p:sp>
        <p:nvSpPr>
          <p:cNvPr id="17" name="Client box">
            <a:extLst>
              <a:ext uri="{FF2B5EF4-FFF2-40B4-BE49-F238E27FC236}">
                <a16:creationId xmlns:a16="http://schemas.microsoft.com/office/drawing/2014/main" id="{70ECAC33-5699-372D-EBF1-A43672EDAD1F}"/>
              </a:ext>
            </a:extLst>
          </p:cNvPr>
          <p:cNvSpPr/>
          <p:nvPr/>
        </p:nvSpPr>
        <p:spPr>
          <a:xfrm>
            <a:off x="9089136" y="1874520"/>
            <a:ext cx="2606040" cy="1005840"/>
          </a:xfrm>
          <a:prstGeom prst="roundRect">
            <a:avLst>
              <a:gd name="adj" fmla="val 9091"/>
            </a:avLst>
          </a:prstGeom>
          <a:solidFill>
            <a:schemeClr val="accent2"/>
          </a:solidFill>
          <a:ln/>
        </p:spPr>
      </p:sp>
      <p:sp>
        <p:nvSpPr>
          <p:cNvPr id="18" name="Text 16">
            <a:extLst>
              <a:ext uri="{FF2B5EF4-FFF2-40B4-BE49-F238E27FC236}">
                <a16:creationId xmlns:a16="http://schemas.microsoft.com/office/drawing/2014/main" id="{93833C61-25F3-B1A0-2C68-05A0564F7596}"/>
              </a:ext>
            </a:extLst>
          </p:cNvPr>
          <p:cNvSpPr txBox="1"/>
          <p:nvPr/>
        </p:nvSpPr>
        <p:spPr>
          <a:xfrm>
            <a:off x="9226296" y="1965960"/>
            <a:ext cx="2331720" cy="292608"/>
          </a:xfrm>
          <a:prstGeom prst="rect">
            <a:avLst/>
          </a:prstGeom>
          <a:noFill/>
          <a:ln/>
        </p:spPr>
        <p:txBody>
          <a:bodyPr wrap="square" lIns="0" tIns="0" rIns="0" bIns="0" rtlCol="0" anchor="t"/>
          <a:lstStyle/>
          <a:p>
            <a:pPr marL="0" indent="0">
              <a:buNone/>
            </a:pPr>
            <a:r>
              <a:rPr lang="en-US" sz="1500" b="1" dirty="0">
                <a:solidFill>
                  <a:schemeClr val="tx1"/>
                </a:solidFill>
              </a:rPr>
              <a:t>Company Backend + Gateway</a:t>
            </a:r>
            <a:endParaRPr lang="en-US" sz="1500" dirty="0"/>
          </a:p>
        </p:txBody>
      </p:sp>
      <p:sp>
        <p:nvSpPr>
          <p:cNvPr id="19" name="Text 17">
            <a:extLst>
              <a:ext uri="{FF2B5EF4-FFF2-40B4-BE49-F238E27FC236}">
                <a16:creationId xmlns:a16="http://schemas.microsoft.com/office/drawing/2014/main" id="{21106056-6734-327C-C945-1D7D13029361}"/>
              </a:ext>
            </a:extLst>
          </p:cNvPr>
          <p:cNvSpPr txBox="1"/>
          <p:nvPr/>
        </p:nvSpPr>
        <p:spPr>
          <a:xfrm>
            <a:off x="9226296" y="2304288"/>
            <a:ext cx="2331720" cy="502920"/>
          </a:xfrm>
          <a:prstGeom prst="rect">
            <a:avLst/>
          </a:prstGeom>
          <a:noFill/>
          <a:ln/>
        </p:spPr>
        <p:txBody>
          <a:bodyPr wrap="square" lIns="0" tIns="0" rIns="0" bIns="0" rtlCol="0" anchor="t"/>
          <a:lstStyle/>
          <a:p>
            <a:pPr marL="0" indent="0">
              <a:buNone/>
            </a:pPr>
            <a:r>
              <a:rPr lang="en-US" sz="1200" dirty="0">
                <a:solidFill>
                  <a:schemeClr val="tx1"/>
                </a:solidFill>
              </a:rPr>
              <a:t>requireConsent(): allow or block (451).</a:t>
            </a:r>
            <a:endParaRPr lang="en-US" sz="1200" dirty="0"/>
          </a:p>
        </p:txBody>
      </p:sp>
      <p:sp>
        <p:nvSpPr>
          <p:cNvPr id="20" name="Text 18">
            <a:extLst>
              <a:ext uri="{FF2B5EF4-FFF2-40B4-BE49-F238E27FC236}">
                <a16:creationId xmlns:a16="http://schemas.microsoft.com/office/drawing/2014/main" id="{2174F2B8-BA17-A0A9-8F06-C283CD0866CF}"/>
              </a:ext>
            </a:extLst>
          </p:cNvPr>
          <p:cNvSpPr txBox="1"/>
          <p:nvPr/>
        </p:nvSpPr>
        <p:spPr>
          <a:xfrm>
            <a:off x="640080" y="3675888"/>
            <a:ext cx="10515600" cy="256032"/>
          </a:xfrm>
          <a:prstGeom prst="rect">
            <a:avLst/>
          </a:prstGeom>
          <a:noFill/>
          <a:ln/>
        </p:spPr>
        <p:txBody>
          <a:bodyPr wrap="square" lIns="0" tIns="0" rIns="0" bIns="0" rtlCol="0" anchor="t"/>
          <a:lstStyle/>
          <a:p>
            <a:pPr marL="0" indent="0">
              <a:buNone/>
            </a:pPr>
            <a:r>
              <a:rPr lang="en-US" sz="1100" b="1" kern="0" spc="300" dirty="0">
                <a:solidFill>
                  <a:schemeClr val="accent2"/>
                </a:solidFill>
              </a:rPr>
              <a:t>SAMMATI CORE</a:t>
            </a:r>
            <a:r>
              <a:rPr lang="en-US" sz="1100" dirty="0">
                <a:solidFill>
                  <a:schemeClr val="bg2"/>
                </a:solidFill>
              </a:rPr>
              <a:t>   Node + TypeScript + SQLite   |   never receives customer data</a:t>
            </a:r>
            <a:endParaRPr lang="en-US" sz="1100" dirty="0"/>
          </a:p>
        </p:txBody>
      </p:sp>
      <p:sp>
        <p:nvSpPr>
          <p:cNvPr id="21" name="Core module">
            <a:extLst>
              <a:ext uri="{FF2B5EF4-FFF2-40B4-BE49-F238E27FC236}">
                <a16:creationId xmlns:a16="http://schemas.microsoft.com/office/drawing/2014/main" id="{290051E3-F5EC-2282-C5BA-4D5F44ACF789}"/>
              </a:ext>
            </a:extLst>
          </p:cNvPr>
          <p:cNvSpPr/>
          <p:nvPr/>
        </p:nvSpPr>
        <p:spPr>
          <a:xfrm>
            <a:off x="640080" y="4023360"/>
            <a:ext cx="1572768" cy="457200"/>
          </a:xfrm>
          <a:prstGeom prst="roundRect">
            <a:avLst>
              <a:gd name="adj" fmla="val 16000"/>
            </a:avLst>
          </a:prstGeom>
          <a:solidFill>
            <a:schemeClr val="bg1"/>
          </a:solidFill>
          <a:ln/>
        </p:spPr>
      </p:sp>
      <p:sp>
        <p:nvSpPr>
          <p:cNvPr id="22" name="Text 20">
            <a:extLst>
              <a:ext uri="{FF2B5EF4-FFF2-40B4-BE49-F238E27FC236}">
                <a16:creationId xmlns:a16="http://schemas.microsoft.com/office/drawing/2014/main" id="{095F22B7-B38C-FB3D-7BAA-AC5C3E97AC7F}"/>
              </a:ext>
            </a:extLst>
          </p:cNvPr>
          <p:cNvSpPr txBox="1"/>
          <p:nvPr/>
        </p:nvSpPr>
        <p:spPr>
          <a:xfrm>
            <a:off x="640080" y="4023360"/>
            <a:ext cx="1572768" cy="457200"/>
          </a:xfrm>
          <a:prstGeom prst="rect">
            <a:avLst/>
          </a:prstGeom>
          <a:noFill/>
          <a:ln/>
        </p:spPr>
        <p:txBody>
          <a:bodyPr wrap="square" lIns="0" tIns="0" rIns="0" bIns="0" rtlCol="0" anchor="ctr"/>
          <a:lstStyle/>
          <a:p>
            <a:pPr marL="0" indent="0" algn="ctr">
              <a:buNone/>
            </a:pPr>
            <a:r>
              <a:rPr lang="en-US" sz="1100" b="1" dirty="0">
                <a:solidFill>
                  <a:schemeClr val="tx1"/>
                </a:solidFill>
              </a:rPr>
              <a:t>Relayer (pays gas)</a:t>
            </a:r>
            <a:endParaRPr lang="en-US" sz="1100" dirty="0"/>
          </a:p>
        </p:txBody>
      </p:sp>
      <p:sp>
        <p:nvSpPr>
          <p:cNvPr id="23" name="Core module">
            <a:extLst>
              <a:ext uri="{FF2B5EF4-FFF2-40B4-BE49-F238E27FC236}">
                <a16:creationId xmlns:a16="http://schemas.microsoft.com/office/drawing/2014/main" id="{E9323006-C64F-548C-20B0-C311D130B5C2}"/>
              </a:ext>
            </a:extLst>
          </p:cNvPr>
          <p:cNvSpPr/>
          <p:nvPr/>
        </p:nvSpPr>
        <p:spPr>
          <a:xfrm>
            <a:off x="2304288" y="4023360"/>
            <a:ext cx="1572768" cy="457200"/>
          </a:xfrm>
          <a:prstGeom prst="roundRect">
            <a:avLst>
              <a:gd name="adj" fmla="val 16000"/>
            </a:avLst>
          </a:prstGeom>
          <a:solidFill>
            <a:schemeClr val="bg1"/>
          </a:solidFill>
          <a:ln/>
        </p:spPr>
      </p:sp>
      <p:sp>
        <p:nvSpPr>
          <p:cNvPr id="24" name="Text 22">
            <a:extLst>
              <a:ext uri="{FF2B5EF4-FFF2-40B4-BE49-F238E27FC236}">
                <a16:creationId xmlns:a16="http://schemas.microsoft.com/office/drawing/2014/main" id="{51106D87-EA86-32B1-22B6-F488F527F4BA}"/>
              </a:ext>
            </a:extLst>
          </p:cNvPr>
          <p:cNvSpPr txBox="1"/>
          <p:nvPr/>
        </p:nvSpPr>
        <p:spPr>
          <a:xfrm>
            <a:off x="2304288" y="4023360"/>
            <a:ext cx="1572768" cy="457200"/>
          </a:xfrm>
          <a:prstGeom prst="rect">
            <a:avLst/>
          </a:prstGeom>
          <a:noFill/>
          <a:ln/>
        </p:spPr>
        <p:txBody>
          <a:bodyPr wrap="square" lIns="0" tIns="0" rIns="0" bIns="0" rtlCol="0" anchor="ctr"/>
          <a:lstStyle/>
          <a:p>
            <a:pPr marL="0" indent="0" algn="ctr">
              <a:buNone/>
            </a:pPr>
            <a:r>
              <a:rPr lang="en-US" sz="1100" b="1" dirty="0">
                <a:solidFill>
                  <a:schemeClr val="tx1"/>
                </a:solidFill>
              </a:rPr>
              <a:t>Indexer + cache</a:t>
            </a:r>
            <a:endParaRPr lang="en-US" sz="1100" dirty="0"/>
          </a:p>
        </p:txBody>
      </p:sp>
      <p:sp>
        <p:nvSpPr>
          <p:cNvPr id="25" name="Core module">
            <a:extLst>
              <a:ext uri="{FF2B5EF4-FFF2-40B4-BE49-F238E27FC236}">
                <a16:creationId xmlns:a16="http://schemas.microsoft.com/office/drawing/2014/main" id="{C862BD62-8301-BA10-028E-CFAE0ABD48E1}"/>
              </a:ext>
            </a:extLst>
          </p:cNvPr>
          <p:cNvSpPr/>
          <p:nvPr/>
        </p:nvSpPr>
        <p:spPr>
          <a:xfrm>
            <a:off x="3968496" y="4023360"/>
            <a:ext cx="1572768" cy="457200"/>
          </a:xfrm>
          <a:prstGeom prst="roundRect">
            <a:avLst>
              <a:gd name="adj" fmla="val 16000"/>
            </a:avLst>
          </a:prstGeom>
          <a:solidFill>
            <a:schemeClr val="bg1"/>
          </a:solidFill>
          <a:ln/>
        </p:spPr>
      </p:sp>
      <p:sp>
        <p:nvSpPr>
          <p:cNvPr id="26" name="Text 24">
            <a:extLst>
              <a:ext uri="{FF2B5EF4-FFF2-40B4-BE49-F238E27FC236}">
                <a16:creationId xmlns:a16="http://schemas.microsoft.com/office/drawing/2014/main" id="{C24FBC43-0AD9-7531-160D-626C5AFADAEB}"/>
              </a:ext>
            </a:extLst>
          </p:cNvPr>
          <p:cNvSpPr txBox="1"/>
          <p:nvPr/>
        </p:nvSpPr>
        <p:spPr>
          <a:xfrm>
            <a:off x="3968496" y="4023360"/>
            <a:ext cx="1572768" cy="457200"/>
          </a:xfrm>
          <a:prstGeom prst="rect">
            <a:avLst/>
          </a:prstGeom>
          <a:noFill/>
          <a:ln/>
        </p:spPr>
        <p:txBody>
          <a:bodyPr wrap="square" lIns="0" tIns="0" rIns="0" bIns="0" rtlCol="0" anchor="ctr"/>
          <a:lstStyle/>
          <a:p>
            <a:pPr marL="0" indent="0" algn="ctr">
              <a:buNone/>
            </a:pPr>
            <a:r>
              <a:rPr lang="en-US" sz="1100" b="1" dirty="0">
                <a:solidFill>
                  <a:schemeClr val="tx1"/>
                </a:solidFill>
              </a:rPr>
              <a:t>Cascade engine</a:t>
            </a:r>
            <a:endParaRPr lang="en-US" sz="1100" dirty="0"/>
          </a:p>
        </p:txBody>
      </p:sp>
      <p:sp>
        <p:nvSpPr>
          <p:cNvPr id="27" name="Core module">
            <a:extLst>
              <a:ext uri="{FF2B5EF4-FFF2-40B4-BE49-F238E27FC236}">
                <a16:creationId xmlns:a16="http://schemas.microsoft.com/office/drawing/2014/main" id="{CF40AC78-9F4E-706E-6D4F-53572D1E9053}"/>
              </a:ext>
            </a:extLst>
          </p:cNvPr>
          <p:cNvSpPr/>
          <p:nvPr/>
        </p:nvSpPr>
        <p:spPr>
          <a:xfrm>
            <a:off x="5632704" y="4023360"/>
            <a:ext cx="1572768" cy="457200"/>
          </a:xfrm>
          <a:prstGeom prst="roundRect">
            <a:avLst>
              <a:gd name="adj" fmla="val 16000"/>
            </a:avLst>
          </a:prstGeom>
          <a:solidFill>
            <a:schemeClr val="bg1"/>
          </a:solidFill>
          <a:ln/>
        </p:spPr>
      </p:sp>
      <p:sp>
        <p:nvSpPr>
          <p:cNvPr id="28" name="Text 26">
            <a:extLst>
              <a:ext uri="{FF2B5EF4-FFF2-40B4-BE49-F238E27FC236}">
                <a16:creationId xmlns:a16="http://schemas.microsoft.com/office/drawing/2014/main" id="{CE5CA3D4-67BC-D4DD-9E1B-22F0BE000084}"/>
              </a:ext>
            </a:extLst>
          </p:cNvPr>
          <p:cNvSpPr txBox="1"/>
          <p:nvPr/>
        </p:nvSpPr>
        <p:spPr>
          <a:xfrm>
            <a:off x="5632704" y="4023360"/>
            <a:ext cx="1572768" cy="457200"/>
          </a:xfrm>
          <a:prstGeom prst="rect">
            <a:avLst/>
          </a:prstGeom>
          <a:noFill/>
          <a:ln/>
        </p:spPr>
        <p:txBody>
          <a:bodyPr wrap="square" lIns="0" tIns="0" rIns="0" bIns="0" rtlCol="0" anchor="ctr"/>
          <a:lstStyle/>
          <a:p>
            <a:pPr marL="0" indent="0" algn="ctr">
              <a:buNone/>
            </a:pPr>
            <a:r>
              <a:rPr lang="en-US" sz="1100" b="1" dirty="0">
                <a:solidFill>
                  <a:schemeClr val="tx1"/>
                </a:solidFill>
              </a:rPr>
              <a:t>Log anchoring</a:t>
            </a:r>
            <a:endParaRPr lang="en-US" sz="1100" dirty="0"/>
          </a:p>
        </p:txBody>
      </p:sp>
      <p:sp>
        <p:nvSpPr>
          <p:cNvPr id="29" name="Core module">
            <a:extLst>
              <a:ext uri="{FF2B5EF4-FFF2-40B4-BE49-F238E27FC236}">
                <a16:creationId xmlns:a16="http://schemas.microsoft.com/office/drawing/2014/main" id="{EE2118AB-F310-F22B-BEC5-E25F9DC346D4}"/>
              </a:ext>
            </a:extLst>
          </p:cNvPr>
          <p:cNvSpPr/>
          <p:nvPr/>
        </p:nvSpPr>
        <p:spPr>
          <a:xfrm>
            <a:off x="7296912" y="4023360"/>
            <a:ext cx="1572768" cy="457200"/>
          </a:xfrm>
          <a:prstGeom prst="roundRect">
            <a:avLst>
              <a:gd name="adj" fmla="val 16000"/>
            </a:avLst>
          </a:prstGeom>
          <a:solidFill>
            <a:schemeClr val="bg1"/>
          </a:solidFill>
          <a:ln/>
        </p:spPr>
      </p:sp>
      <p:sp>
        <p:nvSpPr>
          <p:cNvPr id="30" name="Text 28">
            <a:extLst>
              <a:ext uri="{FF2B5EF4-FFF2-40B4-BE49-F238E27FC236}">
                <a16:creationId xmlns:a16="http://schemas.microsoft.com/office/drawing/2014/main" id="{3FB49BA4-081B-BDCE-26F3-EE1476CEAC36}"/>
              </a:ext>
            </a:extLst>
          </p:cNvPr>
          <p:cNvSpPr txBox="1"/>
          <p:nvPr/>
        </p:nvSpPr>
        <p:spPr>
          <a:xfrm>
            <a:off x="7296912" y="4023360"/>
            <a:ext cx="1572768" cy="457200"/>
          </a:xfrm>
          <a:prstGeom prst="rect">
            <a:avLst/>
          </a:prstGeom>
          <a:noFill/>
          <a:ln/>
        </p:spPr>
        <p:txBody>
          <a:bodyPr wrap="square" lIns="0" tIns="0" rIns="0" bIns="0" rtlCol="0" anchor="ctr"/>
          <a:lstStyle/>
          <a:p>
            <a:pPr marL="0" indent="0" algn="ctr">
              <a:buNone/>
            </a:pPr>
            <a:r>
              <a:rPr lang="en-US" sz="1100" b="1" dirty="0">
                <a:solidFill>
                  <a:schemeClr val="tx1"/>
                </a:solidFill>
              </a:rPr>
              <a:t>Audit API + WebSocket</a:t>
            </a:r>
            <a:endParaRPr lang="en-US" sz="1100" dirty="0"/>
          </a:p>
        </p:txBody>
      </p:sp>
      <p:sp>
        <p:nvSpPr>
          <p:cNvPr id="31" name="Ledger box">
            <a:extLst>
              <a:ext uri="{FF2B5EF4-FFF2-40B4-BE49-F238E27FC236}">
                <a16:creationId xmlns:a16="http://schemas.microsoft.com/office/drawing/2014/main" id="{5D9AAF15-E7F2-A53A-7249-F106769836DC}"/>
              </a:ext>
            </a:extLst>
          </p:cNvPr>
          <p:cNvSpPr/>
          <p:nvPr/>
        </p:nvSpPr>
        <p:spPr>
          <a:xfrm>
            <a:off x="640080" y="5349240"/>
            <a:ext cx="6400800" cy="868680"/>
          </a:xfrm>
          <a:prstGeom prst="roundRect">
            <a:avLst>
              <a:gd name="adj" fmla="val 10526"/>
            </a:avLst>
          </a:prstGeom>
          <a:solidFill>
            <a:srgbClr val="E3ECFB"/>
          </a:solidFill>
          <a:ln w="15875">
            <a:solidFill>
              <a:schemeClr val="accent3"/>
            </a:solidFill>
            <a:prstDash val="solid"/>
          </a:ln>
        </p:spPr>
      </p:sp>
      <p:sp>
        <p:nvSpPr>
          <p:cNvPr id="32" name="Text 30">
            <a:extLst>
              <a:ext uri="{FF2B5EF4-FFF2-40B4-BE49-F238E27FC236}">
                <a16:creationId xmlns:a16="http://schemas.microsoft.com/office/drawing/2014/main" id="{8EB819C3-F3F6-6C27-1C23-75BB9A8660FA}"/>
              </a:ext>
            </a:extLst>
          </p:cNvPr>
          <p:cNvSpPr txBox="1"/>
          <p:nvPr/>
        </p:nvSpPr>
        <p:spPr>
          <a:xfrm>
            <a:off x="822960" y="5394960"/>
            <a:ext cx="6035040" cy="256032"/>
          </a:xfrm>
          <a:prstGeom prst="rect">
            <a:avLst/>
          </a:prstGeom>
          <a:noFill/>
          <a:ln/>
        </p:spPr>
        <p:txBody>
          <a:bodyPr wrap="square" lIns="0" tIns="0" rIns="0" bIns="0" rtlCol="0" anchor="t"/>
          <a:lstStyle/>
          <a:p>
            <a:pPr marL="0" indent="0">
              <a:buNone/>
            </a:pPr>
            <a:r>
              <a:rPr lang="en-US" sz="1100" b="1" dirty="0">
                <a:solidFill>
                  <a:schemeClr val="accent3"/>
                </a:solidFill>
              </a:rPr>
              <a:t>ON-CHAIN LEDGER   Polygon Amoy   |   hashes only, no personal data</a:t>
            </a:r>
            <a:endParaRPr lang="en-US" sz="1100" dirty="0"/>
          </a:p>
        </p:txBody>
      </p:sp>
      <p:sp>
        <p:nvSpPr>
          <p:cNvPr id="33" name="Registry">
            <a:extLst>
              <a:ext uri="{FF2B5EF4-FFF2-40B4-BE49-F238E27FC236}">
                <a16:creationId xmlns:a16="http://schemas.microsoft.com/office/drawing/2014/main" id="{D36ED38A-105E-B14C-5755-48EAD9129C76}"/>
              </a:ext>
            </a:extLst>
          </p:cNvPr>
          <p:cNvSpPr/>
          <p:nvPr/>
        </p:nvSpPr>
        <p:spPr>
          <a:xfrm>
            <a:off x="822960" y="5687568"/>
            <a:ext cx="2926080" cy="420624"/>
          </a:xfrm>
          <a:prstGeom prst="roundRect">
            <a:avLst>
              <a:gd name="adj" fmla="val 17391"/>
            </a:avLst>
          </a:prstGeom>
          <a:solidFill>
            <a:schemeClr val="accent3"/>
          </a:solidFill>
          <a:ln/>
        </p:spPr>
      </p:sp>
      <p:sp>
        <p:nvSpPr>
          <p:cNvPr id="34" name="Text 32">
            <a:extLst>
              <a:ext uri="{FF2B5EF4-FFF2-40B4-BE49-F238E27FC236}">
                <a16:creationId xmlns:a16="http://schemas.microsoft.com/office/drawing/2014/main" id="{D010A4C4-31E8-19BF-C5E2-36A9D499F438}"/>
              </a:ext>
            </a:extLst>
          </p:cNvPr>
          <p:cNvSpPr txBox="1"/>
          <p:nvPr/>
        </p:nvSpPr>
        <p:spPr>
          <a:xfrm>
            <a:off x="822960" y="5687568"/>
            <a:ext cx="2926080" cy="420624"/>
          </a:xfrm>
          <a:prstGeom prst="rect">
            <a:avLst/>
          </a:prstGeom>
          <a:noFill/>
          <a:ln/>
        </p:spPr>
        <p:txBody>
          <a:bodyPr wrap="square" lIns="0" tIns="0" rIns="0" bIns="0" rtlCol="0" anchor="ctr"/>
          <a:lstStyle/>
          <a:p>
            <a:pPr marL="0" indent="0" algn="ctr">
              <a:buNone/>
            </a:pPr>
            <a:r>
              <a:rPr lang="en-US" sz="1100" b="1" dirty="0">
                <a:solidFill>
                  <a:schemeClr val="bg1"/>
                </a:solidFill>
              </a:rPr>
              <a:t>ConsentRegistry: signed consent state</a:t>
            </a:r>
            <a:endParaRPr lang="en-US" sz="1100" dirty="0"/>
          </a:p>
        </p:txBody>
      </p:sp>
      <p:sp>
        <p:nvSpPr>
          <p:cNvPr id="35" name="Anchor">
            <a:extLst>
              <a:ext uri="{FF2B5EF4-FFF2-40B4-BE49-F238E27FC236}">
                <a16:creationId xmlns:a16="http://schemas.microsoft.com/office/drawing/2014/main" id="{318C1D02-0FCB-3993-816D-FB59837A0F4F}"/>
              </a:ext>
            </a:extLst>
          </p:cNvPr>
          <p:cNvSpPr/>
          <p:nvPr/>
        </p:nvSpPr>
        <p:spPr>
          <a:xfrm>
            <a:off x="3886200" y="5687568"/>
            <a:ext cx="2971800" cy="420624"/>
          </a:xfrm>
          <a:prstGeom prst="roundRect">
            <a:avLst>
              <a:gd name="adj" fmla="val 17391"/>
            </a:avLst>
          </a:prstGeom>
          <a:solidFill>
            <a:schemeClr val="accent3"/>
          </a:solidFill>
          <a:ln/>
        </p:spPr>
      </p:sp>
      <p:sp>
        <p:nvSpPr>
          <p:cNvPr id="36" name="Text 34">
            <a:extLst>
              <a:ext uri="{FF2B5EF4-FFF2-40B4-BE49-F238E27FC236}">
                <a16:creationId xmlns:a16="http://schemas.microsoft.com/office/drawing/2014/main" id="{2B6727E1-0B51-E862-1E10-9057E8317D14}"/>
              </a:ext>
            </a:extLst>
          </p:cNvPr>
          <p:cNvSpPr txBox="1"/>
          <p:nvPr/>
        </p:nvSpPr>
        <p:spPr>
          <a:xfrm>
            <a:off x="3886200" y="5687568"/>
            <a:ext cx="2971800" cy="420624"/>
          </a:xfrm>
          <a:prstGeom prst="rect">
            <a:avLst/>
          </a:prstGeom>
          <a:noFill/>
          <a:ln/>
        </p:spPr>
        <p:txBody>
          <a:bodyPr wrap="square" lIns="0" tIns="0" rIns="0" bIns="0" rtlCol="0" anchor="ctr"/>
          <a:lstStyle/>
          <a:p>
            <a:pPr marL="0" indent="0" algn="ctr">
              <a:buNone/>
            </a:pPr>
            <a:r>
              <a:rPr lang="en-US" sz="1100" b="1" dirty="0">
                <a:solidFill>
                  <a:schemeClr val="bg1"/>
                </a:solidFill>
              </a:rPr>
              <a:t>AccessAnchor: Merkle roots, acks</a:t>
            </a:r>
            <a:endParaRPr lang="en-US" sz="1100" dirty="0"/>
          </a:p>
        </p:txBody>
      </p:sp>
      <p:sp>
        <p:nvSpPr>
          <p:cNvPr id="37" name="Processor box">
            <a:extLst>
              <a:ext uri="{FF2B5EF4-FFF2-40B4-BE49-F238E27FC236}">
                <a16:creationId xmlns:a16="http://schemas.microsoft.com/office/drawing/2014/main" id="{C538892A-840F-4315-C7F5-DF16A64B6B82}"/>
              </a:ext>
            </a:extLst>
          </p:cNvPr>
          <p:cNvSpPr/>
          <p:nvPr/>
        </p:nvSpPr>
        <p:spPr>
          <a:xfrm>
            <a:off x="7269480" y="5349240"/>
            <a:ext cx="4297680" cy="868680"/>
          </a:xfrm>
          <a:prstGeom prst="roundRect">
            <a:avLst>
              <a:gd name="adj" fmla="val 10526"/>
            </a:avLst>
          </a:prstGeom>
          <a:solidFill>
            <a:srgbClr val="ECE8FA"/>
          </a:solidFill>
          <a:ln w="15875">
            <a:solidFill>
              <a:schemeClr val="accent5"/>
            </a:solidFill>
            <a:prstDash val="solid"/>
          </a:ln>
        </p:spPr>
      </p:sp>
      <p:sp>
        <p:nvSpPr>
          <p:cNvPr id="38" name="Text 36">
            <a:extLst>
              <a:ext uri="{FF2B5EF4-FFF2-40B4-BE49-F238E27FC236}">
                <a16:creationId xmlns:a16="http://schemas.microsoft.com/office/drawing/2014/main" id="{32AE24C1-FC36-4EDB-A783-D0C2430677EA}"/>
              </a:ext>
            </a:extLst>
          </p:cNvPr>
          <p:cNvSpPr txBox="1"/>
          <p:nvPr/>
        </p:nvSpPr>
        <p:spPr>
          <a:xfrm>
            <a:off x="7452360" y="5394960"/>
            <a:ext cx="3931920" cy="256032"/>
          </a:xfrm>
          <a:prstGeom prst="rect">
            <a:avLst/>
          </a:prstGeom>
          <a:noFill/>
          <a:ln/>
        </p:spPr>
        <p:txBody>
          <a:bodyPr wrap="square" lIns="0" tIns="0" rIns="0" bIns="0" rtlCol="0" anchor="t"/>
          <a:lstStyle/>
          <a:p>
            <a:pPr marL="0" indent="0">
              <a:buNone/>
            </a:pPr>
            <a:r>
              <a:rPr lang="en-US" sz="1100" b="1" dirty="0">
                <a:solidFill>
                  <a:schemeClr val="accent5"/>
                </a:solidFill>
              </a:rPr>
              <a:t>SAMMATI PROCESSOR   simulated enclave</a:t>
            </a:r>
            <a:endParaRPr lang="en-US" sz="1100" dirty="0"/>
          </a:p>
        </p:txBody>
      </p:sp>
      <p:sp>
        <p:nvSpPr>
          <p:cNvPr id="39" name="Text 37">
            <a:extLst>
              <a:ext uri="{FF2B5EF4-FFF2-40B4-BE49-F238E27FC236}">
                <a16:creationId xmlns:a16="http://schemas.microsoft.com/office/drawing/2014/main" id="{F17E9EEA-12F4-360D-21D0-D69FB0A6EE2D}"/>
              </a:ext>
            </a:extLst>
          </p:cNvPr>
          <p:cNvSpPr txBox="1"/>
          <p:nvPr/>
        </p:nvSpPr>
        <p:spPr>
          <a:xfrm>
            <a:off x="7452360" y="5669280"/>
            <a:ext cx="3977640" cy="502920"/>
          </a:xfrm>
          <a:prstGeom prst="rect">
            <a:avLst/>
          </a:prstGeom>
          <a:noFill/>
          <a:ln/>
        </p:spPr>
        <p:txBody>
          <a:bodyPr wrap="square" lIns="0" tIns="0" rIns="0" bIns="0" rtlCol="0" anchor="t"/>
          <a:lstStyle/>
          <a:p>
            <a:pPr marL="0" indent="0">
              <a:buNone/>
            </a:pPr>
            <a:r>
              <a:rPr lang="en-US" sz="1100" dirty="0">
                <a:solidFill>
                  <a:schemeClr val="tx1"/>
                </a:solidFill>
              </a:rPr>
              <a:t>Gets ciphertext straight from the wallet, opens it in memory for one evaluation, returns a decision only.</a:t>
            </a:r>
            <a:endParaRPr lang="en-US" sz="1100" dirty="0"/>
          </a:p>
        </p:txBody>
      </p:sp>
      <p:sp>
        <p:nvSpPr>
          <p:cNvPr id="40" name="Shape 38">
            <a:extLst>
              <a:ext uri="{FF2B5EF4-FFF2-40B4-BE49-F238E27FC236}">
                <a16:creationId xmlns:a16="http://schemas.microsoft.com/office/drawing/2014/main" id="{AB38F815-39CE-E07F-304F-13E5E30BCF76}"/>
              </a:ext>
            </a:extLst>
          </p:cNvPr>
          <p:cNvSpPr/>
          <p:nvPr/>
        </p:nvSpPr>
        <p:spPr>
          <a:xfrm>
            <a:off x="1943100" y="2880360"/>
            <a:ext cx="0" cy="731520"/>
          </a:xfrm>
          <a:prstGeom prst="line">
            <a:avLst/>
          </a:prstGeom>
          <a:noFill/>
          <a:ln w="25400">
            <a:solidFill>
              <a:srgbClr val="16304D"/>
            </a:solidFill>
            <a:prstDash val="solid"/>
            <a:headEnd type="triangle"/>
            <a:tailEnd type="triangle"/>
          </a:ln>
        </p:spPr>
      </p:sp>
      <p:sp>
        <p:nvSpPr>
          <p:cNvPr id="41" name="Text 39">
            <a:extLst>
              <a:ext uri="{FF2B5EF4-FFF2-40B4-BE49-F238E27FC236}">
                <a16:creationId xmlns:a16="http://schemas.microsoft.com/office/drawing/2014/main" id="{2D529E11-3C11-4E8C-C206-D920B2C42CE7}"/>
              </a:ext>
            </a:extLst>
          </p:cNvPr>
          <p:cNvSpPr txBox="1"/>
          <p:nvPr/>
        </p:nvSpPr>
        <p:spPr>
          <a:xfrm>
            <a:off x="2071116" y="3200400"/>
            <a:ext cx="1280160" cy="228600"/>
          </a:xfrm>
          <a:prstGeom prst="rect">
            <a:avLst/>
          </a:prstGeom>
          <a:noFill/>
          <a:ln/>
        </p:spPr>
        <p:txBody>
          <a:bodyPr wrap="square" lIns="0" tIns="0" rIns="0" bIns="0" rtlCol="0" anchor="t"/>
          <a:lstStyle/>
          <a:p>
            <a:pPr marL="0" indent="0">
              <a:buNone/>
            </a:pPr>
            <a:r>
              <a:rPr lang="en-US" sz="1100" i="1" dirty="0">
                <a:solidFill>
                  <a:schemeClr val="accent6"/>
                </a:solidFill>
              </a:rPr>
              <a:t>signed consent</a:t>
            </a:r>
            <a:endParaRPr lang="en-US" sz="1100" dirty="0"/>
          </a:p>
        </p:txBody>
      </p:sp>
      <p:sp>
        <p:nvSpPr>
          <p:cNvPr id="42" name="Shape 40">
            <a:extLst>
              <a:ext uri="{FF2B5EF4-FFF2-40B4-BE49-F238E27FC236}">
                <a16:creationId xmlns:a16="http://schemas.microsoft.com/office/drawing/2014/main" id="{CF1389C7-DFEC-274B-1127-C20D002B20C2}"/>
              </a:ext>
            </a:extLst>
          </p:cNvPr>
          <p:cNvSpPr/>
          <p:nvPr/>
        </p:nvSpPr>
        <p:spPr>
          <a:xfrm>
            <a:off x="4759452" y="2880360"/>
            <a:ext cx="0" cy="731520"/>
          </a:xfrm>
          <a:prstGeom prst="line">
            <a:avLst/>
          </a:prstGeom>
          <a:noFill/>
          <a:ln w="25400">
            <a:solidFill>
              <a:srgbClr val="16304D"/>
            </a:solidFill>
            <a:prstDash val="solid"/>
            <a:headEnd type="triangle"/>
            <a:tailEnd type="triangle"/>
          </a:ln>
        </p:spPr>
      </p:sp>
      <p:sp>
        <p:nvSpPr>
          <p:cNvPr id="43" name="Text 41">
            <a:extLst>
              <a:ext uri="{FF2B5EF4-FFF2-40B4-BE49-F238E27FC236}">
                <a16:creationId xmlns:a16="http://schemas.microsoft.com/office/drawing/2014/main" id="{2833A343-5F43-E57A-2E2F-464DB706E7B5}"/>
              </a:ext>
            </a:extLst>
          </p:cNvPr>
          <p:cNvSpPr txBox="1"/>
          <p:nvPr/>
        </p:nvSpPr>
        <p:spPr>
          <a:xfrm>
            <a:off x="4887468" y="3200400"/>
            <a:ext cx="1280160" cy="228600"/>
          </a:xfrm>
          <a:prstGeom prst="rect">
            <a:avLst/>
          </a:prstGeom>
          <a:noFill/>
          <a:ln/>
        </p:spPr>
        <p:txBody>
          <a:bodyPr wrap="square" lIns="0" tIns="0" rIns="0" bIns="0" rtlCol="0" anchor="t"/>
          <a:lstStyle/>
          <a:p>
            <a:pPr marL="0" indent="0">
              <a:buNone/>
            </a:pPr>
            <a:r>
              <a:rPr lang="en-US" sz="1100" i="1" dirty="0">
                <a:solidFill>
                  <a:schemeClr val="accent6"/>
                </a:solidFill>
              </a:rPr>
              <a:t>requests, live feed</a:t>
            </a:r>
            <a:endParaRPr lang="en-US" sz="1100" dirty="0"/>
          </a:p>
        </p:txBody>
      </p:sp>
      <p:sp>
        <p:nvSpPr>
          <p:cNvPr id="44" name="Shape 42">
            <a:extLst>
              <a:ext uri="{FF2B5EF4-FFF2-40B4-BE49-F238E27FC236}">
                <a16:creationId xmlns:a16="http://schemas.microsoft.com/office/drawing/2014/main" id="{3435D193-67A2-3E4E-9B5A-2A02D72CAB8C}"/>
              </a:ext>
            </a:extLst>
          </p:cNvPr>
          <p:cNvSpPr/>
          <p:nvPr/>
        </p:nvSpPr>
        <p:spPr>
          <a:xfrm>
            <a:off x="7575804" y="2880360"/>
            <a:ext cx="0" cy="731520"/>
          </a:xfrm>
          <a:prstGeom prst="line">
            <a:avLst/>
          </a:prstGeom>
          <a:noFill/>
          <a:ln w="25400">
            <a:solidFill>
              <a:srgbClr val="16304D"/>
            </a:solidFill>
            <a:prstDash val="solid"/>
            <a:headEnd type="triangle"/>
            <a:tailEnd type="triangle"/>
          </a:ln>
        </p:spPr>
      </p:sp>
      <p:sp>
        <p:nvSpPr>
          <p:cNvPr id="45" name="Text 43">
            <a:extLst>
              <a:ext uri="{FF2B5EF4-FFF2-40B4-BE49-F238E27FC236}">
                <a16:creationId xmlns:a16="http://schemas.microsoft.com/office/drawing/2014/main" id="{4E435ADF-C0CC-E26A-7301-450C533A2B84}"/>
              </a:ext>
            </a:extLst>
          </p:cNvPr>
          <p:cNvSpPr txBox="1"/>
          <p:nvPr/>
        </p:nvSpPr>
        <p:spPr>
          <a:xfrm>
            <a:off x="7703820" y="3200400"/>
            <a:ext cx="1280160" cy="228600"/>
          </a:xfrm>
          <a:prstGeom prst="rect">
            <a:avLst/>
          </a:prstGeom>
          <a:noFill/>
          <a:ln/>
        </p:spPr>
        <p:txBody>
          <a:bodyPr wrap="square" lIns="0" tIns="0" rIns="0" bIns="0" rtlCol="0" anchor="t"/>
          <a:lstStyle/>
          <a:p>
            <a:pPr marL="0" indent="0">
              <a:buNone/>
            </a:pPr>
            <a:r>
              <a:rPr lang="en-US" sz="1100" i="1" dirty="0">
                <a:solidFill>
                  <a:schemeClr val="accent6"/>
                </a:solidFill>
              </a:rPr>
              <a:t>verify, reports</a:t>
            </a:r>
            <a:endParaRPr lang="en-US" sz="1100" dirty="0"/>
          </a:p>
        </p:txBody>
      </p:sp>
      <p:sp>
        <p:nvSpPr>
          <p:cNvPr id="46" name="Shape 44">
            <a:extLst>
              <a:ext uri="{FF2B5EF4-FFF2-40B4-BE49-F238E27FC236}">
                <a16:creationId xmlns:a16="http://schemas.microsoft.com/office/drawing/2014/main" id="{680C0679-BF00-5A92-08E1-748A08579A6B}"/>
              </a:ext>
            </a:extLst>
          </p:cNvPr>
          <p:cNvSpPr/>
          <p:nvPr/>
        </p:nvSpPr>
        <p:spPr>
          <a:xfrm>
            <a:off x="10392156" y="2880360"/>
            <a:ext cx="0" cy="731520"/>
          </a:xfrm>
          <a:prstGeom prst="line">
            <a:avLst/>
          </a:prstGeom>
          <a:noFill/>
          <a:ln w="25400">
            <a:solidFill>
              <a:srgbClr val="16304D"/>
            </a:solidFill>
            <a:prstDash val="solid"/>
            <a:headEnd type="triangle"/>
            <a:tailEnd type="triangle"/>
          </a:ln>
        </p:spPr>
      </p:sp>
      <p:sp>
        <p:nvSpPr>
          <p:cNvPr id="47" name="Text 45">
            <a:extLst>
              <a:ext uri="{FF2B5EF4-FFF2-40B4-BE49-F238E27FC236}">
                <a16:creationId xmlns:a16="http://schemas.microsoft.com/office/drawing/2014/main" id="{8B4A5F67-319A-DD07-2446-A06E3691BCBA}"/>
              </a:ext>
            </a:extLst>
          </p:cNvPr>
          <p:cNvSpPr txBox="1"/>
          <p:nvPr/>
        </p:nvSpPr>
        <p:spPr>
          <a:xfrm>
            <a:off x="8974836" y="3200400"/>
            <a:ext cx="1280160" cy="228600"/>
          </a:xfrm>
          <a:prstGeom prst="rect">
            <a:avLst/>
          </a:prstGeom>
          <a:noFill/>
          <a:ln/>
        </p:spPr>
        <p:txBody>
          <a:bodyPr wrap="square" lIns="0" tIns="0" rIns="0" bIns="0" rtlCol="0" anchor="t"/>
          <a:lstStyle/>
          <a:p>
            <a:pPr marL="0" indent="0" algn="r">
              <a:buNone/>
            </a:pPr>
            <a:r>
              <a:rPr lang="en-US" sz="1100" i="1" dirty="0">
                <a:solidFill>
                  <a:schemeClr val="accent6"/>
                </a:solidFill>
              </a:rPr>
              <a:t>logs, consent state</a:t>
            </a:r>
            <a:endParaRPr lang="en-US" sz="1100" dirty="0"/>
          </a:p>
        </p:txBody>
      </p:sp>
      <p:sp>
        <p:nvSpPr>
          <p:cNvPr id="48" name="Shape 46">
            <a:extLst>
              <a:ext uri="{FF2B5EF4-FFF2-40B4-BE49-F238E27FC236}">
                <a16:creationId xmlns:a16="http://schemas.microsoft.com/office/drawing/2014/main" id="{35E68D17-4370-7C6C-EFC2-B68075EBF81C}"/>
              </a:ext>
            </a:extLst>
          </p:cNvPr>
          <p:cNvSpPr/>
          <p:nvPr/>
        </p:nvSpPr>
        <p:spPr>
          <a:xfrm>
            <a:off x="2926080" y="4617720"/>
            <a:ext cx="0" cy="731520"/>
          </a:xfrm>
          <a:prstGeom prst="line">
            <a:avLst/>
          </a:prstGeom>
          <a:noFill/>
          <a:ln w="25400">
            <a:solidFill>
              <a:srgbClr val="2F63C8"/>
            </a:solidFill>
            <a:prstDash val="solid"/>
            <a:headEnd type="triangle"/>
            <a:tailEnd type="triangle"/>
          </a:ln>
        </p:spPr>
      </p:sp>
      <p:sp>
        <p:nvSpPr>
          <p:cNvPr id="49" name="Text 47">
            <a:extLst>
              <a:ext uri="{FF2B5EF4-FFF2-40B4-BE49-F238E27FC236}">
                <a16:creationId xmlns:a16="http://schemas.microsoft.com/office/drawing/2014/main" id="{E279B178-4866-92A2-F1A0-02314991BACD}"/>
              </a:ext>
            </a:extLst>
          </p:cNvPr>
          <p:cNvSpPr txBox="1"/>
          <p:nvPr/>
        </p:nvSpPr>
        <p:spPr>
          <a:xfrm>
            <a:off x="3054096" y="4800600"/>
            <a:ext cx="2194560" cy="228600"/>
          </a:xfrm>
          <a:prstGeom prst="rect">
            <a:avLst/>
          </a:prstGeom>
          <a:noFill/>
          <a:ln/>
        </p:spPr>
        <p:txBody>
          <a:bodyPr wrap="square" lIns="0" tIns="0" rIns="0" bIns="0" rtlCol="0" anchor="t"/>
          <a:lstStyle/>
          <a:p>
            <a:pPr marL="0" indent="0">
              <a:buNone/>
            </a:pPr>
            <a:r>
              <a:rPr lang="en-US" sz="1100" i="1" dirty="0">
                <a:solidFill>
                  <a:schemeClr val="accent6"/>
                </a:solidFill>
              </a:rPr>
              <a:t>relay, index, anchor</a:t>
            </a:r>
            <a:endParaRPr lang="en-US" sz="1100" dirty="0"/>
          </a:p>
        </p:txBody>
      </p:sp>
      <p:sp>
        <p:nvSpPr>
          <p:cNvPr id="50" name="Shape 48">
            <a:extLst>
              <a:ext uri="{FF2B5EF4-FFF2-40B4-BE49-F238E27FC236}">
                <a16:creationId xmlns:a16="http://schemas.microsoft.com/office/drawing/2014/main" id="{5F724B6C-C0D7-9003-55B3-4D1FCC78C77F}"/>
              </a:ext>
            </a:extLst>
          </p:cNvPr>
          <p:cNvSpPr/>
          <p:nvPr/>
        </p:nvSpPr>
        <p:spPr>
          <a:xfrm>
            <a:off x="8138160" y="4617720"/>
            <a:ext cx="0" cy="731520"/>
          </a:xfrm>
          <a:prstGeom prst="line">
            <a:avLst/>
          </a:prstGeom>
          <a:noFill/>
          <a:ln w="25400">
            <a:solidFill>
              <a:srgbClr val="6D4FD0"/>
            </a:solidFill>
            <a:prstDash val="solid"/>
            <a:headEnd type="triangle"/>
            <a:tailEnd type="triangle"/>
          </a:ln>
        </p:spPr>
      </p:sp>
      <p:sp>
        <p:nvSpPr>
          <p:cNvPr id="51" name="Text 49">
            <a:extLst>
              <a:ext uri="{FF2B5EF4-FFF2-40B4-BE49-F238E27FC236}">
                <a16:creationId xmlns:a16="http://schemas.microsoft.com/office/drawing/2014/main" id="{43B651F8-A37F-88FD-0B11-13CDB6BD10C1}"/>
              </a:ext>
            </a:extLst>
          </p:cNvPr>
          <p:cNvSpPr txBox="1"/>
          <p:nvPr/>
        </p:nvSpPr>
        <p:spPr>
          <a:xfrm>
            <a:off x="8266176" y="4800600"/>
            <a:ext cx="1554480" cy="228600"/>
          </a:xfrm>
          <a:prstGeom prst="rect">
            <a:avLst/>
          </a:prstGeom>
          <a:noFill/>
          <a:ln/>
        </p:spPr>
        <p:txBody>
          <a:bodyPr wrap="square" lIns="0" tIns="0" rIns="0" bIns="0" rtlCol="0" anchor="t"/>
          <a:lstStyle/>
          <a:p>
            <a:pPr marL="0" indent="0">
              <a:buNone/>
            </a:pPr>
            <a:r>
              <a:rPr lang="en-US" sz="1100" i="1" dirty="0">
                <a:solidFill>
                  <a:schemeClr val="accent6"/>
                </a:solidFill>
              </a:rPr>
              <a:t>events, hashes only</a:t>
            </a:r>
            <a:endParaRPr lang="en-US" sz="1100" dirty="0"/>
          </a:p>
        </p:txBody>
      </p:sp>
      <p:sp>
        <p:nvSpPr>
          <p:cNvPr id="52" name="Shape 50">
            <a:extLst>
              <a:ext uri="{FF2B5EF4-FFF2-40B4-BE49-F238E27FC236}">
                <a16:creationId xmlns:a16="http://schemas.microsoft.com/office/drawing/2014/main" id="{9610E566-AEC5-D9A7-4DBA-04A46225209E}"/>
              </a:ext>
            </a:extLst>
          </p:cNvPr>
          <p:cNvSpPr/>
          <p:nvPr/>
        </p:nvSpPr>
        <p:spPr>
          <a:xfrm>
            <a:off x="10881360" y="2880360"/>
            <a:ext cx="0" cy="2468880"/>
          </a:xfrm>
          <a:prstGeom prst="line">
            <a:avLst/>
          </a:prstGeom>
          <a:noFill/>
          <a:ln w="25400">
            <a:solidFill>
              <a:srgbClr val="F2A33A"/>
            </a:solidFill>
            <a:prstDash val="solid"/>
            <a:tailEnd type="triangle"/>
          </a:ln>
        </p:spPr>
      </p:sp>
      <p:sp>
        <p:nvSpPr>
          <p:cNvPr id="53" name="Text 51">
            <a:extLst>
              <a:ext uri="{FF2B5EF4-FFF2-40B4-BE49-F238E27FC236}">
                <a16:creationId xmlns:a16="http://schemas.microsoft.com/office/drawing/2014/main" id="{18F4E28E-14E8-BB8C-10B0-77ACE77AC363}"/>
              </a:ext>
            </a:extLst>
          </p:cNvPr>
          <p:cNvSpPr txBox="1"/>
          <p:nvPr/>
        </p:nvSpPr>
        <p:spPr>
          <a:xfrm>
            <a:off x="9326880" y="4754880"/>
            <a:ext cx="1463040" cy="365760"/>
          </a:xfrm>
          <a:prstGeom prst="rect">
            <a:avLst/>
          </a:prstGeom>
          <a:noFill/>
          <a:ln/>
        </p:spPr>
        <p:txBody>
          <a:bodyPr wrap="square" lIns="0" tIns="0" rIns="0" bIns="0" rtlCol="0" anchor="t"/>
          <a:lstStyle/>
          <a:p>
            <a:pPr marL="0" indent="0" algn="r">
              <a:buNone/>
            </a:pPr>
            <a:r>
              <a:rPr lang="en-US" sz="1050" i="1" dirty="0">
                <a:solidFill>
                  <a:schemeClr val="accent6"/>
                </a:solidFill>
              </a:rPr>
              <a:t>company calls:</a:t>
            </a:r>
            <a:endParaRPr lang="en-US" sz="1050" dirty="0"/>
          </a:p>
          <a:p>
            <a:pPr marL="0" indent="0" algn="r">
              <a:buNone/>
            </a:pPr>
            <a:r>
              <a:rPr lang="en-US" sz="1050" i="1" dirty="0">
                <a:solidFill>
                  <a:schemeClr val="accent6"/>
                </a:solidFill>
              </a:rPr>
              <a:t>handle in, decision out</a:t>
            </a:r>
            <a:endParaRPr lang="en-US" sz="1050" dirty="0"/>
          </a:p>
        </p:txBody>
      </p:sp>
      <p:sp>
        <p:nvSpPr>
          <p:cNvPr id="54" name="Slide Number Placeholder 0">
            <a:extLst>
              <a:ext uri="{FF2B5EF4-FFF2-40B4-BE49-F238E27FC236}">
                <a16:creationId xmlns:a16="http://schemas.microsoft.com/office/drawing/2014/main" id="{471046E4-2209-03E4-34F8-1BB6473F355D}"/>
              </a:ext>
            </a:extLst>
          </p:cNvPr>
          <p:cNvSpPr>
            <a:spLocks noGrp="1"/>
          </p:cNvSpPr>
          <p:nvPr>
            <p:ph type="sldNum" sz="quarter" idx="4294967295"/>
          </p:nvPr>
        </p:nvSpPr>
        <p:spPr>
          <a:xfrm>
            <a:off x="10881360" y="6455664"/>
            <a:ext cx="758952" cy="237744"/>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8</a:t>
            </a:fld>
            <a:endParaRPr lang="en-US"/>
          </a:p>
        </p:txBody>
      </p:sp>
      <p:pic>
        <p:nvPicPr>
          <p:cNvPr id="56" name="Picture 55">
            <a:extLst>
              <a:ext uri="{FF2B5EF4-FFF2-40B4-BE49-F238E27FC236}">
                <a16:creationId xmlns:a16="http://schemas.microsoft.com/office/drawing/2014/main" id="{AA92012C-B5A1-DC12-A8F1-236527C074FC}"/>
              </a:ext>
            </a:extLst>
          </p:cNvPr>
          <p:cNvPicPr>
            <a:picLocks noChangeAspect="1"/>
          </p:cNvPicPr>
          <p:nvPr/>
        </p:nvPicPr>
        <p:blipFill>
          <a:blip r:embed="rId3"/>
          <a:stretch>
            <a:fillRect/>
          </a:stretch>
        </p:blipFill>
        <p:spPr>
          <a:xfrm>
            <a:off x="81980" y="47913"/>
            <a:ext cx="12110019" cy="6808264"/>
          </a:xfrm>
          <a:prstGeom prst="rect">
            <a:avLst/>
          </a:prstGeom>
        </p:spPr>
      </p:pic>
    </p:spTree>
    <p:extLst>
      <p:ext uri="{BB962C8B-B14F-4D97-AF65-F5344CB8AC3E}">
        <p14:creationId xmlns:p14="http://schemas.microsoft.com/office/powerpoint/2010/main" val="36403421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marL="0" indent="0">
              <a:buNone/>
            </a:pPr>
            <a:r>
              <a:rPr lang="en-US" sz="1200" b="1" kern="0" spc="300" dirty="0">
                <a:solidFill>
                  <a:schemeClr val="accent1"/>
                </a:solidFill>
              </a:rPr>
              <a:t>08  |  TECHNICAL FEASIBILITY AND IMPLEMENTATION</a:t>
            </a:r>
            <a:endParaRPr lang="en-US" sz="1200" dirty="0"/>
          </a:p>
        </p:txBody>
      </p:sp>
      <p:sp>
        <p:nvSpPr>
          <p:cNvPr id="3" name="Text 1"/>
          <p:cNvSpPr>
            <a:spLocks noGrp="1"/>
          </p:cNvSpPr>
          <p:nvPr>
            <p:ph type="title" idx="101" hasCustomPrompt="1"/>
          </p:nvPr>
        </p:nvSpPr>
        <p:spPr>
          <a:xfrm>
            <a:off x="548640" y="658368"/>
            <a:ext cx="11094415" cy="731520"/>
          </a:xfrm>
          <a:prstGeom prst="rect">
            <a:avLst/>
          </a:prstGeom>
          <a:noFill/>
          <a:ln/>
        </p:spPr>
        <p:txBody>
          <a:bodyPr wrap="square" lIns="0" tIns="0" rIns="0" bIns="0" rtlCol="0" anchor="ctr"/>
          <a:lstStyle/>
          <a:p>
            <a:pPr marL="0" indent="0" algn="l">
              <a:buNone/>
            </a:pPr>
            <a:r>
              <a:rPr lang="en-US" sz="3200" b="1" dirty="0">
                <a:solidFill>
                  <a:schemeClr val="tx1"/>
                </a:solidFill>
              </a:rPr>
              <a:t>It is built, it runs, and we say what is simulated</a:t>
            </a:r>
            <a:endParaRPr lang="en-US" sz="3200" dirty="0"/>
          </a:p>
        </p:txBody>
      </p:sp>
      <p:sp>
        <p:nvSpPr>
          <p:cNvPr id="4" name="Feasibility card"/>
          <p:cNvSpPr/>
          <p:nvPr/>
        </p:nvSpPr>
        <p:spPr>
          <a:xfrm>
            <a:off x="548640" y="1645920"/>
            <a:ext cx="3575304" cy="3611880"/>
          </a:xfrm>
          <a:prstGeom prst="roundRect">
            <a:avLst>
              <a:gd name="adj" fmla="val 3069"/>
            </a:avLst>
          </a:prstGeom>
          <a:solidFill>
            <a:schemeClr val="bg1"/>
          </a:solidFill>
          <a:ln/>
          <a:effectLst>
            <a:outerShdw blurRad="127000" dist="25400" dir="5400000" algn="bl" rotWithShape="0">
              <a:srgbClr val="0B1B2E">
                <a:alpha val="10000"/>
              </a:srgbClr>
            </a:outerShdw>
          </a:effectLst>
        </p:spPr>
      </p:sp>
      <p:sp>
        <p:nvSpPr>
          <p:cNvPr id="5" name="Icon circle"/>
          <p:cNvSpPr/>
          <p:nvPr/>
        </p:nvSpPr>
        <p:spPr>
          <a:xfrm>
            <a:off x="749808" y="1810512"/>
            <a:ext cx="548640" cy="548640"/>
          </a:xfrm>
          <a:prstGeom prst="ellipse">
            <a:avLst/>
          </a:prstGeom>
          <a:solidFill>
            <a:srgbClr val="0E8F83"/>
          </a:solidFill>
          <a:ln/>
        </p:spPr>
      </p:sp>
      <p:pic>
        <p:nvPicPr>
          <p:cNvPr id="6" name="Image 0" descr="CheckCircle icon"/>
          <p:cNvPicPr>
            <a:picLocks noChangeAspect="1"/>
          </p:cNvPicPr>
          <p:nvPr/>
        </p:nvPicPr>
        <p:blipFill>
          <a:blip r:embed="rId3"/>
          <a:stretch>
            <a:fillRect/>
          </a:stretch>
        </p:blipFill>
        <p:spPr>
          <a:xfrm>
            <a:off x="892454" y="1953158"/>
            <a:ext cx="263347" cy="263347"/>
          </a:xfrm>
          <a:prstGeom prst="rect">
            <a:avLst/>
          </a:prstGeom>
        </p:spPr>
      </p:pic>
      <p:sp>
        <p:nvSpPr>
          <p:cNvPr id="7" name="Text 4"/>
          <p:cNvSpPr txBox="1"/>
          <p:nvPr/>
        </p:nvSpPr>
        <p:spPr>
          <a:xfrm>
            <a:off x="1417320" y="1874520"/>
            <a:ext cx="2560320" cy="411480"/>
          </a:xfrm>
          <a:prstGeom prst="rect">
            <a:avLst/>
          </a:prstGeom>
          <a:noFill/>
          <a:ln/>
        </p:spPr>
        <p:txBody>
          <a:bodyPr wrap="square" lIns="0" tIns="0" rIns="0" bIns="0" rtlCol="0" anchor="ctr"/>
          <a:lstStyle/>
          <a:p>
            <a:pPr marL="0" indent="0">
              <a:buNone/>
            </a:pPr>
            <a:r>
              <a:rPr lang="en-US" sz="1700" b="1" dirty="0">
                <a:solidFill>
                  <a:schemeClr val="tx1"/>
                </a:solidFill>
              </a:rPr>
              <a:t>Prototype status</a:t>
            </a:r>
            <a:endParaRPr lang="en-US" sz="1700" dirty="0"/>
          </a:p>
        </p:txBody>
      </p:sp>
      <p:sp>
        <p:nvSpPr>
          <p:cNvPr id="8" name="Text 5"/>
          <p:cNvSpPr txBox="1"/>
          <p:nvPr/>
        </p:nvSpPr>
        <p:spPr>
          <a:xfrm>
            <a:off x="777240" y="2560320"/>
            <a:ext cx="3154680" cy="2606040"/>
          </a:xfrm>
          <a:prstGeom prst="rect">
            <a:avLst/>
          </a:prstGeom>
          <a:noFill/>
          <a:ln/>
        </p:spPr>
        <p:txBody>
          <a:bodyPr wrap="square" lIns="0" tIns="0" rIns="0" bIns="0" rtlCol="0" anchor="t"/>
          <a:lstStyle/>
          <a:p>
            <a:pPr marL="177800" indent="-177800">
              <a:spcAft>
                <a:spcPts val="1100"/>
              </a:spcAft>
              <a:buSzPct val="100000"/>
              <a:buChar char="•"/>
            </a:pPr>
            <a:r>
              <a:rPr lang="en-US" sz="1450" dirty="0">
                <a:solidFill>
                  <a:schemeClr val="tx1"/>
                </a:solidFill>
              </a:rPr>
              <a:t>Golden path working: grant, allow, withdraw, block, tamper alert</a:t>
            </a:r>
            <a:endParaRPr lang="en-US" sz="1450" dirty="0"/>
          </a:p>
          <a:p>
            <a:pPr marL="177800" indent="-177800">
              <a:spcAft>
                <a:spcPts val="1100"/>
              </a:spcAft>
              <a:buSzPct val="100000"/>
              <a:buChar char="•"/>
            </a:pPr>
            <a:r>
              <a:rPr lang="en-US" sz="1450" dirty="0">
                <a:solidFill>
                  <a:schemeClr val="tx1"/>
                </a:solidFill>
              </a:rPr>
              <a:t>Same contracts live on Polygon Amoy testnet</a:t>
            </a:r>
            <a:endParaRPr lang="en-US" sz="1450" dirty="0"/>
          </a:p>
          <a:p>
            <a:pPr marL="177800" indent="-177800">
              <a:spcAft>
                <a:spcPts val="1100"/>
              </a:spcAft>
              <a:buSzPct val="100000"/>
              <a:buChar char="•"/>
            </a:pPr>
            <a:r>
              <a:rPr lang="en-US" sz="1450" dirty="0">
                <a:solidFill>
                  <a:schemeClr val="tx1"/>
                </a:solidFill>
              </a:rPr>
              <a:t>Runs fully offline on a local chain</a:t>
            </a:r>
            <a:endParaRPr lang="en-US" sz="1450" dirty="0"/>
          </a:p>
          <a:p>
            <a:pPr marL="177800" indent="-177800">
              <a:spcAft>
                <a:spcPts val="1100"/>
              </a:spcAft>
              <a:buSzPct val="100000"/>
              <a:buChar char="•"/>
            </a:pPr>
            <a:r>
              <a:rPr lang="en-US" sz="1450" dirty="0">
                <a:solidFill>
                  <a:schemeClr val="tx1"/>
                </a:solidFill>
              </a:rPr>
              <a:t>Automated e2e suite searches every log, event and database for leaked data</a:t>
            </a:r>
            <a:endParaRPr lang="en-US" sz="1450" dirty="0"/>
          </a:p>
        </p:txBody>
      </p:sp>
      <p:sp>
        <p:nvSpPr>
          <p:cNvPr id="9" name="Feasibility card"/>
          <p:cNvSpPr/>
          <p:nvPr/>
        </p:nvSpPr>
        <p:spPr>
          <a:xfrm>
            <a:off x="4306824" y="1645920"/>
            <a:ext cx="3575304" cy="3611880"/>
          </a:xfrm>
          <a:prstGeom prst="roundRect">
            <a:avLst>
              <a:gd name="adj" fmla="val 3069"/>
            </a:avLst>
          </a:prstGeom>
          <a:solidFill>
            <a:schemeClr val="bg1"/>
          </a:solidFill>
          <a:ln/>
          <a:effectLst>
            <a:outerShdw blurRad="127000" dist="25400" dir="5400000" algn="bl" rotWithShape="0">
              <a:srgbClr val="0B1B2E">
                <a:alpha val="10000"/>
              </a:srgbClr>
            </a:outerShdw>
          </a:effectLst>
        </p:spPr>
      </p:sp>
      <p:sp>
        <p:nvSpPr>
          <p:cNvPr id="10" name="Icon circle"/>
          <p:cNvSpPr/>
          <p:nvPr/>
        </p:nvSpPr>
        <p:spPr>
          <a:xfrm>
            <a:off x="4507992" y="1810512"/>
            <a:ext cx="548640" cy="548640"/>
          </a:xfrm>
          <a:prstGeom prst="ellipse">
            <a:avLst/>
          </a:prstGeom>
          <a:solidFill>
            <a:srgbClr val="2F63C8"/>
          </a:solidFill>
          <a:ln/>
        </p:spPr>
      </p:sp>
      <p:pic>
        <p:nvPicPr>
          <p:cNvPr id="11" name="Image 1" descr="Rocket icon"/>
          <p:cNvPicPr>
            <a:picLocks noChangeAspect="1"/>
          </p:cNvPicPr>
          <p:nvPr/>
        </p:nvPicPr>
        <p:blipFill>
          <a:blip r:embed="rId4"/>
          <a:stretch>
            <a:fillRect/>
          </a:stretch>
        </p:blipFill>
        <p:spPr>
          <a:xfrm>
            <a:off x="4650638" y="1953158"/>
            <a:ext cx="263347" cy="263347"/>
          </a:xfrm>
          <a:prstGeom prst="rect">
            <a:avLst/>
          </a:prstGeom>
        </p:spPr>
      </p:pic>
      <p:sp>
        <p:nvSpPr>
          <p:cNvPr id="12" name="Text 8"/>
          <p:cNvSpPr txBox="1"/>
          <p:nvPr/>
        </p:nvSpPr>
        <p:spPr>
          <a:xfrm>
            <a:off x="5175504" y="1874520"/>
            <a:ext cx="2560320" cy="411480"/>
          </a:xfrm>
          <a:prstGeom prst="rect">
            <a:avLst/>
          </a:prstGeom>
          <a:noFill/>
          <a:ln/>
        </p:spPr>
        <p:txBody>
          <a:bodyPr wrap="square" lIns="0" tIns="0" rIns="0" bIns="0" rtlCol="0" anchor="ctr"/>
          <a:lstStyle/>
          <a:p>
            <a:pPr marL="0" indent="0">
              <a:buNone/>
            </a:pPr>
            <a:r>
              <a:rPr lang="en-US" sz="1700" b="1" dirty="0">
                <a:solidFill>
                  <a:schemeClr val="tx1"/>
                </a:solidFill>
              </a:rPr>
              <a:t>24-hour build strategy</a:t>
            </a:r>
            <a:endParaRPr lang="en-US" sz="1700" dirty="0"/>
          </a:p>
        </p:txBody>
      </p:sp>
      <p:sp>
        <p:nvSpPr>
          <p:cNvPr id="13" name="Text 9"/>
          <p:cNvSpPr txBox="1"/>
          <p:nvPr/>
        </p:nvSpPr>
        <p:spPr>
          <a:xfrm>
            <a:off x="4535424" y="2560320"/>
            <a:ext cx="3154680" cy="2606040"/>
          </a:xfrm>
          <a:prstGeom prst="rect">
            <a:avLst/>
          </a:prstGeom>
          <a:noFill/>
          <a:ln/>
        </p:spPr>
        <p:txBody>
          <a:bodyPr wrap="square" lIns="0" tIns="0" rIns="0" bIns="0" rtlCol="0" anchor="t"/>
          <a:lstStyle/>
          <a:p>
            <a:pPr marL="177800" indent="-177800">
              <a:spcAft>
                <a:spcPts val="1100"/>
              </a:spcAft>
              <a:buSzPct val="100000"/>
              <a:buChar char="•"/>
            </a:pPr>
            <a:r>
              <a:rPr lang="en-US" sz="1450" dirty="0">
                <a:solidFill>
                  <a:schemeClr val="tx1"/>
                </a:solidFill>
              </a:rPr>
              <a:t>Spike EIP‑712 signing in Dart in the first 2 hours</a:t>
            </a:r>
            <a:endParaRPr lang="en-US" sz="1450" dirty="0"/>
          </a:p>
          <a:p>
            <a:pPr marL="177800" indent="-177800">
              <a:spcAft>
                <a:spcPts val="1100"/>
              </a:spcAft>
              <a:buSzPct val="100000"/>
              <a:buChar char="•"/>
            </a:pPr>
            <a:r>
              <a:rPr lang="en-US" sz="1450" dirty="0">
                <a:solidFill>
                  <a:schemeClr val="tx1"/>
                </a:solidFill>
              </a:rPr>
              <a:t>Golden path first: grant, enforce, withdraw</a:t>
            </a:r>
            <a:endParaRPr lang="en-US" sz="1450" dirty="0"/>
          </a:p>
          <a:p>
            <a:pPr marL="177800" indent="-177800">
              <a:spcAft>
                <a:spcPts val="1100"/>
              </a:spcAft>
              <a:buSzPct val="100000"/>
              <a:buChar char="•"/>
            </a:pPr>
            <a:r>
              <a:rPr lang="en-US" sz="1450" dirty="0">
                <a:solidFill>
                  <a:schemeClr val="tx1"/>
                </a:solidFill>
              </a:rPr>
              <a:t>Then differentiators: tamper detection, cascade, Processor</a:t>
            </a:r>
            <a:endParaRPr lang="en-US" sz="1450" dirty="0"/>
          </a:p>
          <a:p>
            <a:pPr marL="177800" indent="-177800">
              <a:spcAft>
                <a:spcPts val="1100"/>
              </a:spcAft>
              <a:buSzPct val="100000"/>
              <a:buChar char="•"/>
            </a:pPr>
            <a:r>
              <a:rPr lang="en-US" sz="1450" dirty="0">
                <a:solidFill>
                  <a:schemeClr val="tx1"/>
                </a:solidFill>
              </a:rPr>
              <a:t>Polish, rehearse, record a fallback demo</a:t>
            </a:r>
            <a:endParaRPr lang="en-US" sz="1450" dirty="0"/>
          </a:p>
        </p:txBody>
      </p:sp>
      <p:sp>
        <p:nvSpPr>
          <p:cNvPr id="14" name="Feasibility card"/>
          <p:cNvSpPr/>
          <p:nvPr/>
        </p:nvSpPr>
        <p:spPr>
          <a:xfrm>
            <a:off x="8065008" y="1645920"/>
            <a:ext cx="3575304" cy="3611880"/>
          </a:xfrm>
          <a:prstGeom prst="roundRect">
            <a:avLst>
              <a:gd name="adj" fmla="val 3069"/>
            </a:avLst>
          </a:prstGeom>
          <a:solidFill>
            <a:schemeClr val="bg1"/>
          </a:solidFill>
          <a:ln/>
          <a:effectLst>
            <a:outerShdw blurRad="127000" dist="25400" dir="5400000" algn="bl" rotWithShape="0">
              <a:srgbClr val="0B1B2E">
                <a:alpha val="10000"/>
              </a:srgbClr>
            </a:outerShdw>
          </a:effectLst>
        </p:spPr>
      </p:sp>
      <p:sp>
        <p:nvSpPr>
          <p:cNvPr id="15" name="Icon circle"/>
          <p:cNvSpPr/>
          <p:nvPr/>
        </p:nvSpPr>
        <p:spPr>
          <a:xfrm>
            <a:off x="8266176" y="1810512"/>
            <a:ext cx="548640" cy="548640"/>
          </a:xfrm>
          <a:prstGeom prst="ellipse">
            <a:avLst/>
          </a:prstGeom>
          <a:solidFill>
            <a:srgbClr val="D64550"/>
          </a:solidFill>
          <a:ln/>
        </p:spPr>
      </p:sp>
      <p:pic>
        <p:nvPicPr>
          <p:cNvPr id="16" name="Image 2" descr="ExclamationTriangle icon"/>
          <p:cNvPicPr>
            <a:picLocks noChangeAspect="1"/>
          </p:cNvPicPr>
          <p:nvPr/>
        </p:nvPicPr>
        <p:blipFill>
          <a:blip r:embed="rId5"/>
          <a:stretch>
            <a:fillRect/>
          </a:stretch>
        </p:blipFill>
        <p:spPr>
          <a:xfrm>
            <a:off x="8408822" y="1953158"/>
            <a:ext cx="263347" cy="263347"/>
          </a:xfrm>
          <a:prstGeom prst="rect">
            <a:avLst/>
          </a:prstGeom>
        </p:spPr>
      </p:pic>
      <p:sp>
        <p:nvSpPr>
          <p:cNvPr id="17" name="Text 12"/>
          <p:cNvSpPr txBox="1"/>
          <p:nvPr/>
        </p:nvSpPr>
        <p:spPr>
          <a:xfrm>
            <a:off x="8933688" y="1874520"/>
            <a:ext cx="2560320" cy="411480"/>
          </a:xfrm>
          <a:prstGeom prst="rect">
            <a:avLst/>
          </a:prstGeom>
          <a:noFill/>
          <a:ln/>
        </p:spPr>
        <p:txBody>
          <a:bodyPr wrap="square" lIns="0" tIns="0" rIns="0" bIns="0" rtlCol="0" anchor="ctr"/>
          <a:lstStyle/>
          <a:p>
            <a:pPr marL="0" indent="0">
              <a:buNone/>
            </a:pPr>
            <a:r>
              <a:rPr lang="en-US" sz="1700" b="1" dirty="0">
                <a:solidFill>
                  <a:schemeClr val="tx1"/>
                </a:solidFill>
              </a:rPr>
              <a:t>Challenges and mitigation</a:t>
            </a:r>
            <a:endParaRPr lang="en-US" sz="1700" dirty="0"/>
          </a:p>
        </p:txBody>
      </p:sp>
      <p:sp>
        <p:nvSpPr>
          <p:cNvPr id="18" name="Text 13"/>
          <p:cNvSpPr txBox="1"/>
          <p:nvPr/>
        </p:nvSpPr>
        <p:spPr>
          <a:xfrm>
            <a:off x="8293608" y="2560320"/>
            <a:ext cx="3154680" cy="2606040"/>
          </a:xfrm>
          <a:prstGeom prst="rect">
            <a:avLst/>
          </a:prstGeom>
          <a:noFill/>
          <a:ln/>
        </p:spPr>
        <p:txBody>
          <a:bodyPr wrap="square" lIns="0" tIns="0" rIns="0" bIns="0" rtlCol="0" anchor="t"/>
          <a:lstStyle/>
          <a:p>
            <a:pPr marL="177800" indent="-177800">
              <a:spcAft>
                <a:spcPts val="1100"/>
              </a:spcAft>
              <a:buSzPct val="100000"/>
              <a:buChar char="•"/>
            </a:pPr>
            <a:r>
              <a:rPr lang="en-US" sz="1450" dirty="0">
                <a:solidFill>
                  <a:schemeClr val="tx1"/>
                </a:solidFill>
              </a:rPr>
              <a:t>Dart signing: early spike and shared test vectors with Node</a:t>
            </a:r>
            <a:endParaRPr lang="en-US" sz="1450" dirty="0"/>
          </a:p>
          <a:p>
            <a:pPr marL="177800" indent="-177800">
              <a:spcAft>
                <a:spcPts val="1100"/>
              </a:spcAft>
              <a:buSzPct val="100000"/>
              <a:buChar char="•"/>
            </a:pPr>
            <a:r>
              <a:rPr lang="en-US" sz="1450" dirty="0">
                <a:solidFill>
                  <a:schemeClr val="tx1"/>
                </a:solidFill>
              </a:rPr>
              <a:t>Venue Wi-Fi: local chain, phone hotspot, recorded fallback</a:t>
            </a:r>
            <a:endParaRPr lang="en-US" sz="1450" dirty="0"/>
          </a:p>
          <a:p>
            <a:pPr marL="177800" indent="-177800">
              <a:spcAft>
                <a:spcPts val="1100"/>
              </a:spcAft>
              <a:buSzPct val="100000"/>
              <a:buChar char="•"/>
            </a:pPr>
            <a:r>
              <a:rPr lang="en-US" sz="1450" dirty="0">
                <a:solidFill>
                  <a:schemeClr val="tx1"/>
                </a:solidFill>
              </a:rPr>
              <a:t>Company bypasses the gateway: audit flags unlogged or invalid access</a:t>
            </a:r>
            <a:endParaRPr lang="en-US" sz="1450" dirty="0"/>
          </a:p>
          <a:p>
            <a:pPr marL="177800" indent="-177800">
              <a:spcAft>
                <a:spcPts val="1100"/>
              </a:spcAft>
              <a:buSzPct val="100000"/>
              <a:buChar char="•"/>
            </a:pPr>
            <a:r>
              <a:rPr lang="en-US" sz="1450" dirty="0">
                <a:solidFill>
                  <a:schemeClr val="tx1"/>
                </a:solidFill>
              </a:rPr>
              <a:t>Scope creep: cut lines agreed up front</a:t>
            </a:r>
            <a:endParaRPr lang="en-US" sz="1450" dirty="0"/>
          </a:p>
        </p:txBody>
      </p:sp>
      <p:sp>
        <p:nvSpPr>
          <p:cNvPr id="19" name="Disclosure strip"/>
          <p:cNvSpPr/>
          <p:nvPr/>
        </p:nvSpPr>
        <p:spPr>
          <a:xfrm>
            <a:off x="548640" y="5440680"/>
            <a:ext cx="11094415" cy="822960"/>
          </a:xfrm>
          <a:prstGeom prst="roundRect">
            <a:avLst>
              <a:gd name="adj" fmla="val 13333"/>
            </a:avLst>
          </a:prstGeom>
          <a:solidFill>
            <a:srgbClr val="FDF0DA"/>
          </a:solidFill>
          <a:ln w="15875">
            <a:solidFill>
              <a:schemeClr val="accent2"/>
            </a:solidFill>
            <a:prstDash val="solid"/>
          </a:ln>
        </p:spPr>
      </p:sp>
      <p:sp>
        <p:nvSpPr>
          <p:cNvPr id="20" name="Text 15"/>
          <p:cNvSpPr txBox="1"/>
          <p:nvPr/>
        </p:nvSpPr>
        <p:spPr>
          <a:xfrm>
            <a:off x="822960" y="5486400"/>
            <a:ext cx="10561320" cy="731520"/>
          </a:xfrm>
          <a:prstGeom prst="rect">
            <a:avLst/>
          </a:prstGeom>
          <a:noFill/>
          <a:ln/>
        </p:spPr>
        <p:txBody>
          <a:bodyPr wrap="square" lIns="0" tIns="0" rIns="0" bIns="0" rtlCol="0" anchor="ctr"/>
          <a:lstStyle/>
          <a:p>
            <a:pPr marL="0" indent="0">
              <a:buNone/>
            </a:pPr>
            <a:r>
              <a:rPr lang="en-US" sz="1300" b="1" dirty="0">
                <a:solidFill>
                  <a:schemeClr val="tx1"/>
                </a:solidFill>
              </a:rPr>
              <a:t>Disclosed shortcuts: </a:t>
            </a:r>
            <a:r>
              <a:rPr lang="en-US" sz="1300" dirty="0">
                <a:solidFill>
                  <a:schemeClr val="tx1"/>
                </a:solidFill>
              </a:rPr>
              <a:t>Core holds company and processor keys, and the Processor is a simulated enclave. Production: companies hold their own keys and the Processor runs in a hardware TEE with remote attestation. All demo data is fictional.</a:t>
            </a:r>
            <a:endParaRPr lang="en-US" sz="1300" dirty="0"/>
          </a:p>
        </p:txBody>
      </p:sp>
      <p:sp>
        <p:nvSpPr>
          <p:cNvPr id="25" name="Slide Number Placeholder 0"/>
          <p:cNvSpPr>
            <a:spLocks noGrp="1"/>
          </p:cNvSpPr>
          <p:nvPr>
            <p:ph type="sldNum" sz="quarter" idx="4294967295"/>
          </p:nvPr>
        </p:nvSpPr>
        <p:spPr>
          <a:xfrm>
            <a:off x="10881360" y="6455664"/>
            <a:ext cx="758952" cy="237744"/>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marL="0" indent="0">
              <a:buNone/>
            </a:pPr>
            <a:r>
              <a:rPr lang="en-US" sz="1200" b="1" kern="0" spc="300" dirty="0">
                <a:solidFill>
                  <a:schemeClr val="accent1"/>
                </a:solidFill>
              </a:rPr>
              <a:t>REAL-WORLD IMPACT AND SCALABILITY</a:t>
            </a:r>
            <a:endParaRPr lang="en-US" sz="1200" dirty="0"/>
          </a:p>
        </p:txBody>
      </p:sp>
      <p:sp>
        <p:nvSpPr>
          <p:cNvPr id="3" name="Text 1"/>
          <p:cNvSpPr>
            <a:spLocks noGrp="1"/>
          </p:cNvSpPr>
          <p:nvPr>
            <p:ph type="title" idx="101" hasCustomPrompt="1"/>
          </p:nvPr>
        </p:nvSpPr>
        <p:spPr>
          <a:xfrm>
            <a:off x="548640" y="658368"/>
            <a:ext cx="11094415" cy="731520"/>
          </a:xfrm>
          <a:prstGeom prst="rect">
            <a:avLst/>
          </a:prstGeom>
          <a:noFill/>
          <a:ln/>
        </p:spPr>
        <p:txBody>
          <a:bodyPr wrap="square" lIns="0" tIns="0" rIns="0" bIns="0" rtlCol="0" anchor="ctr"/>
          <a:lstStyle/>
          <a:p>
            <a:pPr marL="0" indent="0" algn="l">
              <a:buNone/>
            </a:pPr>
            <a:r>
              <a:rPr lang="en-US" sz="3200" b="1" dirty="0">
                <a:solidFill>
                  <a:schemeClr val="tx1"/>
                </a:solidFill>
              </a:rPr>
              <a:t>Built to scale like India’s payment rails</a:t>
            </a:r>
            <a:endParaRPr lang="en-US" sz="3200" dirty="0"/>
          </a:p>
        </p:txBody>
      </p:sp>
      <p:sp>
        <p:nvSpPr>
          <p:cNvPr id="4" name="Impact stat"/>
          <p:cNvSpPr/>
          <p:nvPr/>
        </p:nvSpPr>
        <p:spPr>
          <a:xfrm>
            <a:off x="548640" y="1691640"/>
            <a:ext cx="5760720" cy="1325880"/>
          </a:xfrm>
          <a:prstGeom prst="roundRect">
            <a:avLst>
              <a:gd name="adj" fmla="val 8276"/>
            </a:avLst>
          </a:prstGeom>
          <a:solidFill>
            <a:schemeClr val="bg1"/>
          </a:solidFill>
          <a:ln/>
          <a:effectLst>
            <a:outerShdw blurRad="127000" dist="25400" dir="5400000" algn="bl" rotWithShape="0">
              <a:srgbClr val="0B1B2E">
                <a:alpha val="10000"/>
              </a:srgbClr>
            </a:outerShdw>
          </a:effectLst>
        </p:spPr>
      </p:sp>
      <p:sp>
        <p:nvSpPr>
          <p:cNvPr id="5" name="Text 3"/>
          <p:cNvSpPr txBox="1"/>
          <p:nvPr/>
        </p:nvSpPr>
        <p:spPr>
          <a:xfrm>
            <a:off x="777240" y="1874520"/>
            <a:ext cx="1920240" cy="960120"/>
          </a:xfrm>
          <a:prstGeom prst="rect">
            <a:avLst/>
          </a:prstGeom>
          <a:noFill/>
          <a:ln/>
        </p:spPr>
        <p:txBody>
          <a:bodyPr wrap="square" lIns="0" tIns="0" rIns="0" bIns="0" rtlCol="0" anchor="ctr"/>
          <a:lstStyle/>
          <a:p>
            <a:pPr marL="0" indent="0">
              <a:buNone/>
            </a:pPr>
            <a:r>
              <a:rPr lang="en-US" sz="3400" b="1" dirty="0">
                <a:solidFill>
                  <a:schemeClr val="accent1"/>
                </a:solidFill>
                <a:latin typeface="+mj-lt" pitchFamily="34" charset="0"/>
                <a:ea typeface="+mj-lt" pitchFamily="34" charset="-122"/>
                <a:cs typeface="+mj-lt" pitchFamily="34" charset="-120"/>
              </a:rPr>
              <a:t>₹0</a:t>
            </a:r>
            <a:endParaRPr lang="en-US" sz="3400" dirty="0"/>
          </a:p>
        </p:txBody>
      </p:sp>
      <p:sp>
        <p:nvSpPr>
          <p:cNvPr id="6" name="Text 4"/>
          <p:cNvSpPr txBox="1"/>
          <p:nvPr/>
        </p:nvSpPr>
        <p:spPr>
          <a:xfrm>
            <a:off x="2834640" y="1874520"/>
            <a:ext cx="3337560" cy="960120"/>
          </a:xfrm>
          <a:prstGeom prst="rect">
            <a:avLst/>
          </a:prstGeom>
          <a:noFill/>
          <a:ln/>
        </p:spPr>
        <p:txBody>
          <a:bodyPr wrap="square" lIns="0" tIns="0" rIns="0" bIns="0" rtlCol="0" anchor="ctr"/>
          <a:lstStyle/>
          <a:p>
            <a:pPr marL="0" indent="0">
              <a:buNone/>
            </a:pPr>
            <a:r>
              <a:rPr lang="en-US" sz="1400" dirty="0">
                <a:solidFill>
                  <a:schemeClr val="tx1"/>
                </a:solidFill>
              </a:rPr>
              <a:t>for citizens. Companies pay per verified check, and a relayer covers gas.</a:t>
            </a:r>
            <a:endParaRPr lang="en-US" sz="1400" dirty="0"/>
          </a:p>
        </p:txBody>
      </p:sp>
      <p:sp>
        <p:nvSpPr>
          <p:cNvPr id="7" name="Impact stat"/>
          <p:cNvSpPr/>
          <p:nvPr/>
        </p:nvSpPr>
        <p:spPr>
          <a:xfrm>
            <a:off x="548640" y="3200400"/>
            <a:ext cx="5760720" cy="1325880"/>
          </a:xfrm>
          <a:prstGeom prst="roundRect">
            <a:avLst>
              <a:gd name="adj" fmla="val 8276"/>
            </a:avLst>
          </a:prstGeom>
          <a:solidFill>
            <a:schemeClr val="bg1"/>
          </a:solidFill>
          <a:ln/>
          <a:effectLst>
            <a:outerShdw blurRad="127000" dist="25400" dir="5400000" algn="bl" rotWithShape="0">
              <a:srgbClr val="0B1B2E">
                <a:alpha val="10000"/>
              </a:srgbClr>
            </a:outerShdw>
          </a:effectLst>
        </p:spPr>
      </p:sp>
      <p:sp>
        <p:nvSpPr>
          <p:cNvPr id="8" name="Text 6"/>
          <p:cNvSpPr txBox="1"/>
          <p:nvPr/>
        </p:nvSpPr>
        <p:spPr>
          <a:xfrm>
            <a:off x="777240" y="3383280"/>
            <a:ext cx="1920240" cy="960120"/>
          </a:xfrm>
          <a:prstGeom prst="rect">
            <a:avLst/>
          </a:prstGeom>
          <a:noFill/>
          <a:ln/>
        </p:spPr>
        <p:txBody>
          <a:bodyPr wrap="square" lIns="0" tIns="0" rIns="0" bIns="0" rtlCol="0" anchor="ctr"/>
          <a:lstStyle/>
          <a:p>
            <a:pPr marL="0" indent="0">
              <a:buNone/>
            </a:pPr>
            <a:r>
              <a:rPr lang="en-US" sz="3400" b="1" dirty="0">
                <a:solidFill>
                  <a:schemeClr val="accent3"/>
                </a:solidFill>
                <a:latin typeface="+mj-lt" pitchFamily="34" charset="0"/>
                <a:ea typeface="+mj-lt" pitchFamily="34" charset="-122"/>
                <a:cs typeface="+mj-lt" pitchFamily="34" charset="-120"/>
              </a:rPr>
              <a:t>1 tx</a:t>
            </a:r>
            <a:endParaRPr lang="en-US" sz="3400" dirty="0"/>
          </a:p>
        </p:txBody>
      </p:sp>
      <p:sp>
        <p:nvSpPr>
          <p:cNvPr id="9" name="Text 7"/>
          <p:cNvSpPr txBox="1"/>
          <p:nvPr/>
        </p:nvSpPr>
        <p:spPr>
          <a:xfrm>
            <a:off x="2834640" y="3383280"/>
            <a:ext cx="3337560" cy="960120"/>
          </a:xfrm>
          <a:prstGeom prst="rect">
            <a:avLst/>
          </a:prstGeom>
          <a:noFill/>
          <a:ln/>
        </p:spPr>
        <p:txBody>
          <a:bodyPr wrap="square" lIns="0" tIns="0" rIns="0" bIns="0" rtlCol="0" anchor="ctr"/>
          <a:lstStyle/>
          <a:p>
            <a:pPr marL="0" indent="0">
              <a:buNone/>
            </a:pPr>
            <a:r>
              <a:rPr lang="en-US" sz="1400" dirty="0">
                <a:solidFill>
                  <a:schemeClr val="tx1"/>
                </a:solidFill>
              </a:rPr>
              <a:t>per batch. Thousands of access logs anchor as a single Merkle root.</a:t>
            </a:r>
            <a:endParaRPr lang="en-US" sz="1400" dirty="0"/>
          </a:p>
        </p:txBody>
      </p:sp>
      <p:sp>
        <p:nvSpPr>
          <p:cNvPr id="10" name="Impact stat"/>
          <p:cNvSpPr/>
          <p:nvPr/>
        </p:nvSpPr>
        <p:spPr>
          <a:xfrm>
            <a:off x="548640" y="4709160"/>
            <a:ext cx="5760720" cy="1325880"/>
          </a:xfrm>
          <a:prstGeom prst="roundRect">
            <a:avLst>
              <a:gd name="adj" fmla="val 8276"/>
            </a:avLst>
          </a:prstGeom>
          <a:solidFill>
            <a:schemeClr val="bg1"/>
          </a:solidFill>
          <a:ln/>
          <a:effectLst>
            <a:outerShdw blurRad="127000" dist="25400" dir="5400000" algn="bl" rotWithShape="0">
              <a:srgbClr val="0B1B2E">
                <a:alpha val="10000"/>
              </a:srgbClr>
            </a:outerShdw>
          </a:effectLst>
        </p:spPr>
      </p:sp>
      <p:sp>
        <p:nvSpPr>
          <p:cNvPr id="11" name="Text 9"/>
          <p:cNvSpPr txBox="1"/>
          <p:nvPr/>
        </p:nvSpPr>
        <p:spPr>
          <a:xfrm>
            <a:off x="777240" y="4892040"/>
            <a:ext cx="1920240" cy="960120"/>
          </a:xfrm>
          <a:prstGeom prst="rect">
            <a:avLst/>
          </a:prstGeom>
          <a:noFill/>
          <a:ln/>
        </p:spPr>
        <p:txBody>
          <a:bodyPr wrap="square" lIns="0" tIns="0" rIns="0" bIns="0" rtlCol="0" anchor="ctr"/>
          <a:lstStyle/>
          <a:p>
            <a:pPr marL="0" indent="0">
              <a:buNone/>
            </a:pPr>
            <a:r>
              <a:rPr lang="en-US" sz="3400" b="1" dirty="0">
                <a:solidFill>
                  <a:schemeClr val="accent5"/>
                </a:solidFill>
                <a:latin typeface="+mj-lt" pitchFamily="34" charset="0"/>
                <a:ea typeface="+mj-lt" pitchFamily="34" charset="-122"/>
                <a:cs typeface="+mj-lt" pitchFamily="34" charset="-120"/>
              </a:rPr>
              <a:t>3 roles</a:t>
            </a:r>
            <a:endParaRPr lang="en-US" sz="3400" dirty="0"/>
          </a:p>
        </p:txBody>
      </p:sp>
      <p:sp>
        <p:nvSpPr>
          <p:cNvPr id="12" name="Text 10"/>
          <p:cNvSpPr txBox="1"/>
          <p:nvPr/>
        </p:nvSpPr>
        <p:spPr>
          <a:xfrm>
            <a:off x="2834640" y="4892040"/>
            <a:ext cx="3337560" cy="960120"/>
          </a:xfrm>
          <a:prstGeom prst="rect">
            <a:avLst/>
          </a:prstGeom>
          <a:noFill/>
          <a:ln/>
        </p:spPr>
        <p:txBody>
          <a:bodyPr wrap="square" lIns="0" tIns="0" rIns="0" bIns="0" rtlCol="0" anchor="ctr"/>
          <a:lstStyle/>
          <a:p>
            <a:pPr marL="0" indent="0">
              <a:buNone/>
            </a:pPr>
            <a:r>
              <a:rPr lang="en-US" sz="1400" dirty="0">
                <a:solidFill>
                  <a:schemeClr val="tx1"/>
                </a:solidFill>
              </a:rPr>
              <a:t>served: citizens get control, companies get drop-in compliance, regulators get independent proof.</a:t>
            </a:r>
            <a:endParaRPr lang="en-US" sz="1400" dirty="0"/>
          </a:p>
        </p:txBody>
      </p:sp>
      <p:sp>
        <p:nvSpPr>
          <p:cNvPr id="13" name="DPDP alignment card"/>
          <p:cNvSpPr/>
          <p:nvPr/>
        </p:nvSpPr>
        <p:spPr>
          <a:xfrm>
            <a:off x="6537960" y="1691640"/>
            <a:ext cx="5105095" cy="4343400"/>
          </a:xfrm>
          <a:prstGeom prst="roundRect">
            <a:avLst>
              <a:gd name="adj" fmla="val 2526"/>
            </a:avLst>
          </a:prstGeom>
          <a:solidFill>
            <a:schemeClr val="bg1"/>
          </a:solidFill>
          <a:ln/>
          <a:effectLst>
            <a:outerShdw blurRad="127000" dist="25400" dir="5400000" algn="bl" rotWithShape="0">
              <a:srgbClr val="0B1B2E">
                <a:alpha val="10000"/>
              </a:srgbClr>
            </a:outerShdw>
          </a:effectLst>
        </p:spPr>
      </p:sp>
      <p:sp>
        <p:nvSpPr>
          <p:cNvPr id="14" name="Text 12"/>
          <p:cNvSpPr txBox="1"/>
          <p:nvPr/>
        </p:nvSpPr>
        <p:spPr>
          <a:xfrm>
            <a:off x="6812280" y="1874520"/>
            <a:ext cx="4572000" cy="320040"/>
          </a:xfrm>
          <a:prstGeom prst="rect">
            <a:avLst/>
          </a:prstGeom>
          <a:noFill/>
          <a:ln/>
        </p:spPr>
        <p:txBody>
          <a:bodyPr wrap="square" lIns="0" tIns="0" rIns="0" bIns="0" rtlCol="0" anchor="t"/>
          <a:lstStyle/>
          <a:p>
            <a:pPr marL="0" indent="0">
              <a:buNone/>
            </a:pPr>
            <a:r>
              <a:rPr lang="en-US" sz="1600" b="1" dirty="0">
                <a:solidFill>
                  <a:schemeClr val="tx1"/>
                </a:solidFill>
              </a:rPr>
              <a:t>Aligned with the DPDP principles. Not certified.</a:t>
            </a:r>
            <a:endParaRPr lang="en-US" sz="1600" dirty="0"/>
          </a:p>
        </p:txBody>
      </p:sp>
      <p:graphicFrame>
        <p:nvGraphicFramePr>
          <p:cNvPr id="15" name="Chart 0"/>
          <p:cNvGraphicFramePr/>
          <p:nvPr/>
        </p:nvGraphicFramePr>
        <p:xfrm>
          <a:off x="6675120" y="2331720"/>
          <a:ext cx="2651760" cy="2651760"/>
        </p:xfrm>
        <a:graphic>
          <a:graphicData uri="http://schemas.openxmlformats.org/drawingml/2006/chart">
            <c:chart xmlns:c="http://schemas.openxmlformats.org/drawingml/2006/chart" xmlns:r="http://schemas.openxmlformats.org/officeDocument/2006/relationships" r:id="rId3"/>
          </a:graphicData>
        </a:graphic>
      </p:graphicFrame>
      <p:sp>
        <p:nvSpPr>
          <p:cNvPr id="16" name="Legend swatch"/>
          <p:cNvSpPr/>
          <p:nvPr/>
        </p:nvSpPr>
        <p:spPr>
          <a:xfrm>
            <a:off x="9555480" y="2788920"/>
            <a:ext cx="256032" cy="256032"/>
          </a:xfrm>
          <a:prstGeom prst="roundRect">
            <a:avLst>
              <a:gd name="adj" fmla="val 17857"/>
            </a:avLst>
          </a:prstGeom>
          <a:solidFill>
            <a:srgbClr val="0E8F83"/>
          </a:solidFill>
          <a:ln/>
        </p:spPr>
      </p:sp>
      <p:sp>
        <p:nvSpPr>
          <p:cNvPr id="17" name="Text 14"/>
          <p:cNvSpPr txBox="1"/>
          <p:nvPr/>
        </p:nvSpPr>
        <p:spPr>
          <a:xfrm>
            <a:off x="9921240" y="2743200"/>
            <a:ext cx="1645920" cy="384048"/>
          </a:xfrm>
          <a:prstGeom prst="rect">
            <a:avLst/>
          </a:prstGeom>
          <a:noFill/>
          <a:ln/>
        </p:spPr>
        <p:txBody>
          <a:bodyPr wrap="square" lIns="0" tIns="0" rIns="0" bIns="0" rtlCol="0" anchor="ctr"/>
          <a:lstStyle/>
          <a:p>
            <a:pPr marL="0" indent="0">
              <a:buNone/>
            </a:pPr>
            <a:r>
              <a:rPr lang="en-US" sz="1800" b="1" dirty="0">
                <a:solidFill>
                  <a:schemeClr val="tx1"/>
                </a:solidFill>
              </a:rPr>
              <a:t>10  </a:t>
            </a:r>
            <a:r>
              <a:rPr lang="en-US" sz="1400" dirty="0">
                <a:solidFill>
                  <a:schemeClr val="tx1"/>
                </a:solidFill>
              </a:rPr>
              <a:t>Implemented</a:t>
            </a:r>
            <a:endParaRPr lang="en-US" sz="1400" dirty="0"/>
          </a:p>
        </p:txBody>
      </p:sp>
      <p:sp>
        <p:nvSpPr>
          <p:cNvPr id="18" name="Legend swatch"/>
          <p:cNvSpPr/>
          <p:nvPr/>
        </p:nvSpPr>
        <p:spPr>
          <a:xfrm>
            <a:off x="9555480" y="3429000"/>
            <a:ext cx="256032" cy="256032"/>
          </a:xfrm>
          <a:prstGeom prst="roundRect">
            <a:avLst>
              <a:gd name="adj" fmla="val 17857"/>
            </a:avLst>
          </a:prstGeom>
          <a:solidFill>
            <a:srgbClr val="B7791F"/>
          </a:solidFill>
          <a:ln/>
        </p:spPr>
      </p:sp>
      <p:sp>
        <p:nvSpPr>
          <p:cNvPr id="19" name="Text 16"/>
          <p:cNvSpPr txBox="1"/>
          <p:nvPr/>
        </p:nvSpPr>
        <p:spPr>
          <a:xfrm>
            <a:off x="9921240" y="3383280"/>
            <a:ext cx="1645920" cy="384048"/>
          </a:xfrm>
          <a:prstGeom prst="rect">
            <a:avLst/>
          </a:prstGeom>
          <a:noFill/>
          <a:ln/>
        </p:spPr>
        <p:txBody>
          <a:bodyPr wrap="square" lIns="0" tIns="0" rIns="0" bIns="0" rtlCol="0" anchor="ctr"/>
          <a:lstStyle/>
          <a:p>
            <a:pPr marL="0" indent="0">
              <a:buNone/>
            </a:pPr>
            <a:r>
              <a:rPr lang="en-US" sz="1800" b="1" dirty="0">
                <a:solidFill>
                  <a:schemeClr val="tx1"/>
                </a:solidFill>
              </a:rPr>
              <a:t>12  </a:t>
            </a:r>
            <a:r>
              <a:rPr lang="en-US" sz="1400" dirty="0">
                <a:solidFill>
                  <a:schemeClr val="tx1"/>
                </a:solidFill>
              </a:rPr>
              <a:t>Partial</a:t>
            </a:r>
            <a:endParaRPr lang="en-US" sz="1400" dirty="0"/>
          </a:p>
        </p:txBody>
      </p:sp>
      <p:sp>
        <p:nvSpPr>
          <p:cNvPr id="20" name="Legend swatch"/>
          <p:cNvSpPr/>
          <p:nvPr/>
        </p:nvSpPr>
        <p:spPr>
          <a:xfrm>
            <a:off x="9555480" y="4069080"/>
            <a:ext cx="256032" cy="256032"/>
          </a:xfrm>
          <a:prstGeom prst="roundRect">
            <a:avLst>
              <a:gd name="adj" fmla="val 17857"/>
            </a:avLst>
          </a:prstGeom>
          <a:solidFill>
            <a:srgbClr val="566678"/>
          </a:solidFill>
          <a:ln/>
        </p:spPr>
      </p:sp>
      <p:sp>
        <p:nvSpPr>
          <p:cNvPr id="21" name="Text 18"/>
          <p:cNvSpPr txBox="1"/>
          <p:nvPr/>
        </p:nvSpPr>
        <p:spPr>
          <a:xfrm>
            <a:off x="9921240" y="4023360"/>
            <a:ext cx="1645920" cy="384048"/>
          </a:xfrm>
          <a:prstGeom prst="rect">
            <a:avLst/>
          </a:prstGeom>
          <a:noFill/>
          <a:ln/>
        </p:spPr>
        <p:txBody>
          <a:bodyPr wrap="square" lIns="0" tIns="0" rIns="0" bIns="0" rtlCol="0" anchor="ctr"/>
          <a:lstStyle/>
          <a:p>
            <a:pPr marL="0" indent="0">
              <a:buNone/>
            </a:pPr>
            <a:r>
              <a:rPr lang="en-US" sz="1800" b="1" dirty="0">
                <a:solidFill>
                  <a:schemeClr val="tx1"/>
                </a:solidFill>
              </a:rPr>
              <a:t>6  </a:t>
            </a:r>
            <a:r>
              <a:rPr lang="en-US" sz="1400" dirty="0">
                <a:solidFill>
                  <a:schemeClr val="tx1"/>
                </a:solidFill>
              </a:rPr>
              <a:t>Out of scope</a:t>
            </a:r>
            <a:endParaRPr lang="en-US" sz="1400" dirty="0"/>
          </a:p>
        </p:txBody>
      </p:sp>
      <p:sp>
        <p:nvSpPr>
          <p:cNvPr id="22" name="Text 19"/>
          <p:cNvSpPr txBox="1"/>
          <p:nvPr/>
        </p:nvSpPr>
        <p:spPr>
          <a:xfrm>
            <a:off x="6812280" y="5074920"/>
            <a:ext cx="4572000" cy="868680"/>
          </a:xfrm>
          <a:prstGeom prst="rect">
            <a:avLst/>
          </a:prstGeom>
          <a:noFill/>
          <a:ln/>
        </p:spPr>
        <p:txBody>
          <a:bodyPr wrap="square" lIns="0" tIns="0" rIns="0" bIns="0" rtlCol="0" anchor="t"/>
          <a:lstStyle/>
          <a:p>
            <a:pPr marL="0" indent="0">
              <a:buNone/>
            </a:pPr>
            <a:r>
              <a:rPr lang="en-US" sz="1200" dirty="0">
                <a:solidFill>
                  <a:schemeClr val="accent6"/>
                </a:solidFill>
              </a:rPr>
              <a:t>28 obligations mapped. Every legal point stays marked VERIFY until checked against the official text. Honest gaps: breach flow, children’s data, correction, nomination.</a:t>
            </a:r>
            <a:endParaRPr lang="en-US" sz="1200" dirty="0"/>
          </a:p>
        </p:txBody>
      </p:sp>
      <p:sp>
        <p:nvSpPr>
          <p:cNvPr id="25" name="Slide Number Placeholder 0"/>
          <p:cNvSpPr>
            <a:spLocks noGrp="1"/>
          </p:cNvSpPr>
          <p:nvPr>
            <p:ph type="sldNum" sz="quarter" idx="4294967295"/>
          </p:nvPr>
        </p:nvSpPr>
        <p:spPr>
          <a:xfrm>
            <a:off x="10881360" y="6455664"/>
            <a:ext cx="758952" cy="237744"/>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marL="0" indent="0">
              <a:buNone/>
            </a:pPr>
            <a:r>
              <a:rPr lang="en-US" sz="1200" b="1" kern="0" spc="300" dirty="0">
                <a:solidFill>
                  <a:schemeClr val="accent1"/>
                </a:solidFill>
              </a:rPr>
              <a:t>09  |  FUTURE SCOPE</a:t>
            </a:r>
            <a:endParaRPr lang="en-US" sz="1200" dirty="0"/>
          </a:p>
        </p:txBody>
      </p:sp>
      <p:sp>
        <p:nvSpPr>
          <p:cNvPr id="3" name="Text 1"/>
          <p:cNvSpPr>
            <a:spLocks noGrp="1"/>
          </p:cNvSpPr>
          <p:nvPr>
            <p:ph type="title" idx="101" hasCustomPrompt="1"/>
          </p:nvPr>
        </p:nvSpPr>
        <p:spPr>
          <a:xfrm>
            <a:off x="548640" y="658368"/>
            <a:ext cx="11094415" cy="731520"/>
          </a:xfrm>
          <a:prstGeom prst="rect">
            <a:avLst/>
          </a:prstGeom>
          <a:noFill/>
          <a:ln/>
        </p:spPr>
        <p:txBody>
          <a:bodyPr wrap="square" lIns="0" tIns="0" rIns="0" bIns="0" rtlCol="0" anchor="ctr"/>
          <a:lstStyle/>
          <a:p>
            <a:pPr marL="0" indent="0" algn="l">
              <a:buNone/>
            </a:pPr>
            <a:r>
              <a:rPr lang="en-US" sz="3200" b="1" dirty="0">
                <a:solidFill>
                  <a:schemeClr val="tx1"/>
                </a:solidFill>
              </a:rPr>
              <a:t>From hackathon prototype to national consent layer</a:t>
            </a:r>
            <a:endParaRPr lang="en-US" sz="3200" dirty="0"/>
          </a:p>
        </p:txBody>
      </p:sp>
      <p:sp>
        <p:nvSpPr>
          <p:cNvPr id="4" name="Roadmap card"/>
          <p:cNvSpPr/>
          <p:nvPr/>
        </p:nvSpPr>
        <p:spPr>
          <a:xfrm>
            <a:off x="548640" y="1645920"/>
            <a:ext cx="3575304" cy="3749040"/>
          </a:xfrm>
          <a:prstGeom prst="roundRect">
            <a:avLst>
              <a:gd name="adj" fmla="val 3069"/>
            </a:avLst>
          </a:prstGeom>
          <a:solidFill>
            <a:schemeClr val="bg1"/>
          </a:solidFill>
          <a:ln/>
          <a:effectLst>
            <a:outerShdw blurRad="127000" dist="25400" dir="5400000" algn="bl" rotWithShape="0">
              <a:srgbClr val="0B1B2E">
                <a:alpha val="10000"/>
              </a:srgbClr>
            </a:outerShdw>
          </a:effectLst>
        </p:spPr>
      </p:sp>
      <p:sp>
        <p:nvSpPr>
          <p:cNvPr id="5" name="Roadmap header"/>
          <p:cNvSpPr/>
          <p:nvPr/>
        </p:nvSpPr>
        <p:spPr>
          <a:xfrm>
            <a:off x="548640" y="1645920"/>
            <a:ext cx="3575304" cy="868680"/>
          </a:xfrm>
          <a:prstGeom prst="roundRect">
            <a:avLst>
              <a:gd name="adj" fmla="val 12632"/>
            </a:avLst>
          </a:prstGeom>
          <a:solidFill>
            <a:schemeClr val="accent1"/>
          </a:solidFill>
          <a:ln/>
        </p:spPr>
      </p:sp>
      <p:sp>
        <p:nvSpPr>
          <p:cNvPr id="6" name="Text 4"/>
          <p:cNvSpPr txBox="1"/>
          <p:nvPr/>
        </p:nvSpPr>
        <p:spPr>
          <a:xfrm>
            <a:off x="822960" y="1755648"/>
            <a:ext cx="3017520" cy="365760"/>
          </a:xfrm>
          <a:prstGeom prst="rect">
            <a:avLst/>
          </a:prstGeom>
          <a:noFill/>
          <a:ln/>
        </p:spPr>
        <p:txBody>
          <a:bodyPr wrap="square" lIns="0" tIns="0" rIns="0" bIns="0" rtlCol="0" anchor="t"/>
          <a:lstStyle/>
          <a:p>
            <a:pPr marL="0" indent="0">
              <a:buNone/>
            </a:pPr>
            <a:r>
              <a:rPr lang="en-US" sz="2200" b="1" dirty="0">
                <a:solidFill>
                  <a:schemeClr val="bg1"/>
                </a:solidFill>
                <a:latin typeface="+mj-lt" pitchFamily="34" charset="0"/>
                <a:ea typeface="+mj-lt" pitchFamily="34" charset="-122"/>
                <a:cs typeface="+mj-lt" pitchFamily="34" charset="-120"/>
              </a:rPr>
              <a:t>Harden</a:t>
            </a:r>
            <a:endParaRPr lang="en-US" sz="2200" dirty="0"/>
          </a:p>
        </p:txBody>
      </p:sp>
      <p:sp>
        <p:nvSpPr>
          <p:cNvPr id="7" name="Text 5"/>
          <p:cNvSpPr txBox="1"/>
          <p:nvPr/>
        </p:nvSpPr>
        <p:spPr>
          <a:xfrm>
            <a:off x="822960" y="2139696"/>
            <a:ext cx="3017520" cy="274320"/>
          </a:xfrm>
          <a:prstGeom prst="rect">
            <a:avLst/>
          </a:prstGeom>
          <a:noFill/>
          <a:ln/>
        </p:spPr>
        <p:txBody>
          <a:bodyPr wrap="square" lIns="0" tIns="0" rIns="0" bIns="0" rtlCol="0" anchor="t"/>
          <a:lstStyle/>
          <a:p>
            <a:pPr marL="0" indent="0">
              <a:buNone/>
            </a:pPr>
            <a:r>
              <a:rPr lang="en-US" sz="1300" dirty="0">
                <a:solidFill>
                  <a:schemeClr val="bg1"/>
                </a:solidFill>
              </a:rPr>
              <a:t>Close the disclosed gaps</a:t>
            </a:r>
            <a:endParaRPr lang="en-US" sz="1300" dirty="0"/>
          </a:p>
        </p:txBody>
      </p:sp>
      <p:sp>
        <p:nvSpPr>
          <p:cNvPr id="8" name="Text 6"/>
          <p:cNvSpPr txBox="1"/>
          <p:nvPr/>
        </p:nvSpPr>
        <p:spPr>
          <a:xfrm>
            <a:off x="822960" y="2743200"/>
            <a:ext cx="3063240" cy="2560320"/>
          </a:xfrm>
          <a:prstGeom prst="rect">
            <a:avLst/>
          </a:prstGeom>
          <a:noFill/>
          <a:ln/>
        </p:spPr>
        <p:txBody>
          <a:bodyPr wrap="square" lIns="0" tIns="0" rIns="0" bIns="0" rtlCol="0" anchor="t"/>
          <a:lstStyle/>
          <a:p>
            <a:pPr marL="177800" indent="-177800">
              <a:spcAft>
                <a:spcPts val="1000"/>
              </a:spcAft>
              <a:buSzPct val="100000"/>
              <a:buChar char="•"/>
            </a:pPr>
            <a:r>
              <a:rPr lang="en-US" sz="1450" dirty="0">
                <a:solidFill>
                  <a:schemeClr val="tx1"/>
                </a:solidFill>
              </a:rPr>
              <a:t>Processor in a hardware enclave (AWS Nitro or Intel SGX) with remote attestation</a:t>
            </a:r>
            <a:endParaRPr lang="en-US" sz="1450" dirty="0"/>
          </a:p>
          <a:p>
            <a:pPr marL="177800" indent="-177800">
              <a:spcAft>
                <a:spcPts val="1000"/>
              </a:spcAft>
              <a:buSzPct val="100000"/>
              <a:buChar char="•"/>
            </a:pPr>
            <a:r>
              <a:rPr lang="en-US" sz="1450" dirty="0">
                <a:solidFill>
                  <a:schemeClr val="tx1"/>
                </a:solidFill>
              </a:rPr>
              <a:t>Companies hold their own keys</a:t>
            </a:r>
            <a:endParaRPr lang="en-US" sz="1450" dirty="0"/>
          </a:p>
          <a:p>
            <a:pPr marL="177800" indent="-177800">
              <a:spcAft>
                <a:spcPts val="1000"/>
              </a:spcAft>
              <a:buSzPct val="100000"/>
              <a:buChar char="•"/>
            </a:pPr>
            <a:r>
              <a:rPr lang="en-US" sz="1450" dirty="0">
                <a:solidFill>
                  <a:schemeClr val="tx1"/>
                </a:solidFill>
              </a:rPr>
              <a:t>Account recovery: social or Aadhaar-linked</a:t>
            </a:r>
            <a:endParaRPr lang="en-US" sz="1450" dirty="0"/>
          </a:p>
          <a:p>
            <a:pPr marL="177800" indent="-177800">
              <a:spcAft>
                <a:spcPts val="1000"/>
              </a:spcAft>
              <a:buSzPct val="100000"/>
              <a:buChar char="•"/>
            </a:pPr>
            <a:r>
              <a:rPr lang="en-US" sz="1450" dirty="0">
                <a:solidFill>
                  <a:schemeClr val="tx1"/>
                </a:solidFill>
              </a:rPr>
              <a:t>Breach notice, children’s data, correction and nomination flows</a:t>
            </a:r>
            <a:endParaRPr lang="en-US" sz="1450" dirty="0"/>
          </a:p>
        </p:txBody>
      </p:sp>
      <p:sp>
        <p:nvSpPr>
          <p:cNvPr id="9" name="Roadmap card"/>
          <p:cNvSpPr/>
          <p:nvPr/>
        </p:nvSpPr>
        <p:spPr>
          <a:xfrm>
            <a:off x="4306824" y="1645920"/>
            <a:ext cx="3575304" cy="3749040"/>
          </a:xfrm>
          <a:prstGeom prst="roundRect">
            <a:avLst>
              <a:gd name="adj" fmla="val 3069"/>
            </a:avLst>
          </a:prstGeom>
          <a:solidFill>
            <a:schemeClr val="bg1"/>
          </a:solidFill>
          <a:ln/>
          <a:effectLst>
            <a:outerShdw blurRad="127000" dist="25400" dir="5400000" algn="bl" rotWithShape="0">
              <a:srgbClr val="0B1B2E">
                <a:alpha val="10000"/>
              </a:srgbClr>
            </a:outerShdw>
          </a:effectLst>
        </p:spPr>
      </p:sp>
      <p:sp>
        <p:nvSpPr>
          <p:cNvPr id="10" name="Roadmap header"/>
          <p:cNvSpPr/>
          <p:nvPr/>
        </p:nvSpPr>
        <p:spPr>
          <a:xfrm>
            <a:off x="4306824" y="1645920"/>
            <a:ext cx="3575304" cy="868680"/>
          </a:xfrm>
          <a:prstGeom prst="roundRect">
            <a:avLst>
              <a:gd name="adj" fmla="val 12632"/>
            </a:avLst>
          </a:prstGeom>
          <a:solidFill>
            <a:schemeClr val="accent3"/>
          </a:solidFill>
          <a:ln/>
        </p:spPr>
      </p:sp>
      <p:sp>
        <p:nvSpPr>
          <p:cNvPr id="11" name="Text 9"/>
          <p:cNvSpPr txBox="1"/>
          <p:nvPr/>
        </p:nvSpPr>
        <p:spPr>
          <a:xfrm>
            <a:off x="4581144" y="1755648"/>
            <a:ext cx="3017520" cy="365760"/>
          </a:xfrm>
          <a:prstGeom prst="rect">
            <a:avLst/>
          </a:prstGeom>
          <a:noFill/>
          <a:ln/>
        </p:spPr>
        <p:txBody>
          <a:bodyPr wrap="square" lIns="0" tIns="0" rIns="0" bIns="0" rtlCol="0" anchor="t"/>
          <a:lstStyle/>
          <a:p>
            <a:pPr marL="0" indent="0">
              <a:buNone/>
            </a:pPr>
            <a:r>
              <a:rPr lang="en-US" sz="2200" b="1" dirty="0">
                <a:solidFill>
                  <a:schemeClr val="bg1"/>
                </a:solidFill>
                <a:latin typeface="+mj-lt" pitchFamily="34" charset="0"/>
                <a:ea typeface="+mj-lt" pitchFamily="34" charset="-122"/>
                <a:cs typeface="+mj-lt" pitchFamily="34" charset="-120"/>
              </a:rPr>
              <a:t>Scale</a:t>
            </a:r>
            <a:endParaRPr lang="en-US" sz="2200" dirty="0"/>
          </a:p>
        </p:txBody>
      </p:sp>
      <p:sp>
        <p:nvSpPr>
          <p:cNvPr id="12" name="Text 10"/>
          <p:cNvSpPr txBox="1"/>
          <p:nvPr/>
        </p:nvSpPr>
        <p:spPr>
          <a:xfrm>
            <a:off x="4581144" y="2139696"/>
            <a:ext cx="3017520" cy="274320"/>
          </a:xfrm>
          <a:prstGeom prst="rect">
            <a:avLst/>
          </a:prstGeom>
          <a:noFill/>
          <a:ln/>
        </p:spPr>
        <p:txBody>
          <a:bodyPr wrap="square" lIns="0" tIns="0" rIns="0" bIns="0" rtlCol="0" anchor="t"/>
          <a:lstStyle/>
          <a:p>
            <a:pPr marL="0" indent="0">
              <a:buNone/>
            </a:pPr>
            <a:r>
              <a:rPr lang="en-US" sz="1300" dirty="0">
                <a:solidFill>
                  <a:schemeClr val="bg1"/>
                </a:solidFill>
              </a:rPr>
              <a:t>Production deployment</a:t>
            </a:r>
            <a:endParaRPr lang="en-US" sz="1300" dirty="0"/>
          </a:p>
        </p:txBody>
      </p:sp>
      <p:sp>
        <p:nvSpPr>
          <p:cNvPr id="13" name="Text 11"/>
          <p:cNvSpPr txBox="1"/>
          <p:nvPr/>
        </p:nvSpPr>
        <p:spPr>
          <a:xfrm>
            <a:off x="4581144" y="2743200"/>
            <a:ext cx="3063240" cy="2560320"/>
          </a:xfrm>
          <a:prstGeom prst="rect">
            <a:avLst/>
          </a:prstGeom>
          <a:noFill/>
          <a:ln/>
        </p:spPr>
        <p:txBody>
          <a:bodyPr wrap="square" lIns="0" tIns="0" rIns="0" bIns="0" rtlCol="0" anchor="t"/>
          <a:lstStyle/>
          <a:p>
            <a:pPr marL="177800" indent="-177800">
              <a:spcAft>
                <a:spcPts val="1000"/>
              </a:spcAft>
              <a:buSzPct val="100000"/>
              <a:buChar char="•"/>
            </a:pPr>
            <a:r>
              <a:rPr lang="en-US" sz="1450" dirty="0">
                <a:solidFill>
                  <a:schemeClr val="tx1"/>
                </a:solidFill>
              </a:rPr>
              <a:t>Permissioned or L2 chain run by a consortium of consent managers</a:t>
            </a:r>
            <a:endParaRPr lang="en-US" sz="1450" dirty="0"/>
          </a:p>
          <a:p>
            <a:pPr marL="177800" indent="-177800">
              <a:spcAft>
                <a:spcPts val="1000"/>
              </a:spcAft>
              <a:buSzPct val="100000"/>
              <a:buChar char="•"/>
            </a:pPr>
            <a:r>
              <a:rPr lang="en-US" sz="1450" dirty="0">
                <a:solidFill>
                  <a:schemeClr val="tx1"/>
                </a:solidFill>
              </a:rPr>
              <a:t>Gateway as a sidecar or API-gateway plugin</a:t>
            </a:r>
            <a:endParaRPr lang="en-US" sz="1450" dirty="0"/>
          </a:p>
          <a:p>
            <a:pPr marL="177800" indent="-177800">
              <a:spcAft>
                <a:spcPts val="1000"/>
              </a:spcAft>
              <a:buSzPct val="100000"/>
              <a:buChar char="•"/>
            </a:pPr>
            <a:r>
              <a:rPr lang="en-US" sz="1450" dirty="0">
                <a:solidFill>
                  <a:schemeClr val="tx1"/>
                </a:solidFill>
              </a:rPr>
              <a:t>More Indian languages beyond English, Hindi and Kannada</a:t>
            </a:r>
            <a:endParaRPr lang="en-US" sz="1450" dirty="0"/>
          </a:p>
          <a:p>
            <a:pPr marL="177800" indent="-177800">
              <a:spcAft>
                <a:spcPts val="1000"/>
              </a:spcAft>
              <a:buSzPct val="100000"/>
              <a:buChar char="•"/>
            </a:pPr>
            <a:r>
              <a:rPr lang="en-US" sz="1450" dirty="0">
                <a:solidFill>
                  <a:schemeClr val="tx1"/>
                </a:solidFill>
              </a:rPr>
              <a:t>Push alerts when the app is closed</a:t>
            </a:r>
            <a:endParaRPr lang="en-US" sz="1450" dirty="0"/>
          </a:p>
        </p:txBody>
      </p:sp>
      <p:sp>
        <p:nvSpPr>
          <p:cNvPr id="14" name="Roadmap card"/>
          <p:cNvSpPr/>
          <p:nvPr/>
        </p:nvSpPr>
        <p:spPr>
          <a:xfrm>
            <a:off x="8065008" y="1645920"/>
            <a:ext cx="3575304" cy="3749040"/>
          </a:xfrm>
          <a:prstGeom prst="roundRect">
            <a:avLst>
              <a:gd name="adj" fmla="val 3069"/>
            </a:avLst>
          </a:prstGeom>
          <a:solidFill>
            <a:schemeClr val="bg1"/>
          </a:solidFill>
          <a:ln/>
          <a:effectLst>
            <a:outerShdw blurRad="127000" dist="25400" dir="5400000" algn="bl" rotWithShape="0">
              <a:srgbClr val="0B1B2E">
                <a:alpha val="10000"/>
              </a:srgbClr>
            </a:outerShdw>
          </a:effectLst>
        </p:spPr>
      </p:sp>
      <p:sp>
        <p:nvSpPr>
          <p:cNvPr id="15" name="Roadmap header"/>
          <p:cNvSpPr/>
          <p:nvPr/>
        </p:nvSpPr>
        <p:spPr>
          <a:xfrm>
            <a:off x="8065008" y="1645920"/>
            <a:ext cx="3575304" cy="868680"/>
          </a:xfrm>
          <a:prstGeom prst="roundRect">
            <a:avLst>
              <a:gd name="adj" fmla="val 12632"/>
            </a:avLst>
          </a:prstGeom>
          <a:solidFill>
            <a:schemeClr val="accent5"/>
          </a:solidFill>
          <a:ln/>
        </p:spPr>
      </p:sp>
      <p:sp>
        <p:nvSpPr>
          <p:cNvPr id="16" name="Text 14"/>
          <p:cNvSpPr txBox="1"/>
          <p:nvPr/>
        </p:nvSpPr>
        <p:spPr>
          <a:xfrm>
            <a:off x="8339328" y="1755648"/>
            <a:ext cx="3017520" cy="365760"/>
          </a:xfrm>
          <a:prstGeom prst="rect">
            <a:avLst/>
          </a:prstGeom>
          <a:noFill/>
          <a:ln/>
        </p:spPr>
        <p:txBody>
          <a:bodyPr wrap="square" lIns="0" tIns="0" rIns="0" bIns="0" rtlCol="0" anchor="t"/>
          <a:lstStyle/>
          <a:p>
            <a:pPr marL="0" indent="0">
              <a:buNone/>
            </a:pPr>
            <a:r>
              <a:rPr lang="en-US" sz="2200" b="1" dirty="0">
                <a:solidFill>
                  <a:schemeClr val="bg1"/>
                </a:solidFill>
                <a:latin typeface="+mj-lt" pitchFamily="34" charset="0"/>
                <a:ea typeface="+mj-lt" pitchFamily="34" charset="-122"/>
                <a:cs typeface="+mj-lt" pitchFamily="34" charset="-120"/>
              </a:rPr>
              <a:t>Expand</a:t>
            </a:r>
            <a:endParaRPr lang="en-US" sz="2200" dirty="0"/>
          </a:p>
        </p:txBody>
      </p:sp>
      <p:sp>
        <p:nvSpPr>
          <p:cNvPr id="17" name="Text 15"/>
          <p:cNvSpPr txBox="1"/>
          <p:nvPr/>
        </p:nvSpPr>
        <p:spPr>
          <a:xfrm>
            <a:off x="8339328" y="2139696"/>
            <a:ext cx="3017520" cy="274320"/>
          </a:xfrm>
          <a:prstGeom prst="rect">
            <a:avLst/>
          </a:prstGeom>
          <a:noFill/>
          <a:ln/>
        </p:spPr>
        <p:txBody>
          <a:bodyPr wrap="square" lIns="0" tIns="0" rIns="0" bIns="0" rtlCol="0" anchor="t"/>
          <a:lstStyle/>
          <a:p>
            <a:pPr marL="0" indent="0">
              <a:buNone/>
            </a:pPr>
            <a:r>
              <a:rPr lang="en-US" sz="1300" dirty="0">
                <a:solidFill>
                  <a:schemeClr val="bg1"/>
                </a:solidFill>
              </a:rPr>
              <a:t>Long-term vision</a:t>
            </a:r>
            <a:endParaRPr lang="en-US" sz="1300" dirty="0"/>
          </a:p>
        </p:txBody>
      </p:sp>
      <p:sp>
        <p:nvSpPr>
          <p:cNvPr id="18" name="Text 16"/>
          <p:cNvSpPr txBox="1"/>
          <p:nvPr/>
        </p:nvSpPr>
        <p:spPr>
          <a:xfrm>
            <a:off x="8339328" y="2743200"/>
            <a:ext cx="3063240" cy="2560320"/>
          </a:xfrm>
          <a:prstGeom prst="rect">
            <a:avLst/>
          </a:prstGeom>
          <a:noFill/>
          <a:ln/>
        </p:spPr>
        <p:txBody>
          <a:bodyPr wrap="square" lIns="0" tIns="0" rIns="0" bIns="0" rtlCol="0" anchor="t"/>
          <a:lstStyle/>
          <a:p>
            <a:pPr marL="177800" indent="-177800">
              <a:spcAft>
                <a:spcPts val="1000"/>
              </a:spcAft>
              <a:buSzPct val="100000"/>
              <a:buChar char="•"/>
            </a:pPr>
            <a:r>
              <a:rPr lang="en-US" sz="1450" dirty="0">
                <a:solidFill>
                  <a:schemeClr val="tx1"/>
                </a:solidFill>
              </a:rPr>
              <a:t>Zero-knowledge proofs that consent exists, without revealing purposes</a:t>
            </a:r>
            <a:endParaRPr lang="en-US" sz="1450" dirty="0"/>
          </a:p>
          <a:p>
            <a:pPr marL="177800" indent="-177800">
              <a:spcAft>
                <a:spcPts val="1000"/>
              </a:spcAft>
              <a:buSzPct val="100000"/>
              <a:buChar char="•"/>
            </a:pPr>
            <a:r>
              <a:rPr lang="en-US" sz="1450" dirty="0">
                <a:solidFill>
                  <a:schemeClr val="tx1"/>
                </a:solidFill>
              </a:rPr>
              <a:t>Legal review and registration as a consent manager</a:t>
            </a:r>
            <a:endParaRPr lang="en-US" sz="1450" dirty="0"/>
          </a:p>
          <a:p>
            <a:pPr marL="177800" indent="-177800">
              <a:spcAft>
                <a:spcPts val="1000"/>
              </a:spcAft>
              <a:buSzPct val="100000"/>
              <a:buChar char="•"/>
            </a:pPr>
            <a:r>
              <a:rPr lang="en-US" sz="1450" dirty="0">
                <a:solidFill>
                  <a:schemeClr val="tx1"/>
                </a:solidFill>
              </a:rPr>
              <a:t>Lending, health, food and commerce on one consent wallet</a:t>
            </a:r>
            <a:endParaRPr lang="en-US" sz="1450" dirty="0"/>
          </a:p>
          <a:p>
            <a:pPr marL="177800" indent="-177800">
              <a:spcAft>
                <a:spcPts val="1000"/>
              </a:spcAft>
              <a:buSzPct val="100000"/>
              <a:buChar char="•"/>
            </a:pPr>
            <a:r>
              <a:rPr lang="en-US" sz="1450" dirty="0">
                <a:solidFill>
                  <a:schemeClr val="tx1"/>
                </a:solidFill>
              </a:rPr>
              <a:t>Purpose templates for lenders, hospitals and retailers</a:t>
            </a:r>
            <a:endParaRPr lang="en-US" sz="1450" dirty="0"/>
          </a:p>
        </p:txBody>
      </p:sp>
      <p:sp>
        <p:nvSpPr>
          <p:cNvPr id="19" name="Roadmap banner"/>
          <p:cNvSpPr/>
          <p:nvPr/>
        </p:nvSpPr>
        <p:spPr>
          <a:xfrm>
            <a:off x="548640" y="5577840"/>
            <a:ext cx="11094415" cy="685800"/>
          </a:xfrm>
          <a:prstGeom prst="roundRect">
            <a:avLst>
              <a:gd name="adj" fmla="val 16000"/>
            </a:avLst>
          </a:prstGeom>
          <a:solidFill>
            <a:schemeClr val="tx1"/>
          </a:solidFill>
          <a:ln/>
        </p:spPr>
      </p:sp>
      <p:sp>
        <p:nvSpPr>
          <p:cNvPr id="20" name="Text 18"/>
          <p:cNvSpPr txBox="1"/>
          <p:nvPr/>
        </p:nvSpPr>
        <p:spPr>
          <a:xfrm>
            <a:off x="822960" y="5577840"/>
            <a:ext cx="10515600" cy="685800"/>
          </a:xfrm>
          <a:prstGeom prst="rect">
            <a:avLst/>
          </a:prstGeom>
          <a:noFill/>
          <a:ln/>
        </p:spPr>
        <p:txBody>
          <a:bodyPr wrap="square" lIns="0" tIns="0" rIns="0" bIns="0" rtlCol="0" anchor="ctr"/>
          <a:lstStyle/>
          <a:p>
            <a:pPr marL="0" indent="0">
              <a:buNone/>
            </a:pPr>
            <a:r>
              <a:rPr lang="en-US" sz="1500" b="1" dirty="0">
                <a:solidFill>
                  <a:schemeClr val="accent2"/>
                </a:solidFill>
              </a:rPr>
              <a:t>Today: </a:t>
            </a:r>
            <a:r>
              <a:rPr lang="en-US" sz="1500" dirty="0">
                <a:solidFill>
                  <a:schemeClr val="bg1"/>
                </a:solidFill>
              </a:rPr>
              <a:t>working prototype with public testnet proof.   </a:t>
            </a:r>
            <a:r>
              <a:rPr lang="en-US" sz="1500" b="1" dirty="0">
                <a:solidFill>
                  <a:schemeClr val="accent2"/>
                </a:solidFill>
              </a:rPr>
              <a:t>Next: </a:t>
            </a:r>
            <a:r>
              <a:rPr lang="en-US" sz="1500" dirty="0">
                <a:solidFill>
                  <a:schemeClr val="bg1"/>
                </a:solidFill>
              </a:rPr>
              <a:t>hardware-backed trust.   </a:t>
            </a:r>
            <a:r>
              <a:rPr lang="en-US" sz="1500" b="1" dirty="0">
                <a:solidFill>
                  <a:schemeClr val="accent2"/>
                </a:solidFill>
              </a:rPr>
              <a:t>Then: </a:t>
            </a:r>
            <a:r>
              <a:rPr lang="en-US" sz="1500" dirty="0">
                <a:solidFill>
                  <a:schemeClr val="bg1"/>
                </a:solidFill>
              </a:rPr>
              <a:t>a national consent network.</a:t>
            </a:r>
            <a:endParaRPr lang="en-US" sz="1500" dirty="0"/>
          </a:p>
        </p:txBody>
      </p:sp>
      <p:sp>
        <p:nvSpPr>
          <p:cNvPr id="25" name="Slide Number Placeholder 0"/>
          <p:cNvSpPr>
            <a:spLocks noGrp="1"/>
          </p:cNvSpPr>
          <p:nvPr>
            <p:ph type="sldNum" sz="quarter" idx="4294967295"/>
          </p:nvPr>
        </p:nvSpPr>
        <p:spPr>
          <a:xfrm>
            <a:off x="10881360" y="6455664"/>
            <a:ext cx="758952" cy="237744"/>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731520" y="457200"/>
            <a:ext cx="8229600" cy="274320"/>
          </a:xfrm>
          <a:prstGeom prst="rect">
            <a:avLst/>
          </a:prstGeom>
          <a:noFill/>
          <a:ln/>
        </p:spPr>
        <p:txBody>
          <a:bodyPr wrap="square" lIns="0" tIns="0" rIns="0" bIns="0" rtlCol="0" anchor="t"/>
          <a:lstStyle/>
          <a:p>
            <a:pPr marL="0" indent="0">
              <a:buNone/>
            </a:pPr>
            <a:r>
              <a:rPr lang="en-US" sz="1200" b="1" kern="0" spc="300" dirty="0">
                <a:solidFill>
                  <a:schemeClr val="accent2"/>
                </a:solidFill>
              </a:rPr>
              <a:t>10  |  CONCLUSION   KEY TAKEAWAY</a:t>
            </a:r>
            <a:endParaRPr lang="en-US" sz="1200" dirty="0"/>
          </a:p>
        </p:txBody>
      </p:sp>
      <p:sp>
        <p:nvSpPr>
          <p:cNvPr id="3" name="Text 0"/>
          <p:cNvSpPr>
            <a:spLocks noGrp="1"/>
          </p:cNvSpPr>
          <p:nvPr>
            <p:ph type="title" idx="100" hasCustomPrompt="1"/>
          </p:nvPr>
        </p:nvSpPr>
        <p:spPr>
          <a:xfrm>
            <a:off x="731520" y="868680"/>
            <a:ext cx="10698480" cy="914400"/>
          </a:xfrm>
          <a:prstGeom prst="rect">
            <a:avLst/>
          </a:prstGeom>
          <a:noFill/>
          <a:ln/>
        </p:spPr>
        <p:txBody>
          <a:bodyPr wrap="square" lIns="0" tIns="0" rIns="0" bIns="0" rtlCol="0" anchor="ctr"/>
          <a:lstStyle/>
          <a:p>
            <a:pPr marL="0" indent="0" algn="l">
              <a:buNone/>
            </a:pPr>
            <a:r>
              <a:rPr lang="en-US" sz="4000" b="1" dirty="0">
                <a:solidFill>
                  <a:schemeClr val="bg1"/>
                </a:solidFill>
              </a:rPr>
              <a:t>Consent you can prove, withdraw and verify</a:t>
            </a:r>
            <a:endParaRPr lang="en-US" sz="4000" dirty="0"/>
          </a:p>
        </p:txBody>
      </p:sp>
      <p:sp>
        <p:nvSpPr>
          <p:cNvPr id="4" name="Benefit card"/>
          <p:cNvSpPr/>
          <p:nvPr/>
        </p:nvSpPr>
        <p:spPr>
          <a:xfrm>
            <a:off x="731520" y="2286000"/>
            <a:ext cx="3429000" cy="2148840"/>
          </a:xfrm>
          <a:prstGeom prst="roundRect">
            <a:avLst>
              <a:gd name="adj" fmla="val 5957"/>
            </a:avLst>
          </a:prstGeom>
          <a:solidFill>
            <a:schemeClr val="tx2"/>
          </a:solidFill>
          <a:ln/>
        </p:spPr>
      </p:sp>
      <p:sp>
        <p:nvSpPr>
          <p:cNvPr id="5" name="Icon circle"/>
          <p:cNvSpPr/>
          <p:nvPr/>
        </p:nvSpPr>
        <p:spPr>
          <a:xfrm>
            <a:off x="1005840" y="2514600"/>
            <a:ext cx="640080" cy="640080"/>
          </a:xfrm>
          <a:prstGeom prst="ellipse">
            <a:avLst/>
          </a:prstGeom>
          <a:solidFill>
            <a:srgbClr val="D64550"/>
          </a:solidFill>
          <a:ln/>
        </p:spPr>
      </p:sp>
      <p:pic>
        <p:nvPicPr>
          <p:cNvPr id="6" name="Image 0" descr="Ban icon"/>
          <p:cNvPicPr>
            <a:picLocks noChangeAspect="1"/>
          </p:cNvPicPr>
          <p:nvPr/>
        </p:nvPicPr>
        <p:blipFill>
          <a:blip r:embed="rId3"/>
          <a:stretch>
            <a:fillRect/>
          </a:stretch>
        </p:blipFill>
        <p:spPr>
          <a:xfrm>
            <a:off x="1172261" y="2681021"/>
            <a:ext cx="307238" cy="307238"/>
          </a:xfrm>
          <a:prstGeom prst="rect">
            <a:avLst/>
          </a:prstGeom>
        </p:spPr>
      </p:pic>
      <p:sp>
        <p:nvSpPr>
          <p:cNvPr id="7" name="Text 4"/>
          <p:cNvSpPr txBox="1"/>
          <p:nvPr/>
        </p:nvSpPr>
        <p:spPr>
          <a:xfrm>
            <a:off x="1828800" y="2633472"/>
            <a:ext cx="2103120" cy="411480"/>
          </a:xfrm>
          <a:prstGeom prst="rect">
            <a:avLst/>
          </a:prstGeom>
          <a:noFill/>
          <a:ln/>
        </p:spPr>
        <p:txBody>
          <a:bodyPr wrap="square" lIns="0" tIns="0" rIns="0" bIns="0" rtlCol="0" anchor="ctr"/>
          <a:lstStyle/>
          <a:p>
            <a:pPr marL="0" indent="0">
              <a:buNone/>
            </a:pPr>
            <a:r>
              <a:rPr lang="en-US" sz="2200" b="1" dirty="0">
                <a:solidFill>
                  <a:schemeClr val="bg1"/>
                </a:solidFill>
                <a:latin typeface="+mj-lt" pitchFamily="34" charset="0"/>
                <a:ea typeface="+mj-lt" pitchFamily="34" charset="-122"/>
                <a:cs typeface="+mj-lt" pitchFamily="34" charset="-120"/>
              </a:rPr>
              <a:t>Enforced</a:t>
            </a:r>
            <a:endParaRPr lang="en-US" sz="2200" dirty="0"/>
          </a:p>
        </p:txBody>
      </p:sp>
      <p:sp>
        <p:nvSpPr>
          <p:cNvPr id="8" name="Text 5"/>
          <p:cNvSpPr txBox="1"/>
          <p:nvPr/>
        </p:nvSpPr>
        <p:spPr>
          <a:xfrm>
            <a:off x="1005840" y="3383280"/>
            <a:ext cx="2880360" cy="960120"/>
          </a:xfrm>
          <a:prstGeom prst="rect">
            <a:avLst/>
          </a:prstGeom>
          <a:noFill/>
          <a:ln/>
        </p:spPr>
        <p:txBody>
          <a:bodyPr wrap="square" lIns="0" tIns="0" rIns="0" bIns="0" rtlCol="0" anchor="t"/>
          <a:lstStyle/>
          <a:p>
            <a:pPr marL="0" indent="0">
              <a:buNone/>
            </a:pPr>
            <a:r>
              <a:rPr lang="en-US" sz="1500" dirty="0">
                <a:solidFill>
                  <a:schemeClr val="bg2"/>
                </a:solidFill>
              </a:rPr>
              <a:t>Withdraw in two taps and the company’s next request is blocked.</a:t>
            </a:r>
            <a:endParaRPr lang="en-US" sz="1500" dirty="0"/>
          </a:p>
        </p:txBody>
      </p:sp>
      <p:sp>
        <p:nvSpPr>
          <p:cNvPr id="9" name="Benefit card"/>
          <p:cNvSpPr/>
          <p:nvPr/>
        </p:nvSpPr>
        <p:spPr>
          <a:xfrm>
            <a:off x="4361688" y="2286000"/>
            <a:ext cx="3429000" cy="2148840"/>
          </a:xfrm>
          <a:prstGeom prst="roundRect">
            <a:avLst>
              <a:gd name="adj" fmla="val 5957"/>
            </a:avLst>
          </a:prstGeom>
          <a:solidFill>
            <a:schemeClr val="tx2"/>
          </a:solidFill>
          <a:ln/>
        </p:spPr>
      </p:sp>
      <p:sp>
        <p:nvSpPr>
          <p:cNvPr id="10" name="Icon circle"/>
          <p:cNvSpPr/>
          <p:nvPr/>
        </p:nvSpPr>
        <p:spPr>
          <a:xfrm>
            <a:off x="4636008" y="2514600"/>
            <a:ext cx="640080" cy="640080"/>
          </a:xfrm>
          <a:prstGeom prst="ellipse">
            <a:avLst/>
          </a:prstGeom>
          <a:solidFill>
            <a:srgbClr val="2F63C8"/>
          </a:solidFill>
          <a:ln/>
        </p:spPr>
      </p:sp>
      <p:pic>
        <p:nvPicPr>
          <p:cNvPr id="11" name="Image 1" descr="Link icon"/>
          <p:cNvPicPr>
            <a:picLocks noChangeAspect="1"/>
          </p:cNvPicPr>
          <p:nvPr/>
        </p:nvPicPr>
        <p:blipFill>
          <a:blip r:embed="rId4"/>
          <a:stretch>
            <a:fillRect/>
          </a:stretch>
        </p:blipFill>
        <p:spPr>
          <a:xfrm>
            <a:off x="4802429" y="2681021"/>
            <a:ext cx="307238" cy="307238"/>
          </a:xfrm>
          <a:prstGeom prst="rect">
            <a:avLst/>
          </a:prstGeom>
        </p:spPr>
      </p:pic>
      <p:sp>
        <p:nvSpPr>
          <p:cNvPr id="12" name="Text 8"/>
          <p:cNvSpPr txBox="1"/>
          <p:nvPr/>
        </p:nvSpPr>
        <p:spPr>
          <a:xfrm>
            <a:off x="5458968" y="2633472"/>
            <a:ext cx="2103120" cy="411480"/>
          </a:xfrm>
          <a:prstGeom prst="rect">
            <a:avLst/>
          </a:prstGeom>
          <a:noFill/>
          <a:ln/>
        </p:spPr>
        <p:txBody>
          <a:bodyPr wrap="square" lIns="0" tIns="0" rIns="0" bIns="0" rtlCol="0" anchor="ctr"/>
          <a:lstStyle/>
          <a:p>
            <a:pPr marL="0" indent="0">
              <a:buNone/>
            </a:pPr>
            <a:r>
              <a:rPr lang="en-US" sz="2200" b="1" dirty="0">
                <a:solidFill>
                  <a:schemeClr val="bg1"/>
                </a:solidFill>
                <a:latin typeface="+mj-lt" pitchFamily="34" charset="0"/>
                <a:ea typeface="+mj-lt" pitchFamily="34" charset="-122"/>
                <a:cs typeface="+mj-lt" pitchFamily="34" charset="-120"/>
              </a:rPr>
              <a:t>Provable</a:t>
            </a:r>
            <a:endParaRPr lang="en-US" sz="2200" dirty="0"/>
          </a:p>
        </p:txBody>
      </p:sp>
      <p:sp>
        <p:nvSpPr>
          <p:cNvPr id="13" name="Text 9"/>
          <p:cNvSpPr txBox="1"/>
          <p:nvPr/>
        </p:nvSpPr>
        <p:spPr>
          <a:xfrm>
            <a:off x="4636008" y="3383280"/>
            <a:ext cx="2880360" cy="960120"/>
          </a:xfrm>
          <a:prstGeom prst="rect">
            <a:avLst/>
          </a:prstGeom>
          <a:noFill/>
          <a:ln/>
        </p:spPr>
        <p:txBody>
          <a:bodyPr wrap="square" lIns="0" tIns="0" rIns="0" bIns="0" rtlCol="0" anchor="t"/>
          <a:lstStyle/>
          <a:p>
            <a:pPr marL="0" indent="0">
              <a:buNone/>
            </a:pPr>
            <a:r>
              <a:rPr lang="en-US" sz="1500" dirty="0">
                <a:solidFill>
                  <a:schemeClr val="bg2"/>
                </a:solidFill>
              </a:rPr>
              <a:t>User-signed consent and anchored logs let anyone catch an edited record.</a:t>
            </a:r>
            <a:endParaRPr lang="en-US" sz="1500" dirty="0"/>
          </a:p>
        </p:txBody>
      </p:sp>
      <p:sp>
        <p:nvSpPr>
          <p:cNvPr id="14" name="Benefit card"/>
          <p:cNvSpPr/>
          <p:nvPr/>
        </p:nvSpPr>
        <p:spPr>
          <a:xfrm>
            <a:off x="7991856" y="2286000"/>
            <a:ext cx="3429000" cy="2148840"/>
          </a:xfrm>
          <a:prstGeom prst="roundRect">
            <a:avLst>
              <a:gd name="adj" fmla="val 5957"/>
            </a:avLst>
          </a:prstGeom>
          <a:solidFill>
            <a:schemeClr val="tx2"/>
          </a:solidFill>
          <a:ln/>
        </p:spPr>
      </p:sp>
      <p:sp>
        <p:nvSpPr>
          <p:cNvPr id="15" name="Icon circle"/>
          <p:cNvSpPr/>
          <p:nvPr/>
        </p:nvSpPr>
        <p:spPr>
          <a:xfrm>
            <a:off x="8266176" y="2514600"/>
            <a:ext cx="640080" cy="640080"/>
          </a:xfrm>
          <a:prstGeom prst="ellipse">
            <a:avLst/>
          </a:prstGeom>
          <a:solidFill>
            <a:srgbClr val="0E8F83"/>
          </a:solidFill>
          <a:ln/>
        </p:spPr>
      </p:sp>
      <p:pic>
        <p:nvPicPr>
          <p:cNvPr id="16" name="Image 2" descr="EyeSlash icon"/>
          <p:cNvPicPr>
            <a:picLocks noChangeAspect="1"/>
          </p:cNvPicPr>
          <p:nvPr/>
        </p:nvPicPr>
        <p:blipFill>
          <a:blip r:embed="rId5"/>
          <a:stretch>
            <a:fillRect/>
          </a:stretch>
        </p:blipFill>
        <p:spPr>
          <a:xfrm>
            <a:off x="8432597" y="2681021"/>
            <a:ext cx="307238" cy="307238"/>
          </a:xfrm>
          <a:prstGeom prst="rect">
            <a:avLst/>
          </a:prstGeom>
        </p:spPr>
      </p:pic>
      <p:sp>
        <p:nvSpPr>
          <p:cNvPr id="17" name="Text 12"/>
          <p:cNvSpPr txBox="1"/>
          <p:nvPr/>
        </p:nvSpPr>
        <p:spPr>
          <a:xfrm>
            <a:off x="9089136" y="2633472"/>
            <a:ext cx="2103120" cy="411480"/>
          </a:xfrm>
          <a:prstGeom prst="rect">
            <a:avLst/>
          </a:prstGeom>
          <a:noFill/>
          <a:ln/>
        </p:spPr>
        <p:txBody>
          <a:bodyPr wrap="square" lIns="0" tIns="0" rIns="0" bIns="0" rtlCol="0" anchor="ctr"/>
          <a:lstStyle/>
          <a:p>
            <a:pPr marL="0" indent="0">
              <a:buNone/>
            </a:pPr>
            <a:r>
              <a:rPr lang="en-US" sz="2200" b="1" dirty="0">
                <a:solidFill>
                  <a:schemeClr val="bg1"/>
                </a:solidFill>
                <a:latin typeface="+mj-lt" pitchFamily="34" charset="0"/>
                <a:ea typeface="+mj-lt" pitchFamily="34" charset="-122"/>
                <a:cs typeface="+mj-lt" pitchFamily="34" charset="-120"/>
              </a:rPr>
              <a:t>Private</a:t>
            </a:r>
            <a:endParaRPr lang="en-US" sz="2200" dirty="0"/>
          </a:p>
        </p:txBody>
      </p:sp>
      <p:sp>
        <p:nvSpPr>
          <p:cNvPr id="18" name="Text 13"/>
          <p:cNvSpPr txBox="1"/>
          <p:nvPr/>
        </p:nvSpPr>
        <p:spPr>
          <a:xfrm>
            <a:off x="8266176" y="3383280"/>
            <a:ext cx="2880360" cy="960120"/>
          </a:xfrm>
          <a:prstGeom prst="rect">
            <a:avLst/>
          </a:prstGeom>
          <a:noFill/>
          <a:ln/>
        </p:spPr>
        <p:txBody>
          <a:bodyPr wrap="square" lIns="0" tIns="0" rIns="0" bIns="0" rtlCol="0" anchor="t"/>
          <a:lstStyle/>
          <a:p>
            <a:pPr marL="0" indent="0">
              <a:buNone/>
            </a:pPr>
            <a:r>
              <a:rPr lang="en-US" sz="1500" dirty="0">
                <a:solidFill>
                  <a:schemeClr val="bg2"/>
                </a:solidFill>
              </a:rPr>
              <a:t>Decisions from encrypted data. Nothing personal goes on chain.</a:t>
            </a:r>
            <a:endParaRPr lang="en-US" sz="1500" dirty="0"/>
          </a:p>
        </p:txBody>
      </p:sp>
      <p:sp>
        <p:nvSpPr>
          <p:cNvPr id="19" name="Text 14"/>
          <p:cNvSpPr txBox="1"/>
          <p:nvPr/>
        </p:nvSpPr>
        <p:spPr>
          <a:xfrm>
            <a:off x="731520" y="4800600"/>
            <a:ext cx="10698480" cy="457200"/>
          </a:xfrm>
          <a:prstGeom prst="rect">
            <a:avLst/>
          </a:prstGeom>
          <a:noFill/>
          <a:ln/>
        </p:spPr>
        <p:txBody>
          <a:bodyPr wrap="square" lIns="0" tIns="0" rIns="0" bIns="0" rtlCol="0" anchor="t"/>
          <a:lstStyle/>
          <a:p>
            <a:pPr marL="0" indent="0">
              <a:buNone/>
            </a:pPr>
            <a:r>
              <a:rPr lang="en-US" sz="2200" b="1" i="1" dirty="0">
                <a:solidFill>
                  <a:schemeClr val="accent2"/>
                </a:solidFill>
              </a:rPr>
              <a:t>UPI made payments simple and trustworthy. Sammati does that for consent.</a:t>
            </a:r>
            <a:endParaRPr lang="en-US" sz="2200" dirty="0"/>
          </a:p>
        </p:txBody>
      </p:sp>
      <p:sp>
        <p:nvSpPr>
          <p:cNvPr id="20" name="Text 15"/>
          <p:cNvSpPr txBox="1"/>
          <p:nvPr/>
        </p:nvSpPr>
        <p:spPr>
          <a:xfrm>
            <a:off x="731520" y="5349240"/>
            <a:ext cx="10698480" cy="365760"/>
          </a:xfrm>
          <a:prstGeom prst="rect">
            <a:avLst/>
          </a:prstGeom>
          <a:noFill/>
          <a:ln/>
        </p:spPr>
        <p:txBody>
          <a:bodyPr wrap="square" lIns="0" tIns="0" rIns="0" bIns="0" rtlCol="0" anchor="t"/>
          <a:lstStyle/>
          <a:p>
            <a:pPr marL="0" indent="0">
              <a:buNone/>
            </a:pPr>
            <a:r>
              <a:rPr lang="en-US" sz="1500" dirty="0">
                <a:solidFill>
                  <a:schemeClr val="bg2"/>
                </a:solidFill>
              </a:rPr>
              <a:t>Final vision: the neutral consent layer between every citizen and every institution in India’s data economy.</a:t>
            </a:r>
            <a:endParaRPr lang="en-US" sz="1500" dirty="0"/>
          </a:p>
        </p:txBody>
      </p:sp>
      <p:sp>
        <p:nvSpPr>
          <p:cNvPr id="21" name="Text 16"/>
          <p:cNvSpPr txBox="1"/>
          <p:nvPr/>
        </p:nvSpPr>
        <p:spPr>
          <a:xfrm>
            <a:off x="731520" y="6080760"/>
            <a:ext cx="10698480" cy="365760"/>
          </a:xfrm>
          <a:prstGeom prst="rect">
            <a:avLst/>
          </a:prstGeom>
          <a:noFill/>
          <a:ln/>
        </p:spPr>
        <p:txBody>
          <a:bodyPr wrap="square" lIns="0" tIns="0" rIns="0" bIns="0" rtlCol="0" anchor="t"/>
          <a:lstStyle/>
          <a:p>
            <a:pPr marL="0" indent="0">
              <a:buNone/>
            </a:pPr>
            <a:r>
              <a:rPr lang="en-US" sz="1600" b="1" dirty="0">
                <a:solidFill>
                  <a:schemeClr val="bg1"/>
                </a:solidFill>
              </a:rPr>
              <a:t>Thank you   |   Team ACE   </a:t>
            </a:r>
            <a:endParaRPr lang="en-US" sz="1600" dirty="0"/>
          </a:p>
        </p:txBody>
      </p:sp>
    </p:spTree>
  </p:cSld>
  <p:clrMapOvr>
    <a:masterClrMapping/>
  </p:clrMapOvr>
</p:sld>
</file>

<file path=ppt/theme/theme1.xml><?xml version="1.0" encoding="utf-8"?>
<a:theme xmlns:a="http://schemas.openxmlformats.org/drawingml/2006/main" name="Sammati Trust">
  <a:themeElements>
    <a:clrScheme name="Sammati Trust">
      <a:dk1>
        <a:srgbClr val="0B1B2E"/>
      </a:dk1>
      <a:lt1>
        <a:srgbClr val="FFFFFF"/>
      </a:lt1>
      <a:dk2>
        <a:srgbClr val="16304D"/>
      </a:dk2>
      <a:lt2>
        <a:srgbClr val="F4F7FA"/>
      </a:lt2>
      <a:accent1>
        <a:srgbClr val="0E8F83"/>
      </a:accent1>
      <a:accent2>
        <a:srgbClr val="F2A33A"/>
      </a:accent2>
      <a:accent3>
        <a:srgbClr val="2F63C8"/>
      </a:accent3>
      <a:accent4>
        <a:srgbClr val="D64550"/>
      </a:accent4>
      <a:accent5>
        <a:srgbClr val="6D4FD0"/>
      </a:accent5>
      <a:accent6>
        <a:srgbClr val="566678"/>
      </a:accent6>
      <a:hlink>
        <a:srgbClr val="2F63C8"/>
      </a:hlink>
      <a:folHlink>
        <a:srgbClr val="6D4FD0"/>
      </a:folHlink>
    </a:clrScheme>
    <a:fontScheme name="Sammati Trus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228</TotalTime>
  <Words>2815</Words>
  <Application>Microsoft Office PowerPoint</Application>
  <PresentationFormat>Widescreen</PresentationFormat>
  <Paragraphs>259</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Cambria</vt:lpstr>
      <vt:lpstr>Sammati Trust</vt:lpstr>
      <vt:lpstr>Sammati</vt:lpstr>
      <vt:lpstr>Consent in India is an “I agree” nobody controls</vt:lpstr>
      <vt:lpstr>Existing approaches leave one gap open</vt:lpstr>
      <vt:lpstr>Consent that is signed, enforced and provable</vt:lpstr>
      <vt:lpstr>What is genuinely new</vt:lpstr>
      <vt:lpstr>One journey, five steps, every step provable</vt:lpstr>
      <vt:lpstr>A stack chosen for trust and speed</vt:lpstr>
      <vt:lpstr>Architecture at a glance</vt:lpstr>
      <vt:lpstr>It is built, it runs, and we say what is simulated</vt:lpstr>
      <vt:lpstr>Built to scale like India’s payment rails</vt:lpstr>
      <vt:lpstr>From hackathon prototype to national consent layer</vt:lpstr>
      <vt:lpstr>Consent you can prove, withdraw and verify</vt:lpstr>
    </vt:vector>
  </TitlesOfParts>
  <Company>Team Sammati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Sammati - Hackatopia 2K26 Final Round</dc:title>
  <dc:subject>PptxGenJS Presentation</dc:subject>
  <dc:creator>Team Sammati</dc:creator>
  <cp:lastModifiedBy>Ananya N Salian_23AI007</cp:lastModifiedBy>
  <cp:revision>3</cp:revision>
  <dcterms:created xsi:type="dcterms:W3CDTF">2026-10-09T01:48:33Z</dcterms:created>
  <dcterms:modified xsi:type="dcterms:W3CDTF">2026-10-09T06:12:39Z</dcterms:modified>
</cp:coreProperties>
</file>